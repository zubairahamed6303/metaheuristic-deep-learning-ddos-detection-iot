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15">
  <p:sldMasterIdLst>
    <p:sldMasterId id="2147483660" r:id="rId1"/>
  </p:sldMasterIdLst>
  <p:notesMasterIdLst>
    <p:notesMasterId r:id="rId36"/>
  </p:notesMasterIdLst>
  <p:sldIdLst>
    <p:sldId id="450" r:id="rId2"/>
    <p:sldId id="274" r:id="rId3"/>
    <p:sldId id="257" r:id="rId4"/>
    <p:sldId id="438" r:id="rId5"/>
    <p:sldId id="449" r:id="rId6"/>
    <p:sldId id="429" r:id="rId7"/>
    <p:sldId id="413" r:id="rId8"/>
    <p:sldId id="419" r:id="rId9"/>
    <p:sldId id="428" r:id="rId10"/>
    <p:sldId id="427" r:id="rId11"/>
    <p:sldId id="258" r:id="rId12"/>
    <p:sldId id="256" r:id="rId13"/>
    <p:sldId id="448" r:id="rId14"/>
    <p:sldId id="440" r:id="rId15"/>
    <p:sldId id="259" r:id="rId16"/>
    <p:sldId id="261" r:id="rId17"/>
    <p:sldId id="445" r:id="rId18"/>
    <p:sldId id="439" r:id="rId19"/>
    <p:sldId id="260" r:id="rId20"/>
    <p:sldId id="446" r:id="rId21"/>
    <p:sldId id="435" r:id="rId22"/>
    <p:sldId id="447" r:id="rId23"/>
    <p:sldId id="431" r:id="rId24"/>
    <p:sldId id="432" r:id="rId25"/>
    <p:sldId id="433" r:id="rId26"/>
    <p:sldId id="441" r:id="rId27"/>
    <p:sldId id="442" r:id="rId28"/>
    <p:sldId id="443" r:id="rId29"/>
    <p:sldId id="444" r:id="rId30"/>
    <p:sldId id="436" r:id="rId31"/>
    <p:sldId id="451" r:id="rId32"/>
    <p:sldId id="452" r:id="rId33"/>
    <p:sldId id="453" r:id="rId34"/>
    <p:sldId id="417"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ECFF"/>
    <a:srgbClr val="33CCFF"/>
    <a:srgbClr val="99CCFF"/>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63" autoAdjust="0"/>
    <p:restoredTop sz="94660"/>
  </p:normalViewPr>
  <p:slideViewPr>
    <p:cSldViewPr snapToGrid="0">
      <p:cViewPr varScale="1">
        <p:scale>
          <a:sx n="81" d="100"/>
          <a:sy n="81" d="100"/>
        </p:scale>
        <p:origin x="907"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59744F-436B-4F2E-A729-C899A5A79E9A}" type="datetimeFigureOut">
              <a:rPr lang="en-US" smtClean="0"/>
              <a:t>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8E2780-07EA-470E-B742-5D89E790260A}" type="slidenum">
              <a:rPr lang="en-US" smtClean="0"/>
              <a:t>‹#›</a:t>
            </a:fld>
            <a:endParaRPr lang="en-US"/>
          </a:p>
        </p:txBody>
      </p:sp>
    </p:spTree>
    <p:extLst>
      <p:ext uri="{BB962C8B-B14F-4D97-AF65-F5344CB8AC3E}">
        <p14:creationId xmlns:p14="http://schemas.microsoft.com/office/powerpoint/2010/main" val="1801016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 name="Google Shape;7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72"/>
          <p:cNvSpPr txBox="1">
            <a:spLocks noGrp="1"/>
          </p:cNvSpPr>
          <p:nvPr>
            <p:ph type="ctrTitle"/>
          </p:nvPr>
        </p:nvSpPr>
        <p:spPr>
          <a:xfrm>
            <a:off x="415600" y="1886797"/>
            <a:ext cx="11360800" cy="18429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1" name="Google Shape;11;p72"/>
          <p:cNvSpPr txBox="1">
            <a:spLocks noGrp="1"/>
          </p:cNvSpPr>
          <p:nvPr>
            <p:ph type="subTitle" idx="1"/>
          </p:nvPr>
        </p:nvSpPr>
        <p:spPr>
          <a:xfrm>
            <a:off x="415600" y="3778833"/>
            <a:ext cx="11360800" cy="10569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72"/>
          <p:cNvSpPr txBox="1">
            <a:spLocks noGrp="1"/>
          </p:cNvSpPr>
          <p:nvPr>
            <p:ph type="sldNum" idx="12"/>
          </p:nvPr>
        </p:nvSpPr>
        <p:spPr>
          <a:xfrm>
            <a:off x="11296611" y="6217622"/>
            <a:ext cx="7316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kern="0" smtClean="0">
                <a:solidFill>
                  <a:srgbClr val="595959"/>
                </a:solidFill>
              </a:rPr>
              <a:pPr/>
              <a:t>‹#›</a:t>
            </a:fld>
            <a:endParaRPr lang="en-US" kern="0">
              <a:solidFill>
                <a:srgbClr val="595959"/>
              </a:solidFill>
            </a:endParaRPr>
          </a:p>
        </p:txBody>
      </p:sp>
      <p:sp>
        <p:nvSpPr>
          <p:cNvPr id="13" name="Google Shape;13;p72"/>
          <p:cNvSpPr/>
          <p:nvPr/>
        </p:nvSpPr>
        <p:spPr>
          <a:xfrm flipH="1">
            <a:off x="24" y="67300"/>
            <a:ext cx="12191976" cy="1420254"/>
          </a:xfrm>
          <a:prstGeom prst="flowChartDocument">
            <a:avLst/>
          </a:prstGeom>
          <a:no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4" name="Google Shape;14;p72"/>
          <p:cNvSpPr/>
          <p:nvPr/>
        </p:nvSpPr>
        <p:spPr>
          <a:xfrm flipH="1">
            <a:off x="24" y="0"/>
            <a:ext cx="12191976" cy="1420254"/>
          </a:xfrm>
          <a:prstGeom prst="flowChartDocument">
            <a:avLst/>
          </a:prstGeom>
          <a:solidFill>
            <a:srgbClr val="0B5394"/>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pic>
        <p:nvPicPr>
          <p:cNvPr id="15" name="Google Shape;15;p72"/>
          <p:cNvPicPr preferRelativeResize="0"/>
          <p:nvPr/>
        </p:nvPicPr>
        <p:blipFill rotWithShape="1">
          <a:blip r:embed="rId2">
            <a:alphaModFix/>
          </a:blip>
          <a:srcRect/>
          <a:stretch/>
        </p:blipFill>
        <p:spPr>
          <a:xfrm>
            <a:off x="8120729" y="342391"/>
            <a:ext cx="3285073" cy="779367"/>
          </a:xfrm>
          <a:prstGeom prst="rect">
            <a:avLst/>
          </a:prstGeom>
          <a:noFill/>
          <a:ln>
            <a:noFill/>
          </a:ln>
        </p:spPr>
      </p:pic>
      <p:sp>
        <p:nvSpPr>
          <p:cNvPr id="16" name="Google Shape;16;p72"/>
          <p:cNvSpPr/>
          <p:nvPr/>
        </p:nvSpPr>
        <p:spPr>
          <a:xfrm>
            <a:off x="-14700" y="5919900"/>
            <a:ext cx="12206800" cy="9381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7" name="Google Shape;17;p72"/>
          <p:cNvSpPr txBox="1"/>
          <p:nvPr/>
        </p:nvSpPr>
        <p:spPr>
          <a:xfrm>
            <a:off x="33" y="5919900"/>
            <a:ext cx="4762800" cy="9381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400" b="1" i="0" u="none" strike="noStrike" kern="0" cap="none" spc="0" normalizeH="0" baseline="0" noProof="0">
                <a:ln>
                  <a:noFill/>
                </a:ln>
                <a:solidFill>
                  <a:srgbClr val="FFFFFF"/>
                </a:solidFill>
                <a:effectLst/>
                <a:uLnTx/>
                <a:uFillTx/>
                <a:latin typeface="Georgia"/>
                <a:ea typeface="Georgia"/>
                <a:cs typeface="Georgia"/>
                <a:sym typeface="Georgia"/>
              </a:rPr>
              <a:t>MISSION</a:t>
            </a:r>
            <a:endParaRPr kumimoji="0" sz="1400" b="1" i="0" u="none" strike="noStrike" kern="0" cap="none" spc="0" normalizeH="0" baseline="0" noProof="0">
              <a:ln>
                <a:noFill/>
              </a:ln>
              <a:solidFill>
                <a:srgbClr val="FFFFFF"/>
              </a:solidFill>
              <a:effectLst/>
              <a:uLnTx/>
              <a:uFillTx/>
              <a:latin typeface="Georgia"/>
              <a:ea typeface="Georgia"/>
              <a:cs typeface="Georgia"/>
              <a:sym typeface="Georgia"/>
            </a:endParaRP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0" cap="none" spc="0" normalizeH="0" baseline="0" noProof="0">
                <a:ln>
                  <a:noFill/>
                </a:ln>
                <a:solidFill>
                  <a:srgbClr val="FFFFFF"/>
                </a:solidFill>
                <a:effectLst/>
                <a:uLnTx/>
                <a:uFillTx/>
                <a:latin typeface="Georgia"/>
                <a:ea typeface="Georgia"/>
                <a:cs typeface="Georgia"/>
                <a:sym typeface="Georgia"/>
              </a:rPr>
              <a:t>CHRIST is a nurturing ground for an individual’s holistic development to make effective contribution to the society in a dynamic environment</a:t>
            </a:r>
            <a:endParaRPr kumimoji="0" sz="1100" b="0" i="0" u="none" strike="noStrike" kern="0" cap="none" spc="0" normalizeH="0" baseline="0" noProof="0">
              <a:ln>
                <a:noFill/>
              </a:ln>
              <a:solidFill>
                <a:srgbClr val="FFFFFF"/>
              </a:solidFill>
              <a:effectLst/>
              <a:uLnTx/>
              <a:uFillTx/>
              <a:latin typeface="Georgia"/>
              <a:ea typeface="Georgia"/>
              <a:cs typeface="Georgia"/>
              <a:sym typeface="Georgia"/>
            </a:endParaRPr>
          </a:p>
        </p:txBody>
      </p:sp>
      <p:sp>
        <p:nvSpPr>
          <p:cNvPr id="18" name="Google Shape;18;p72"/>
          <p:cNvSpPr txBox="1"/>
          <p:nvPr/>
        </p:nvSpPr>
        <p:spPr>
          <a:xfrm>
            <a:off x="4945433" y="5919900"/>
            <a:ext cx="2707600" cy="641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400" b="1" i="0" u="none" strike="noStrike" kern="0" cap="none" spc="0" normalizeH="0" baseline="0" noProof="0">
                <a:ln>
                  <a:noFill/>
                </a:ln>
                <a:solidFill>
                  <a:srgbClr val="FFFFFF"/>
                </a:solidFill>
                <a:effectLst/>
                <a:uLnTx/>
                <a:uFillTx/>
                <a:latin typeface="Georgia"/>
                <a:ea typeface="Georgia"/>
                <a:cs typeface="Georgia"/>
                <a:sym typeface="Georgia"/>
              </a:rPr>
              <a:t>VISION</a:t>
            </a:r>
            <a:endParaRPr kumimoji="0" sz="1400" b="1" i="0" u="none" strike="noStrike" kern="0" cap="none" spc="0" normalizeH="0" baseline="0" noProof="0">
              <a:ln>
                <a:noFill/>
              </a:ln>
              <a:solidFill>
                <a:srgbClr val="FFFFFF"/>
              </a:solidFill>
              <a:effectLst/>
              <a:uLnTx/>
              <a:uFillTx/>
              <a:latin typeface="Georgia"/>
              <a:ea typeface="Georgia"/>
              <a:cs typeface="Georgia"/>
              <a:sym typeface="Georgia"/>
            </a:endParaRP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0" cap="none" spc="0" normalizeH="0" baseline="0" noProof="0">
                <a:ln>
                  <a:noFill/>
                </a:ln>
                <a:solidFill>
                  <a:srgbClr val="FFFFFF"/>
                </a:solidFill>
                <a:effectLst/>
                <a:uLnTx/>
                <a:uFillTx/>
                <a:latin typeface="Georgia"/>
                <a:ea typeface="Georgia"/>
                <a:cs typeface="Georgia"/>
                <a:sym typeface="Georgia"/>
              </a:rPr>
              <a:t>Excellence and Service</a:t>
            </a:r>
            <a:endParaRPr kumimoji="0" sz="1100" b="0" i="0" u="none" strike="noStrike" kern="0" cap="none" spc="0" normalizeH="0" baseline="0" noProof="0">
              <a:ln>
                <a:noFill/>
              </a:ln>
              <a:solidFill>
                <a:srgbClr val="FFFFFF"/>
              </a:solidFill>
              <a:effectLst/>
              <a:uLnTx/>
              <a:uFillTx/>
              <a:latin typeface="Georgia"/>
              <a:ea typeface="Georgia"/>
              <a:cs typeface="Georgia"/>
              <a:sym typeface="Georgia"/>
            </a:endParaRPr>
          </a:p>
        </p:txBody>
      </p:sp>
      <p:sp>
        <p:nvSpPr>
          <p:cNvPr id="19" name="Google Shape;19;p72"/>
          <p:cNvSpPr txBox="1"/>
          <p:nvPr/>
        </p:nvSpPr>
        <p:spPr>
          <a:xfrm>
            <a:off x="8090500" y="5919900"/>
            <a:ext cx="3979200" cy="9381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400" b="1" i="0" u="none" strike="noStrike" kern="0" cap="none" spc="0" normalizeH="0" baseline="0" noProof="0">
                <a:ln>
                  <a:noFill/>
                </a:ln>
                <a:solidFill>
                  <a:srgbClr val="FFFFFF"/>
                </a:solidFill>
                <a:effectLst/>
                <a:uLnTx/>
                <a:uFillTx/>
                <a:latin typeface="Georgia"/>
                <a:ea typeface="Georgia"/>
                <a:cs typeface="Georgia"/>
                <a:sym typeface="Georgia"/>
              </a:rPr>
              <a:t>CORE  VALUES</a:t>
            </a:r>
            <a:endParaRPr kumimoji="0" sz="1400" b="1" i="0" u="none" strike="noStrike" kern="0" cap="none" spc="0" normalizeH="0" baseline="0" noProof="0">
              <a:ln>
                <a:noFill/>
              </a:ln>
              <a:solidFill>
                <a:srgbClr val="FFFFFF"/>
              </a:solidFill>
              <a:effectLst/>
              <a:uLnTx/>
              <a:uFillTx/>
              <a:latin typeface="Georgia"/>
              <a:ea typeface="Georgia"/>
              <a:cs typeface="Georgia"/>
              <a:sym typeface="Georgia"/>
            </a:endParaRPr>
          </a:p>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100" b="0" i="0" u="none" strike="noStrike" kern="0" cap="none" spc="0" normalizeH="0" baseline="0" noProof="0">
                <a:ln>
                  <a:noFill/>
                </a:ln>
                <a:solidFill>
                  <a:srgbClr val="FFFFFF"/>
                </a:solidFill>
                <a:effectLst/>
                <a:uLnTx/>
                <a:uFillTx/>
                <a:latin typeface="Georgia"/>
                <a:ea typeface="Georgia"/>
                <a:cs typeface="Georgia"/>
                <a:sym typeface="Georgia"/>
              </a:rPr>
              <a:t>Faith in God |  Moral Uprightness</a:t>
            </a:r>
            <a:br>
              <a:rPr kumimoji="0" lang="en-US" sz="1100" b="0" i="0" u="none" strike="noStrike" kern="0" cap="none" spc="0" normalizeH="0" baseline="0" noProof="0">
                <a:ln>
                  <a:noFill/>
                </a:ln>
                <a:solidFill>
                  <a:srgbClr val="FFFFFF"/>
                </a:solidFill>
                <a:effectLst/>
                <a:uLnTx/>
                <a:uFillTx/>
                <a:latin typeface="Georgia"/>
                <a:ea typeface="Georgia"/>
                <a:cs typeface="Georgia"/>
                <a:sym typeface="Georgia"/>
              </a:rPr>
            </a:br>
            <a:r>
              <a:rPr kumimoji="0" lang="en-US" sz="1100" b="0" i="0" u="none" strike="noStrike" kern="0" cap="none" spc="0" normalizeH="0" baseline="0" noProof="0">
                <a:ln>
                  <a:noFill/>
                </a:ln>
                <a:solidFill>
                  <a:srgbClr val="FFFFFF"/>
                </a:solidFill>
                <a:effectLst/>
                <a:uLnTx/>
                <a:uFillTx/>
                <a:latin typeface="Georgia"/>
                <a:ea typeface="Georgia"/>
                <a:cs typeface="Georgia"/>
                <a:sym typeface="Georgia"/>
              </a:rPr>
              <a:t> Love of Fellow Beings   </a:t>
            </a:r>
            <a:br>
              <a:rPr kumimoji="0" lang="en-US" sz="1100" b="0" i="0" u="none" strike="noStrike" kern="0" cap="none" spc="0" normalizeH="0" baseline="0" noProof="0">
                <a:ln>
                  <a:noFill/>
                </a:ln>
                <a:solidFill>
                  <a:srgbClr val="FFFFFF"/>
                </a:solidFill>
                <a:effectLst/>
                <a:uLnTx/>
                <a:uFillTx/>
                <a:latin typeface="Georgia"/>
                <a:ea typeface="Georgia"/>
                <a:cs typeface="Georgia"/>
                <a:sym typeface="Georgia"/>
              </a:rPr>
            </a:br>
            <a:r>
              <a:rPr kumimoji="0" lang="en-US" sz="1100" b="0" i="0" u="none" strike="noStrike" kern="0" cap="none" spc="0" normalizeH="0" baseline="0" noProof="0">
                <a:ln>
                  <a:noFill/>
                </a:ln>
                <a:solidFill>
                  <a:srgbClr val="FFFFFF"/>
                </a:solidFill>
                <a:effectLst/>
                <a:uLnTx/>
                <a:uFillTx/>
                <a:latin typeface="Georgia"/>
                <a:ea typeface="Georgia"/>
                <a:cs typeface="Georgia"/>
                <a:sym typeface="Georgia"/>
              </a:rPr>
              <a:t>Social Responsibility | Pursuit of Excellence</a:t>
            </a:r>
            <a:endParaRPr kumimoji="0" sz="1100" b="0" i="0" u="none" strike="noStrike" kern="0" cap="none" spc="0" normalizeH="0" baseline="0" noProof="0">
              <a:ln>
                <a:noFill/>
              </a:ln>
              <a:solidFill>
                <a:srgbClr val="FFFFFF"/>
              </a:solidFill>
              <a:effectLst/>
              <a:uLnTx/>
              <a:uFillTx/>
              <a:latin typeface="Georgia"/>
              <a:ea typeface="Georgia"/>
              <a:cs typeface="Georgia"/>
              <a:sym typeface="Georgia"/>
            </a:endParaRPr>
          </a:p>
        </p:txBody>
      </p:sp>
    </p:spTree>
    <p:extLst>
      <p:ext uri="{BB962C8B-B14F-4D97-AF65-F5344CB8AC3E}">
        <p14:creationId xmlns:p14="http://schemas.microsoft.com/office/powerpoint/2010/main" val="5496067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63"/>
        <p:cNvGrpSpPr/>
        <p:nvPr/>
      </p:nvGrpSpPr>
      <p:grpSpPr>
        <a:xfrm>
          <a:off x="0" y="0"/>
          <a:ext cx="0" cy="0"/>
          <a:chOff x="0" y="0"/>
          <a:chExt cx="0" cy="0"/>
        </a:xfrm>
      </p:grpSpPr>
      <p:sp>
        <p:nvSpPr>
          <p:cNvPr id="64" name="Google Shape;64;p78"/>
          <p:cNvSpPr txBox="1">
            <a:spLocks noGrp="1"/>
          </p:cNvSpPr>
          <p:nvPr>
            <p:ph type="title"/>
          </p:nvPr>
        </p:nvSpPr>
        <p:spPr>
          <a:xfrm>
            <a:off x="653667" y="600200"/>
            <a:ext cx="8490400" cy="5454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65" name="Google Shape;65;p78"/>
          <p:cNvSpPr txBox="1">
            <a:spLocks noGrp="1"/>
          </p:cNvSpPr>
          <p:nvPr>
            <p:ph type="sldNum" idx="12"/>
          </p:nvPr>
        </p:nvSpPr>
        <p:spPr>
          <a:xfrm>
            <a:off x="11296611" y="6217622"/>
            <a:ext cx="7316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kern="0" smtClean="0">
                <a:solidFill>
                  <a:srgbClr val="595959"/>
                </a:solidFill>
              </a:rPr>
              <a:pPr/>
              <a:t>‹#›</a:t>
            </a:fld>
            <a:endParaRPr lang="en-US" kern="0">
              <a:solidFill>
                <a:srgbClr val="595959"/>
              </a:solidFill>
            </a:endParaRPr>
          </a:p>
        </p:txBody>
      </p:sp>
      <p:sp>
        <p:nvSpPr>
          <p:cNvPr id="66" name="Google Shape;66;p78"/>
          <p:cNvSpPr/>
          <p:nvPr/>
        </p:nvSpPr>
        <p:spPr>
          <a:xfrm>
            <a:off x="-14700" y="6347775"/>
            <a:ext cx="122068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67" name="Google Shape;67;p78"/>
          <p:cNvSpPr txBox="1"/>
          <p:nvPr/>
        </p:nvSpPr>
        <p:spPr>
          <a:xfrm>
            <a:off x="4457600" y="6431140"/>
            <a:ext cx="3276800" cy="2898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400" b="0" i="0" u="none" strike="noStrike" kern="0" cap="none" spc="0" normalizeH="0" baseline="0" noProof="0">
                <a:ln>
                  <a:noFill/>
                </a:ln>
                <a:solidFill>
                  <a:srgbClr val="FFFFFF"/>
                </a:solidFill>
                <a:effectLst/>
                <a:uLnTx/>
                <a:uFillTx/>
                <a:latin typeface="Georgia"/>
                <a:ea typeface="Georgia"/>
                <a:cs typeface="Georgia"/>
                <a:sym typeface="Georgia"/>
              </a:rPr>
              <a:t>Excellence and Service</a:t>
            </a:r>
            <a:endParaRPr kumimoji="0" sz="1400" b="0" i="0" u="none" strike="noStrike" kern="0" cap="none" spc="0" normalizeH="0" baseline="0" noProof="0">
              <a:ln>
                <a:noFill/>
              </a:ln>
              <a:solidFill>
                <a:srgbClr val="FFFFFF"/>
              </a:solidFill>
              <a:effectLst/>
              <a:uLnTx/>
              <a:uFillTx/>
              <a:latin typeface="Georgia"/>
              <a:ea typeface="Georgia"/>
              <a:cs typeface="Georgia"/>
              <a:sym typeface="Georgia"/>
            </a:endParaRPr>
          </a:p>
        </p:txBody>
      </p:sp>
      <p:sp>
        <p:nvSpPr>
          <p:cNvPr id="68" name="Google Shape;68;p78"/>
          <p:cNvSpPr/>
          <p:nvPr/>
        </p:nvSpPr>
        <p:spPr>
          <a:xfrm rot="10800000">
            <a:off x="9261067" y="275"/>
            <a:ext cx="29428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69" name="Google Shape;69;p78"/>
          <p:cNvSpPr/>
          <p:nvPr/>
        </p:nvSpPr>
        <p:spPr>
          <a:xfrm rot="10800000">
            <a:off x="-2933" y="-25"/>
            <a:ext cx="122068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70" name="Google Shape;70;p78"/>
          <p:cNvSpPr txBox="1"/>
          <p:nvPr/>
        </p:nvSpPr>
        <p:spPr>
          <a:xfrm>
            <a:off x="9261067" y="248094"/>
            <a:ext cx="2942800" cy="2313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400" b="0" i="0" u="none" strike="noStrike" kern="0" cap="none" spc="0" normalizeH="0" baseline="0" noProof="0">
                <a:ln>
                  <a:noFill/>
                </a:ln>
                <a:solidFill>
                  <a:srgbClr val="FFFFFF"/>
                </a:solidFill>
                <a:effectLst/>
                <a:uLnTx/>
                <a:uFillTx/>
                <a:latin typeface="Georgia"/>
                <a:ea typeface="Georgia"/>
                <a:cs typeface="Georgia"/>
                <a:sym typeface="Georgia"/>
              </a:rPr>
              <a:t>CHRIST</a:t>
            </a:r>
            <a:br>
              <a:rPr kumimoji="0" lang="en-US" sz="1400" b="0" i="0" u="none" strike="noStrike" kern="0" cap="none" spc="0" normalizeH="0" baseline="0" noProof="0">
                <a:ln>
                  <a:noFill/>
                </a:ln>
                <a:solidFill>
                  <a:srgbClr val="FFFFFF"/>
                </a:solidFill>
                <a:effectLst/>
                <a:uLnTx/>
                <a:uFillTx/>
                <a:latin typeface="Georgia"/>
                <a:ea typeface="Georgia"/>
                <a:cs typeface="Georgia"/>
                <a:sym typeface="Georgia"/>
              </a:rPr>
            </a:br>
            <a:r>
              <a:rPr kumimoji="0" lang="en-US" sz="1200" b="0" i="0" u="none" strike="noStrike" kern="0" cap="none" spc="0" normalizeH="0" baseline="0" noProof="0">
                <a:ln>
                  <a:noFill/>
                </a:ln>
                <a:solidFill>
                  <a:srgbClr val="FFFFFF"/>
                </a:solidFill>
                <a:effectLst/>
                <a:uLnTx/>
                <a:uFillTx/>
                <a:latin typeface="Georgia"/>
                <a:ea typeface="Georgia"/>
                <a:cs typeface="Georgia"/>
                <a:sym typeface="Georgia"/>
              </a:rPr>
              <a:t>Deemed to be University</a:t>
            </a:r>
            <a:endParaRPr kumimoji="0" sz="1200" b="0" i="0" u="none" strike="noStrike" kern="0" cap="none" spc="0" normalizeH="0" baseline="0" noProof="0">
              <a:ln>
                <a:noFill/>
              </a:ln>
              <a:solidFill>
                <a:srgbClr val="FFFFFF"/>
              </a:solidFill>
              <a:effectLst/>
              <a:uLnTx/>
              <a:uFillTx/>
              <a:latin typeface="Georgia"/>
              <a:ea typeface="Georgia"/>
              <a:cs typeface="Georgia"/>
              <a:sym typeface="Georgia"/>
            </a:endParaRPr>
          </a:p>
        </p:txBody>
      </p:sp>
    </p:spTree>
    <p:extLst>
      <p:ext uri="{BB962C8B-B14F-4D97-AF65-F5344CB8AC3E}">
        <p14:creationId xmlns:p14="http://schemas.microsoft.com/office/powerpoint/2010/main" val="4214342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71"/>
        <p:cNvGrpSpPr/>
        <p:nvPr/>
      </p:nvGrpSpPr>
      <p:grpSpPr>
        <a:xfrm>
          <a:off x="0" y="0"/>
          <a:ext cx="0" cy="0"/>
          <a:chOff x="0" y="0"/>
          <a:chExt cx="0" cy="0"/>
        </a:xfrm>
      </p:grpSpPr>
      <p:sp>
        <p:nvSpPr>
          <p:cNvPr id="72" name="Google Shape;72;p79"/>
          <p:cNvSpPr/>
          <p:nvPr/>
        </p:nvSpPr>
        <p:spPr>
          <a:xfrm>
            <a:off x="6096000" y="-167"/>
            <a:ext cx="6096000" cy="68580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73" name="Google Shape;73;p79"/>
          <p:cNvSpPr txBox="1">
            <a:spLocks noGrp="1"/>
          </p:cNvSpPr>
          <p:nvPr>
            <p:ph type="title"/>
          </p:nvPr>
        </p:nvSpPr>
        <p:spPr>
          <a:xfrm>
            <a:off x="354000" y="1644233"/>
            <a:ext cx="5393600" cy="19764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74" name="Google Shape;74;p79"/>
          <p:cNvSpPr txBox="1">
            <a:spLocks noGrp="1"/>
          </p:cNvSpPr>
          <p:nvPr>
            <p:ph type="subTitle" idx="1"/>
          </p:nvPr>
        </p:nvSpPr>
        <p:spPr>
          <a:xfrm>
            <a:off x="354000" y="3737433"/>
            <a:ext cx="5393600" cy="1646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75" name="Google Shape;75;p79"/>
          <p:cNvSpPr txBox="1">
            <a:spLocks noGrp="1"/>
          </p:cNvSpPr>
          <p:nvPr>
            <p:ph type="body" idx="2"/>
          </p:nvPr>
        </p:nvSpPr>
        <p:spPr>
          <a:xfrm>
            <a:off x="6586000" y="965433"/>
            <a:ext cx="5116000" cy="4926900"/>
          </a:xfrm>
          <a:prstGeom prst="rect">
            <a:avLst/>
          </a:prstGeom>
          <a:noFill/>
          <a:ln>
            <a:noFill/>
          </a:ln>
        </p:spPr>
        <p:txBody>
          <a:bodyPr spcFirstLastPara="1" wrap="square" lIns="91425" tIns="91425" rIns="91425" bIns="91425" anchor="ctr" anchorCtr="0">
            <a:noAutofit/>
          </a:bodyPr>
          <a:lstStyle>
            <a:lvl1pPr marL="457200" lvl="0" indent="-368300" algn="l">
              <a:lnSpc>
                <a:spcPct val="100000"/>
              </a:lnSpc>
              <a:spcBef>
                <a:spcPts val="0"/>
              </a:spcBef>
              <a:spcAft>
                <a:spcPts val="0"/>
              </a:spcAft>
              <a:buSzPts val="22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76" name="Google Shape;76;p79"/>
          <p:cNvSpPr txBox="1">
            <a:spLocks noGrp="1"/>
          </p:cNvSpPr>
          <p:nvPr>
            <p:ph type="sldNum" idx="12"/>
          </p:nvPr>
        </p:nvSpPr>
        <p:spPr>
          <a:xfrm>
            <a:off x="11296611" y="6217622"/>
            <a:ext cx="7316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kern="0" smtClean="0">
                <a:solidFill>
                  <a:srgbClr val="595959"/>
                </a:solidFill>
              </a:rPr>
              <a:pPr/>
              <a:t>‹#›</a:t>
            </a:fld>
            <a:endParaRPr lang="en-US" kern="0">
              <a:solidFill>
                <a:srgbClr val="595959"/>
              </a:solidFill>
            </a:endParaRPr>
          </a:p>
        </p:txBody>
      </p:sp>
      <p:sp>
        <p:nvSpPr>
          <p:cNvPr id="77" name="Google Shape;77;p79"/>
          <p:cNvSpPr/>
          <p:nvPr/>
        </p:nvSpPr>
        <p:spPr>
          <a:xfrm>
            <a:off x="-14700" y="6347775"/>
            <a:ext cx="122068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78" name="Google Shape;78;p79"/>
          <p:cNvSpPr txBox="1"/>
          <p:nvPr/>
        </p:nvSpPr>
        <p:spPr>
          <a:xfrm>
            <a:off x="4457600" y="6431140"/>
            <a:ext cx="3276800" cy="2898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400" b="0" i="0" u="none" strike="noStrike" kern="0" cap="none" spc="0" normalizeH="0" baseline="0" noProof="0">
                <a:ln>
                  <a:noFill/>
                </a:ln>
                <a:solidFill>
                  <a:srgbClr val="FFFFFF"/>
                </a:solidFill>
                <a:effectLst/>
                <a:uLnTx/>
                <a:uFillTx/>
                <a:latin typeface="Georgia"/>
                <a:ea typeface="Georgia"/>
                <a:cs typeface="Georgia"/>
                <a:sym typeface="Georgia"/>
              </a:rPr>
              <a:t>Excellence and Service</a:t>
            </a:r>
            <a:endParaRPr kumimoji="0" sz="1400" b="0" i="0" u="none" strike="noStrike" kern="0" cap="none" spc="0" normalizeH="0" baseline="0" noProof="0">
              <a:ln>
                <a:noFill/>
              </a:ln>
              <a:solidFill>
                <a:srgbClr val="FFFFFF"/>
              </a:solidFill>
              <a:effectLst/>
              <a:uLnTx/>
              <a:uFillTx/>
              <a:latin typeface="Georgia"/>
              <a:ea typeface="Georgia"/>
              <a:cs typeface="Georgia"/>
              <a:sym typeface="Georgia"/>
            </a:endParaRPr>
          </a:p>
        </p:txBody>
      </p:sp>
      <p:sp>
        <p:nvSpPr>
          <p:cNvPr id="79" name="Google Shape;79;p79"/>
          <p:cNvSpPr/>
          <p:nvPr/>
        </p:nvSpPr>
        <p:spPr>
          <a:xfrm rot="10800000">
            <a:off x="9261067" y="275"/>
            <a:ext cx="29428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80" name="Google Shape;80;p79"/>
          <p:cNvSpPr/>
          <p:nvPr/>
        </p:nvSpPr>
        <p:spPr>
          <a:xfrm rot="10800000">
            <a:off x="-2933" y="-25"/>
            <a:ext cx="122068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81" name="Google Shape;81;p79"/>
          <p:cNvSpPr txBox="1"/>
          <p:nvPr/>
        </p:nvSpPr>
        <p:spPr>
          <a:xfrm>
            <a:off x="9261067" y="248094"/>
            <a:ext cx="2942800" cy="2313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400" b="0" i="0" u="none" strike="noStrike" kern="0" cap="none" spc="0" normalizeH="0" baseline="0" noProof="0">
                <a:ln>
                  <a:noFill/>
                </a:ln>
                <a:solidFill>
                  <a:srgbClr val="FFFFFF"/>
                </a:solidFill>
                <a:effectLst/>
                <a:uLnTx/>
                <a:uFillTx/>
                <a:latin typeface="Georgia"/>
                <a:ea typeface="Georgia"/>
                <a:cs typeface="Georgia"/>
                <a:sym typeface="Georgia"/>
              </a:rPr>
              <a:t>CHRIST</a:t>
            </a:r>
            <a:br>
              <a:rPr kumimoji="0" lang="en-US" sz="1400" b="0" i="0" u="none" strike="noStrike" kern="0" cap="none" spc="0" normalizeH="0" baseline="0" noProof="0">
                <a:ln>
                  <a:noFill/>
                </a:ln>
                <a:solidFill>
                  <a:srgbClr val="FFFFFF"/>
                </a:solidFill>
                <a:effectLst/>
                <a:uLnTx/>
                <a:uFillTx/>
                <a:latin typeface="Georgia"/>
                <a:ea typeface="Georgia"/>
                <a:cs typeface="Georgia"/>
                <a:sym typeface="Georgia"/>
              </a:rPr>
            </a:br>
            <a:r>
              <a:rPr kumimoji="0" lang="en-US" sz="1200" b="0" i="0" u="none" strike="noStrike" kern="0" cap="none" spc="0" normalizeH="0" baseline="0" noProof="0">
                <a:ln>
                  <a:noFill/>
                </a:ln>
                <a:solidFill>
                  <a:srgbClr val="FFFFFF"/>
                </a:solidFill>
                <a:effectLst/>
                <a:uLnTx/>
                <a:uFillTx/>
                <a:latin typeface="Georgia"/>
                <a:ea typeface="Georgia"/>
                <a:cs typeface="Georgia"/>
                <a:sym typeface="Georgia"/>
              </a:rPr>
              <a:t>Deemed to be University</a:t>
            </a:r>
            <a:endParaRPr kumimoji="0" sz="1200" b="0" i="0" u="none" strike="noStrike" kern="0" cap="none" spc="0" normalizeH="0" baseline="0" noProof="0">
              <a:ln>
                <a:noFill/>
              </a:ln>
              <a:solidFill>
                <a:srgbClr val="FFFFFF"/>
              </a:solidFill>
              <a:effectLst/>
              <a:uLnTx/>
              <a:uFillTx/>
              <a:latin typeface="Georgia"/>
              <a:ea typeface="Georgia"/>
              <a:cs typeface="Georgia"/>
              <a:sym typeface="Georgia"/>
            </a:endParaRPr>
          </a:p>
        </p:txBody>
      </p:sp>
    </p:spTree>
    <p:extLst>
      <p:ext uri="{BB962C8B-B14F-4D97-AF65-F5344CB8AC3E}">
        <p14:creationId xmlns:p14="http://schemas.microsoft.com/office/powerpoint/2010/main" val="33066798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90"/>
        <p:cNvGrpSpPr/>
        <p:nvPr/>
      </p:nvGrpSpPr>
      <p:grpSpPr>
        <a:xfrm>
          <a:off x="0" y="0"/>
          <a:ext cx="0" cy="0"/>
          <a:chOff x="0" y="0"/>
          <a:chExt cx="0" cy="0"/>
        </a:xfrm>
      </p:grpSpPr>
      <p:sp>
        <p:nvSpPr>
          <p:cNvPr id="91" name="Google Shape;91;p81"/>
          <p:cNvSpPr txBox="1">
            <a:spLocks noGrp="1"/>
          </p:cNvSpPr>
          <p:nvPr>
            <p:ph type="title"/>
          </p:nvPr>
        </p:nvSpPr>
        <p:spPr>
          <a:xfrm>
            <a:off x="415600" y="1474833"/>
            <a:ext cx="11360800" cy="26181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endParaRPr/>
          </a:p>
        </p:txBody>
      </p:sp>
      <p:sp>
        <p:nvSpPr>
          <p:cNvPr id="92" name="Google Shape;92;p81"/>
          <p:cNvSpPr txBox="1">
            <a:spLocks noGrp="1"/>
          </p:cNvSpPr>
          <p:nvPr>
            <p:ph type="body" idx="1"/>
          </p:nvPr>
        </p:nvSpPr>
        <p:spPr>
          <a:xfrm>
            <a:off x="415600" y="4202967"/>
            <a:ext cx="11360800" cy="1734300"/>
          </a:xfrm>
          <a:prstGeom prst="rect">
            <a:avLst/>
          </a:prstGeom>
          <a:noFill/>
          <a:ln>
            <a:noFill/>
          </a:ln>
        </p:spPr>
        <p:txBody>
          <a:bodyPr spcFirstLastPara="1" wrap="square" lIns="91425" tIns="91425" rIns="91425" bIns="91425" anchor="t" anchorCtr="0">
            <a:noAutofit/>
          </a:bodyPr>
          <a:lstStyle>
            <a:lvl1pPr marL="457200" lvl="0" indent="-368300" algn="ctr">
              <a:lnSpc>
                <a:spcPct val="100000"/>
              </a:lnSpc>
              <a:spcBef>
                <a:spcPts val="0"/>
              </a:spcBef>
              <a:spcAft>
                <a:spcPts val="0"/>
              </a:spcAft>
              <a:buSzPts val="2200"/>
              <a:buChar char="●"/>
              <a:defRPr/>
            </a:lvl1pPr>
            <a:lvl2pPr marL="914400" lvl="1" indent="-342900" algn="ctr">
              <a:lnSpc>
                <a:spcPct val="100000"/>
              </a:lnSpc>
              <a:spcBef>
                <a:spcPts val="600"/>
              </a:spcBef>
              <a:spcAft>
                <a:spcPts val="0"/>
              </a:spcAft>
              <a:buSzPts val="1800"/>
              <a:buChar char="○"/>
              <a:defRPr/>
            </a:lvl2pPr>
            <a:lvl3pPr marL="1371600" lvl="2" indent="-342900" algn="ctr">
              <a:lnSpc>
                <a:spcPct val="100000"/>
              </a:lnSpc>
              <a:spcBef>
                <a:spcPts val="600"/>
              </a:spcBef>
              <a:spcAft>
                <a:spcPts val="0"/>
              </a:spcAft>
              <a:buSzPts val="1800"/>
              <a:buChar char="■"/>
              <a:defRPr/>
            </a:lvl3pPr>
            <a:lvl4pPr marL="1828800" lvl="3" indent="-342900" algn="ctr">
              <a:lnSpc>
                <a:spcPct val="100000"/>
              </a:lnSpc>
              <a:spcBef>
                <a:spcPts val="600"/>
              </a:spcBef>
              <a:spcAft>
                <a:spcPts val="0"/>
              </a:spcAft>
              <a:buSzPts val="1800"/>
              <a:buChar char="●"/>
              <a:defRPr/>
            </a:lvl4pPr>
            <a:lvl5pPr marL="2286000" lvl="4" indent="-342900" algn="ctr">
              <a:lnSpc>
                <a:spcPct val="100000"/>
              </a:lnSpc>
              <a:spcBef>
                <a:spcPts val="600"/>
              </a:spcBef>
              <a:spcAft>
                <a:spcPts val="0"/>
              </a:spcAft>
              <a:buSzPts val="1800"/>
              <a:buChar char="○"/>
              <a:defRPr/>
            </a:lvl5pPr>
            <a:lvl6pPr marL="2743200" lvl="5" indent="-342900" algn="ctr">
              <a:lnSpc>
                <a:spcPct val="100000"/>
              </a:lnSpc>
              <a:spcBef>
                <a:spcPts val="600"/>
              </a:spcBef>
              <a:spcAft>
                <a:spcPts val="0"/>
              </a:spcAft>
              <a:buSzPts val="1800"/>
              <a:buChar char="■"/>
              <a:defRPr/>
            </a:lvl6pPr>
            <a:lvl7pPr marL="3200400" lvl="6" indent="-342900" algn="ctr">
              <a:lnSpc>
                <a:spcPct val="100000"/>
              </a:lnSpc>
              <a:spcBef>
                <a:spcPts val="600"/>
              </a:spcBef>
              <a:spcAft>
                <a:spcPts val="0"/>
              </a:spcAft>
              <a:buSzPts val="1800"/>
              <a:buChar char="●"/>
              <a:defRPr/>
            </a:lvl7pPr>
            <a:lvl8pPr marL="3657600" lvl="7" indent="-342900" algn="ctr">
              <a:lnSpc>
                <a:spcPct val="100000"/>
              </a:lnSpc>
              <a:spcBef>
                <a:spcPts val="600"/>
              </a:spcBef>
              <a:spcAft>
                <a:spcPts val="0"/>
              </a:spcAft>
              <a:buSzPts val="1800"/>
              <a:buChar char="○"/>
              <a:defRPr/>
            </a:lvl8pPr>
            <a:lvl9pPr marL="4114800" lvl="8" indent="-342900" algn="ctr">
              <a:lnSpc>
                <a:spcPct val="100000"/>
              </a:lnSpc>
              <a:spcBef>
                <a:spcPts val="600"/>
              </a:spcBef>
              <a:spcAft>
                <a:spcPts val="600"/>
              </a:spcAft>
              <a:buSzPts val="1800"/>
              <a:buChar char="■"/>
              <a:defRPr/>
            </a:lvl9pPr>
          </a:lstStyle>
          <a:p>
            <a:endParaRPr/>
          </a:p>
        </p:txBody>
      </p:sp>
      <p:sp>
        <p:nvSpPr>
          <p:cNvPr id="93" name="Google Shape;93;p81"/>
          <p:cNvSpPr txBox="1">
            <a:spLocks noGrp="1"/>
          </p:cNvSpPr>
          <p:nvPr>
            <p:ph type="sldNum" idx="12"/>
          </p:nvPr>
        </p:nvSpPr>
        <p:spPr>
          <a:xfrm>
            <a:off x="11296611" y="6217622"/>
            <a:ext cx="7316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kern="0" smtClean="0">
                <a:solidFill>
                  <a:srgbClr val="595959"/>
                </a:solidFill>
              </a:rPr>
              <a:pPr/>
              <a:t>‹#›</a:t>
            </a:fld>
            <a:endParaRPr lang="en-US" kern="0">
              <a:solidFill>
                <a:srgbClr val="595959"/>
              </a:solidFill>
            </a:endParaRPr>
          </a:p>
        </p:txBody>
      </p:sp>
      <p:sp>
        <p:nvSpPr>
          <p:cNvPr id="94" name="Google Shape;94;p81"/>
          <p:cNvSpPr/>
          <p:nvPr/>
        </p:nvSpPr>
        <p:spPr>
          <a:xfrm>
            <a:off x="-14700" y="6347775"/>
            <a:ext cx="122068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5" name="Google Shape;95;p81"/>
          <p:cNvSpPr txBox="1"/>
          <p:nvPr/>
        </p:nvSpPr>
        <p:spPr>
          <a:xfrm>
            <a:off x="4457600" y="6431140"/>
            <a:ext cx="3276800" cy="2898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400" b="0" i="0" u="none" strike="noStrike" kern="0" cap="none" spc="0" normalizeH="0" baseline="0" noProof="0">
                <a:ln>
                  <a:noFill/>
                </a:ln>
                <a:solidFill>
                  <a:srgbClr val="FFFFFF"/>
                </a:solidFill>
                <a:effectLst/>
                <a:uLnTx/>
                <a:uFillTx/>
                <a:latin typeface="Georgia"/>
                <a:ea typeface="Georgia"/>
                <a:cs typeface="Georgia"/>
                <a:sym typeface="Georgia"/>
              </a:rPr>
              <a:t>Excellence and Service</a:t>
            </a:r>
            <a:endParaRPr kumimoji="0" sz="1400" b="0" i="0" u="none" strike="noStrike" kern="0" cap="none" spc="0" normalizeH="0" baseline="0" noProof="0">
              <a:ln>
                <a:noFill/>
              </a:ln>
              <a:solidFill>
                <a:srgbClr val="FFFFFF"/>
              </a:solidFill>
              <a:effectLst/>
              <a:uLnTx/>
              <a:uFillTx/>
              <a:latin typeface="Georgia"/>
              <a:ea typeface="Georgia"/>
              <a:cs typeface="Georgia"/>
              <a:sym typeface="Georgia"/>
            </a:endParaRPr>
          </a:p>
        </p:txBody>
      </p:sp>
      <p:sp>
        <p:nvSpPr>
          <p:cNvPr id="96" name="Google Shape;96;p81"/>
          <p:cNvSpPr/>
          <p:nvPr/>
        </p:nvSpPr>
        <p:spPr>
          <a:xfrm rot="10800000">
            <a:off x="9261067" y="275"/>
            <a:ext cx="29428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7" name="Google Shape;97;p81"/>
          <p:cNvSpPr/>
          <p:nvPr/>
        </p:nvSpPr>
        <p:spPr>
          <a:xfrm rot="10800000">
            <a:off x="-2933" y="-25"/>
            <a:ext cx="122068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8" name="Google Shape;98;p81"/>
          <p:cNvSpPr txBox="1"/>
          <p:nvPr/>
        </p:nvSpPr>
        <p:spPr>
          <a:xfrm>
            <a:off x="9261067" y="248094"/>
            <a:ext cx="2942800" cy="2313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400" b="0" i="0" u="none" strike="noStrike" kern="0" cap="none" spc="0" normalizeH="0" baseline="0" noProof="0">
                <a:ln>
                  <a:noFill/>
                </a:ln>
                <a:solidFill>
                  <a:srgbClr val="FFFFFF"/>
                </a:solidFill>
                <a:effectLst/>
                <a:uLnTx/>
                <a:uFillTx/>
                <a:latin typeface="Georgia"/>
                <a:ea typeface="Georgia"/>
                <a:cs typeface="Georgia"/>
                <a:sym typeface="Georgia"/>
              </a:rPr>
              <a:t>CHRIST</a:t>
            </a:r>
            <a:br>
              <a:rPr kumimoji="0" lang="en-US" sz="1400" b="0" i="0" u="none" strike="noStrike" kern="0" cap="none" spc="0" normalizeH="0" baseline="0" noProof="0">
                <a:ln>
                  <a:noFill/>
                </a:ln>
                <a:solidFill>
                  <a:srgbClr val="FFFFFF"/>
                </a:solidFill>
                <a:effectLst/>
                <a:uLnTx/>
                <a:uFillTx/>
                <a:latin typeface="Georgia"/>
                <a:ea typeface="Georgia"/>
                <a:cs typeface="Georgia"/>
                <a:sym typeface="Georgia"/>
              </a:rPr>
            </a:br>
            <a:r>
              <a:rPr kumimoji="0" lang="en-US" sz="1200" b="0" i="0" u="none" strike="noStrike" kern="0" cap="none" spc="0" normalizeH="0" baseline="0" noProof="0">
                <a:ln>
                  <a:noFill/>
                </a:ln>
                <a:solidFill>
                  <a:srgbClr val="FFFFFF"/>
                </a:solidFill>
                <a:effectLst/>
                <a:uLnTx/>
                <a:uFillTx/>
                <a:latin typeface="Georgia"/>
                <a:ea typeface="Georgia"/>
                <a:cs typeface="Georgia"/>
                <a:sym typeface="Georgia"/>
              </a:rPr>
              <a:t>Deemed to be University</a:t>
            </a:r>
            <a:endParaRPr kumimoji="0" sz="1200" b="0" i="0" u="none" strike="noStrike" kern="0" cap="none" spc="0" normalizeH="0" baseline="0" noProof="0">
              <a:ln>
                <a:noFill/>
              </a:ln>
              <a:solidFill>
                <a:srgbClr val="FFFFFF"/>
              </a:solidFill>
              <a:effectLst/>
              <a:uLnTx/>
              <a:uFillTx/>
              <a:latin typeface="Georgia"/>
              <a:ea typeface="Georgia"/>
              <a:cs typeface="Georgia"/>
              <a:sym typeface="Georgia"/>
            </a:endParaRPr>
          </a:p>
        </p:txBody>
      </p:sp>
    </p:spTree>
    <p:extLst>
      <p:ext uri="{BB962C8B-B14F-4D97-AF65-F5344CB8AC3E}">
        <p14:creationId xmlns:p14="http://schemas.microsoft.com/office/powerpoint/2010/main" val="967778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28"/>
        <p:cNvGrpSpPr/>
        <p:nvPr/>
      </p:nvGrpSpPr>
      <p:grpSpPr>
        <a:xfrm>
          <a:off x="0" y="0"/>
          <a:ext cx="0" cy="0"/>
          <a:chOff x="0" y="0"/>
          <a:chExt cx="0" cy="0"/>
        </a:xfrm>
      </p:grpSpPr>
      <p:sp>
        <p:nvSpPr>
          <p:cNvPr id="29" name="Shape 29"/>
          <p:cNvSpPr txBox="1">
            <a:spLocks noGrp="1"/>
          </p:cNvSpPr>
          <p:nvPr>
            <p:ph type="title"/>
          </p:nvPr>
        </p:nvSpPr>
        <p:spPr>
          <a:xfrm>
            <a:off x="415600" y="593367"/>
            <a:ext cx="11360800" cy="7635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0" name="Shape 30"/>
          <p:cNvSpPr txBox="1">
            <a:spLocks noGrp="1"/>
          </p:cNvSpPr>
          <p:nvPr>
            <p:ph type="body" idx="1"/>
          </p:nvPr>
        </p:nvSpPr>
        <p:spPr>
          <a:xfrm>
            <a:off x="415600" y="1470840"/>
            <a:ext cx="11360800" cy="4555200"/>
          </a:xfrm>
          <a:prstGeom prst="rect">
            <a:avLst/>
          </a:prstGeom>
        </p:spPr>
        <p:txBody>
          <a:bodyPr spcFirstLastPara="1" wrap="square" lIns="91425" tIns="91425" rIns="91425" bIns="91425" anchor="t" anchorCtr="0"/>
          <a:lstStyle>
            <a:lvl1pPr marL="457200" lvl="0" indent="-368300">
              <a:spcBef>
                <a:spcPts val="0"/>
              </a:spcBef>
              <a:spcAft>
                <a:spcPts val="0"/>
              </a:spcAft>
              <a:buSzPts val="2200"/>
              <a:buChar char="●"/>
              <a:defRPr/>
            </a:lvl1pPr>
            <a:lvl2pPr marL="914400" lvl="1" indent="-342900">
              <a:spcBef>
                <a:spcPts val="600"/>
              </a:spcBef>
              <a:spcAft>
                <a:spcPts val="0"/>
              </a:spcAft>
              <a:buSzPts val="1800"/>
              <a:buChar char="○"/>
              <a:defRPr/>
            </a:lvl2pPr>
            <a:lvl3pPr marL="1371600" lvl="2" indent="-342900">
              <a:spcBef>
                <a:spcPts val="600"/>
              </a:spcBef>
              <a:spcAft>
                <a:spcPts val="0"/>
              </a:spcAft>
              <a:buSzPts val="1800"/>
              <a:buChar char="■"/>
              <a:defRPr/>
            </a:lvl3pPr>
            <a:lvl4pPr marL="1828800" lvl="3" indent="-342900">
              <a:spcBef>
                <a:spcPts val="600"/>
              </a:spcBef>
              <a:spcAft>
                <a:spcPts val="0"/>
              </a:spcAft>
              <a:buSzPts val="1800"/>
              <a:buChar char="●"/>
              <a:defRPr/>
            </a:lvl4pPr>
            <a:lvl5pPr marL="2286000" lvl="4" indent="-342900">
              <a:spcBef>
                <a:spcPts val="600"/>
              </a:spcBef>
              <a:spcAft>
                <a:spcPts val="0"/>
              </a:spcAft>
              <a:buSzPts val="1800"/>
              <a:buChar char="○"/>
              <a:defRPr/>
            </a:lvl5pPr>
            <a:lvl6pPr marL="2743200" lvl="5" indent="-342900">
              <a:spcBef>
                <a:spcPts val="600"/>
              </a:spcBef>
              <a:spcAft>
                <a:spcPts val="0"/>
              </a:spcAft>
              <a:buSzPts val="1800"/>
              <a:buChar char="■"/>
              <a:defRPr/>
            </a:lvl6pPr>
            <a:lvl7pPr marL="3200400" lvl="6" indent="-342900">
              <a:spcBef>
                <a:spcPts val="600"/>
              </a:spcBef>
              <a:spcAft>
                <a:spcPts val="0"/>
              </a:spcAft>
              <a:buSzPts val="1800"/>
              <a:buChar char="●"/>
              <a:defRPr/>
            </a:lvl7pPr>
            <a:lvl8pPr marL="3657600" lvl="7" indent="-342900">
              <a:spcBef>
                <a:spcPts val="600"/>
              </a:spcBef>
              <a:spcAft>
                <a:spcPts val="0"/>
              </a:spcAft>
              <a:buSzPts val="1800"/>
              <a:buChar char="○"/>
              <a:defRPr/>
            </a:lvl8pPr>
            <a:lvl9pPr marL="4114800" lvl="8" indent="-342900">
              <a:spcBef>
                <a:spcPts val="600"/>
              </a:spcBef>
              <a:spcAft>
                <a:spcPts val="600"/>
              </a:spcAft>
              <a:buSzPts val="1800"/>
              <a:buChar char="■"/>
              <a:defRPr/>
            </a:lvl9pPr>
          </a:lstStyle>
          <a:p>
            <a:endParaRPr dirty="0"/>
          </a:p>
        </p:txBody>
      </p:sp>
      <p:sp>
        <p:nvSpPr>
          <p:cNvPr id="31" name="Shape 31"/>
          <p:cNvSpPr txBox="1">
            <a:spLocks noGrp="1"/>
          </p:cNvSpPr>
          <p:nvPr>
            <p:ph type="sldNum" idx="12"/>
          </p:nvPr>
        </p:nvSpPr>
        <p:spPr>
          <a:xfrm>
            <a:off x="11339869" y="6304373"/>
            <a:ext cx="667352" cy="833135"/>
          </a:xfrm>
          <a:prstGeom prst="rect">
            <a:avLst/>
          </a:prstGeom>
        </p:spPr>
        <p:txBody>
          <a:bodyPr spcFirstLastPara="1" wrap="square" lIns="91425" tIns="91425" rIns="91425" bIns="91425" anchor="ctr" anchorCtr="0">
            <a:noAutofit/>
          </a:bodyPr>
          <a:lstStyle>
            <a:lvl1pPr lvl="0">
              <a:spcBef>
                <a:spcPts val="0"/>
              </a:spcBef>
              <a:buNone/>
              <a:defRPr>
                <a:solidFill>
                  <a:schemeClr val="bg1"/>
                </a:solidFill>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fld id="{00000000-1234-1234-1234-123412341234}" type="slidenum">
              <a:rPr lang="en-GB" smtClean="0"/>
              <a:pPr/>
              <a:t>‹#›</a:t>
            </a:fld>
            <a:endParaRPr lang="en-GB" dirty="0"/>
          </a:p>
        </p:txBody>
      </p:sp>
      <p:sp>
        <p:nvSpPr>
          <p:cNvPr id="32" name="Shape 32"/>
          <p:cNvSpPr/>
          <p:nvPr/>
        </p:nvSpPr>
        <p:spPr>
          <a:xfrm>
            <a:off x="-14700" y="6357607"/>
            <a:ext cx="12206800" cy="5103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sz="1800"/>
          </a:p>
        </p:txBody>
      </p:sp>
      <p:sp>
        <p:nvSpPr>
          <p:cNvPr id="33" name="Shape 33"/>
          <p:cNvSpPr txBox="1"/>
          <p:nvPr/>
        </p:nvSpPr>
        <p:spPr>
          <a:xfrm>
            <a:off x="4462067" y="6467857"/>
            <a:ext cx="32768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dirty="0">
                <a:solidFill>
                  <a:srgbClr val="FFFFFF"/>
                </a:solidFill>
                <a:latin typeface="Georgia"/>
                <a:ea typeface="Georgia"/>
                <a:cs typeface="Georgia"/>
                <a:sym typeface="Georgia"/>
              </a:rPr>
              <a:t>Excellence and Service</a:t>
            </a:r>
            <a:endParaRPr sz="1800" dirty="0">
              <a:solidFill>
                <a:srgbClr val="FFFFFF"/>
              </a:solidFill>
              <a:latin typeface="Georgia"/>
              <a:ea typeface="Georgia"/>
              <a:cs typeface="Georgia"/>
              <a:sym typeface="Georgia"/>
            </a:endParaRPr>
          </a:p>
        </p:txBody>
      </p:sp>
      <p:sp>
        <p:nvSpPr>
          <p:cNvPr id="34" name="Shape 34"/>
          <p:cNvSpPr/>
          <p:nvPr/>
        </p:nvSpPr>
        <p:spPr>
          <a:xfrm rot="10800000">
            <a:off x="9261067" y="275"/>
            <a:ext cx="2942800" cy="6147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sz="1800"/>
          </a:p>
        </p:txBody>
      </p:sp>
      <p:sp>
        <p:nvSpPr>
          <p:cNvPr id="35" name="Shape 35"/>
          <p:cNvSpPr/>
          <p:nvPr/>
        </p:nvSpPr>
        <p:spPr>
          <a:xfrm rot="10800000">
            <a:off x="-2933" y="-25"/>
            <a:ext cx="12206800" cy="364800"/>
          </a:xfrm>
          <a:prstGeom prst="round2SameRect">
            <a:avLst>
              <a:gd name="adj1" fmla="val 12503"/>
              <a:gd name="adj2" fmla="val 0"/>
            </a:avLst>
          </a:prstGeom>
          <a:solidFill>
            <a:srgbClr val="0B5394"/>
          </a:solidFill>
          <a:ln w="19050" cap="flat" cmpd="sng">
            <a:solidFill>
              <a:srgbClr val="0B5394"/>
            </a:solidFill>
            <a:prstDash val="solid"/>
            <a:round/>
            <a:headEnd type="none" w="med" len="med"/>
            <a:tailEnd type="none" w="med" len="med"/>
          </a:ln>
        </p:spPr>
        <p:txBody>
          <a:bodyPr spcFirstLastPara="1" wrap="square" lIns="91425" tIns="91425" rIns="91425" bIns="91425" anchor="ctr" anchorCtr="0">
            <a:noAutofit/>
          </a:bodyPr>
          <a:lstStyle/>
          <a:p>
            <a:pPr marL="0" lvl="0" indent="0">
              <a:spcBef>
                <a:spcPts val="0"/>
              </a:spcBef>
              <a:spcAft>
                <a:spcPts val="0"/>
              </a:spcAft>
              <a:buNone/>
            </a:pPr>
            <a:endParaRPr sz="1800"/>
          </a:p>
        </p:txBody>
      </p:sp>
      <p:sp>
        <p:nvSpPr>
          <p:cNvPr id="36" name="Shape 36"/>
          <p:cNvSpPr txBox="1"/>
          <p:nvPr/>
        </p:nvSpPr>
        <p:spPr>
          <a:xfrm>
            <a:off x="9261067" y="248094"/>
            <a:ext cx="29428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1800">
                <a:solidFill>
                  <a:srgbClr val="FFFFFF"/>
                </a:solidFill>
                <a:latin typeface="Georgia"/>
                <a:ea typeface="Georgia"/>
                <a:cs typeface="Georgia"/>
                <a:sym typeface="Georgia"/>
              </a:rPr>
              <a:t>CHRIST</a:t>
            </a:r>
            <a:br>
              <a:rPr lang="en-GB" sz="1800">
                <a:solidFill>
                  <a:srgbClr val="FFFFFF"/>
                </a:solidFill>
                <a:latin typeface="Georgia"/>
                <a:ea typeface="Georgia"/>
                <a:cs typeface="Georgia"/>
                <a:sym typeface="Georgia"/>
              </a:rPr>
            </a:br>
            <a:r>
              <a:rPr lang="en-GB" sz="1200">
                <a:solidFill>
                  <a:srgbClr val="FFFFFF"/>
                </a:solidFill>
                <a:latin typeface="Georgia"/>
                <a:ea typeface="Georgia"/>
                <a:cs typeface="Georgia"/>
                <a:sym typeface="Georgia"/>
              </a:rPr>
              <a:t>Deemed to be University</a:t>
            </a:r>
            <a:endParaRPr sz="1200">
              <a:solidFill>
                <a:srgbClr val="FFFFFF"/>
              </a:solidFill>
              <a:latin typeface="Georgia"/>
              <a:ea typeface="Georgia"/>
              <a:cs typeface="Georgia"/>
              <a:sym typeface="Georgia"/>
            </a:endParaRPr>
          </a:p>
        </p:txBody>
      </p:sp>
    </p:spTree>
    <p:extLst>
      <p:ext uri="{BB962C8B-B14F-4D97-AF65-F5344CB8AC3E}">
        <p14:creationId xmlns:p14="http://schemas.microsoft.com/office/powerpoint/2010/main" val="1300650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935C12-B90A-290A-2B65-A010EB9DE93B}"/>
              </a:ext>
            </a:extLst>
          </p:cNvPr>
          <p:cNvSpPr>
            <a:spLocks noGrp="1"/>
          </p:cNvSpPr>
          <p:nvPr>
            <p:ph type="dt" sz="half" idx="10"/>
          </p:nvPr>
        </p:nvSpPr>
        <p:spPr/>
        <p:txBody>
          <a:bodyPr/>
          <a:lstStyle/>
          <a:p>
            <a:fld id="{2491D5D0-17A7-420B-B401-EFD52346EE23}" type="datetime1">
              <a:rPr lang="en-IN" smtClean="0"/>
              <a:t>01-03-2026</a:t>
            </a:fld>
            <a:endParaRPr lang="en-IN"/>
          </a:p>
        </p:txBody>
      </p:sp>
      <p:sp>
        <p:nvSpPr>
          <p:cNvPr id="3" name="Footer Placeholder 2">
            <a:extLst>
              <a:ext uri="{FF2B5EF4-FFF2-40B4-BE49-F238E27FC236}">
                <a16:creationId xmlns:a16="http://schemas.microsoft.com/office/drawing/2014/main" id="{0035964A-BDF9-6C38-E3BE-B3F8D3FC7DA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49D8478-163B-BD78-AEEF-D05589192D95}"/>
              </a:ext>
            </a:extLst>
          </p:cNvPr>
          <p:cNvSpPr>
            <a:spLocks noGrp="1"/>
          </p:cNvSpPr>
          <p:nvPr>
            <p:ph type="sldNum" sz="quarter" idx="12"/>
          </p:nvPr>
        </p:nvSpPr>
        <p:spPr/>
        <p:txBody>
          <a:bodyPr/>
          <a:lstStyle/>
          <a:p>
            <a:fld id="{6386784B-605B-4FC9-98F9-8BA8053EE3DC}" type="slidenum">
              <a:rPr lang="en-IN" smtClean="0"/>
              <a:t>‹#›</a:t>
            </a:fld>
            <a:endParaRPr lang="en-IN"/>
          </a:p>
        </p:txBody>
      </p:sp>
    </p:spTree>
    <p:extLst>
      <p:ext uri="{BB962C8B-B14F-4D97-AF65-F5344CB8AC3E}">
        <p14:creationId xmlns:p14="http://schemas.microsoft.com/office/powerpoint/2010/main" val="155431567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71"/>
          <p:cNvSpPr txBox="1">
            <a:spLocks noGrp="1"/>
          </p:cNvSpPr>
          <p:nvPr>
            <p:ph type="title"/>
          </p:nvPr>
        </p:nvSpPr>
        <p:spPr>
          <a:xfrm>
            <a:off x="415600" y="593367"/>
            <a:ext cx="11360800" cy="7635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1pPr>
            <a:lvl2pPr marR="0" lvl="1"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2pPr>
            <a:lvl3pPr marR="0" lvl="2"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3pPr>
            <a:lvl4pPr marR="0" lvl="3"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4pPr>
            <a:lvl5pPr marR="0" lvl="4"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5pPr>
            <a:lvl6pPr marR="0" lvl="5"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6pPr>
            <a:lvl7pPr marR="0" lvl="6"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7pPr>
            <a:lvl8pPr marR="0" lvl="7"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8pPr>
            <a:lvl9pPr marR="0" lvl="8"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9pPr>
          </a:lstStyle>
          <a:p>
            <a:endParaRPr/>
          </a:p>
        </p:txBody>
      </p:sp>
      <p:sp>
        <p:nvSpPr>
          <p:cNvPr id="7" name="Google Shape;7;p7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marR="0" lvl="0" indent="-368300" algn="l" rtl="0">
              <a:lnSpc>
                <a:spcPct val="100000"/>
              </a:lnSpc>
              <a:spcBef>
                <a:spcPts val="0"/>
              </a:spcBef>
              <a:spcAft>
                <a:spcPts val="0"/>
              </a:spcAft>
              <a:buClr>
                <a:srgbClr val="000000"/>
              </a:buClr>
              <a:buSzPts val="2200"/>
              <a:buFont typeface="Archivo Narrow"/>
              <a:buChar char="●"/>
              <a:defRPr sz="2200" b="0" i="0" u="none" strike="noStrike" cap="none">
                <a:solidFill>
                  <a:srgbClr val="000000"/>
                </a:solidFill>
                <a:latin typeface="Archivo Narrow"/>
                <a:ea typeface="Archivo Narrow"/>
                <a:cs typeface="Archivo Narrow"/>
                <a:sym typeface="Archivo Narrow"/>
              </a:defRPr>
            </a:lvl1pPr>
            <a:lvl2pPr marL="914400" marR="0" lvl="1"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2pPr>
            <a:lvl3pPr marL="1371600" marR="0" lvl="2"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3pPr>
            <a:lvl4pPr marL="1828800" marR="0" lvl="3"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4pPr>
            <a:lvl5pPr marL="2286000" marR="0" lvl="4"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5pPr>
            <a:lvl6pPr marL="2743200" marR="0" lvl="5"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6pPr>
            <a:lvl7pPr marL="3200400" marR="0" lvl="6"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7pPr>
            <a:lvl8pPr marL="3657600" marR="0" lvl="7"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8pPr>
            <a:lvl9pPr marL="4114800" marR="0" lvl="8" indent="-342900" algn="l" rtl="0">
              <a:lnSpc>
                <a:spcPct val="100000"/>
              </a:lnSpc>
              <a:spcBef>
                <a:spcPts val="600"/>
              </a:spcBef>
              <a:spcAft>
                <a:spcPts val="60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9pPr>
          </a:lstStyle>
          <a:p>
            <a:endParaRPr/>
          </a:p>
        </p:txBody>
      </p:sp>
      <p:sp>
        <p:nvSpPr>
          <p:cNvPr id="8" name="Google Shape;8;p71"/>
          <p:cNvSpPr txBox="1">
            <a:spLocks noGrp="1"/>
          </p:cNvSpPr>
          <p:nvPr>
            <p:ph type="sldNum" idx="12"/>
          </p:nvPr>
        </p:nvSpPr>
        <p:spPr>
          <a:xfrm>
            <a:off x="11296611" y="6217622"/>
            <a:ext cx="731600" cy="524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kern="0" smtClean="0">
                <a:solidFill>
                  <a:srgbClr val="595959"/>
                </a:solidFill>
              </a:rPr>
              <a:pPr/>
              <a:t>‹#›</a:t>
            </a:fld>
            <a:endParaRPr lang="en-US" kern="0">
              <a:solidFill>
                <a:srgbClr val="595959"/>
              </a:solidFill>
            </a:endParaRPr>
          </a:p>
        </p:txBody>
      </p:sp>
    </p:spTree>
    <p:extLst>
      <p:ext uri="{BB962C8B-B14F-4D97-AF65-F5344CB8AC3E}">
        <p14:creationId xmlns:p14="http://schemas.microsoft.com/office/powerpoint/2010/main" val="3844680321"/>
      </p:ext>
    </p:extLst>
  </p:cSld>
  <p:clrMap bg1="lt1" tx1="dk1" bg2="dk2" tx2="lt2" accent1="accent1" accent2="accent2" accent3="accent3" accent4="accent4" accent5="accent5" accent6="accent6" hlink="hlink" folHlink="folHlink"/>
  <p:sldLayoutIdLst>
    <p:sldLayoutId id="2147483661" r:id="rId1"/>
    <p:sldLayoutId id="2147483667" r:id="rId2"/>
    <p:sldLayoutId id="2147483668" r:id="rId3"/>
    <p:sldLayoutId id="2147483670" r:id="rId4"/>
    <p:sldLayoutId id="2147483672" r:id="rId5"/>
    <p:sldLayoutId id="2147483673"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 Id="rId5" Type="http://schemas.openxmlformats.org/officeDocument/2006/relationships/image" Target="../media/image9.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7" Type="http://schemas.microsoft.com/office/2007/relationships/hdphoto" Target="../media/hdphoto2.wdp"/><Relationship Id="rId2" Type="http://schemas.openxmlformats.org/officeDocument/2006/relationships/image" Target="../media/image9.png"/><Relationship Id="rId1" Type="http://schemas.openxmlformats.org/officeDocument/2006/relationships/slideLayout" Target="../slideLayouts/slideLayout6.xml"/><Relationship Id="rId6" Type="http://schemas.openxmlformats.org/officeDocument/2006/relationships/image" Target="../media/image17.png"/><Relationship Id="rId5" Type="http://schemas.microsoft.com/office/2007/relationships/hdphoto" Target="../media/hdphoto1.wdp"/><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0.png"/><Relationship Id="rId7" Type="http://schemas.openxmlformats.org/officeDocument/2006/relationships/image" Target="../media/image21.png"/><Relationship Id="rId2" Type="http://schemas.openxmlformats.org/officeDocument/2006/relationships/image" Target="../media/image9.png"/><Relationship Id="rId1" Type="http://schemas.openxmlformats.org/officeDocument/2006/relationships/slideLayout" Target="../slideLayouts/slideLayout6.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8" Type="http://schemas.microsoft.com/office/2007/relationships/hdphoto" Target="../media/hdphoto4.wdp"/><Relationship Id="rId3" Type="http://schemas.openxmlformats.org/officeDocument/2006/relationships/image" Target="../media/image10.png"/><Relationship Id="rId7" Type="http://schemas.openxmlformats.org/officeDocument/2006/relationships/image" Target="../media/image26.png"/><Relationship Id="rId2" Type="http://schemas.openxmlformats.org/officeDocument/2006/relationships/image" Target="../media/image9.png"/><Relationship Id="rId1" Type="http://schemas.openxmlformats.org/officeDocument/2006/relationships/slideLayout" Target="../slideLayouts/slideLayout6.xml"/><Relationship Id="rId6" Type="http://schemas.openxmlformats.org/officeDocument/2006/relationships/image" Target="../media/image25.png"/><Relationship Id="rId5" Type="http://schemas.microsoft.com/office/2007/relationships/hdphoto" Target="../media/hdphoto3.wdp"/><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pic>
        <p:nvPicPr>
          <p:cNvPr id="8194" name="Picture 2" descr="CHRIST UNIVERSITY">
            <a:extLst>
              <a:ext uri="{FF2B5EF4-FFF2-40B4-BE49-F238E27FC236}">
                <a16:creationId xmlns:a16="http://schemas.microsoft.com/office/drawing/2014/main" id="{F797934D-F4B6-B1B8-6C48-E8B2321862B8}"/>
              </a:ext>
            </a:extLst>
          </p:cNvPr>
          <p:cNvPicPr>
            <a:picLocks noChangeAspect="1" noChangeArrowheads="1"/>
          </p:cNvPicPr>
          <p:nvPr/>
        </p:nvPicPr>
        <p:blipFill>
          <a:blip r:embed="rId3">
            <a:alphaModFix amt="20000"/>
            <a:extLst>
              <a:ext uri="{28A0092B-C50C-407E-A947-70E740481C1C}">
                <a14:useLocalDpi xmlns:a14="http://schemas.microsoft.com/office/drawing/2010/main" val="0"/>
              </a:ext>
            </a:extLst>
          </a:blip>
          <a:srcRect/>
          <a:stretch>
            <a:fillRect/>
          </a:stretch>
        </p:blipFill>
        <p:spPr bwMode="auto">
          <a:xfrm>
            <a:off x="3959267" y="1485228"/>
            <a:ext cx="4425378" cy="4425378"/>
          </a:xfrm>
          <a:prstGeom prst="rect">
            <a:avLst/>
          </a:prstGeom>
          <a:noFill/>
          <a:extLst>
            <a:ext uri="{909E8E84-426E-40DD-AFC4-6F175D3DCCD1}">
              <a14:hiddenFill xmlns:a14="http://schemas.microsoft.com/office/drawing/2010/main">
                <a:solidFill>
                  <a:srgbClr val="FFFFFF"/>
                </a:solidFill>
              </a14:hiddenFill>
            </a:ext>
          </a:extLst>
        </p:spPr>
      </p:pic>
      <p:sp>
        <p:nvSpPr>
          <p:cNvPr id="80" name="Google Shape;80;p14"/>
          <p:cNvSpPr txBox="1"/>
          <p:nvPr/>
        </p:nvSpPr>
        <p:spPr>
          <a:xfrm>
            <a:off x="617550" y="2313225"/>
            <a:ext cx="5170800" cy="127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800">
              <a:latin typeface="IBM Plex Sans Condensed"/>
              <a:ea typeface="IBM Plex Sans Condensed"/>
              <a:cs typeface="IBM Plex Sans Condensed"/>
              <a:sym typeface="IBM Plex Sans Condensed"/>
            </a:endParaRPr>
          </a:p>
        </p:txBody>
      </p:sp>
      <p:sp>
        <p:nvSpPr>
          <p:cNvPr id="2" name="Google Shape;80;p14">
            <a:extLst>
              <a:ext uri="{FF2B5EF4-FFF2-40B4-BE49-F238E27FC236}">
                <a16:creationId xmlns:a16="http://schemas.microsoft.com/office/drawing/2014/main" id="{4B25CF3A-3A61-6CF2-8F7E-E235E460AFE3}"/>
              </a:ext>
            </a:extLst>
          </p:cNvPr>
          <p:cNvSpPr txBox="1"/>
          <p:nvPr/>
        </p:nvSpPr>
        <p:spPr>
          <a:xfrm>
            <a:off x="479566" y="3632887"/>
            <a:ext cx="5170800" cy="127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800" dirty="0">
              <a:latin typeface="IBM Plex Sans Condensed"/>
              <a:ea typeface="IBM Plex Sans Condensed"/>
              <a:cs typeface="IBM Plex Sans Condensed"/>
              <a:sym typeface="IBM Plex Sans Condensed"/>
            </a:endParaRPr>
          </a:p>
        </p:txBody>
      </p:sp>
      <p:sp>
        <p:nvSpPr>
          <p:cNvPr id="3" name="Google Shape;80;p14">
            <a:extLst>
              <a:ext uri="{FF2B5EF4-FFF2-40B4-BE49-F238E27FC236}">
                <a16:creationId xmlns:a16="http://schemas.microsoft.com/office/drawing/2014/main" id="{CA7A464C-3FAF-CDBC-B1D9-B152E056B8BF}"/>
              </a:ext>
            </a:extLst>
          </p:cNvPr>
          <p:cNvSpPr txBox="1"/>
          <p:nvPr/>
        </p:nvSpPr>
        <p:spPr>
          <a:xfrm>
            <a:off x="4015282" y="3429000"/>
            <a:ext cx="4161437" cy="2161095"/>
          </a:xfrm>
          <a:prstGeom prst="rect">
            <a:avLst/>
          </a:prstGeom>
          <a:noFill/>
          <a:ln>
            <a:noFill/>
          </a:ln>
        </p:spPr>
        <p:txBody>
          <a:bodyPr spcFirstLastPara="1" wrap="square" lIns="91425" tIns="91425" rIns="91425" bIns="91425" anchor="t" anchorCtr="0">
            <a:noAutofit/>
          </a:bodyPr>
          <a:lstStyle/>
          <a:p>
            <a:r>
              <a:rPr lang="en-US" sz="2000" dirty="0">
                <a:latin typeface="Times New Roman" panose="02020603050405020304" pitchFamily="18" charset="0"/>
                <a:cs typeface="Times New Roman" panose="02020603050405020304" pitchFamily="18" charset="0"/>
              </a:rPr>
              <a:t>Name: Shaik Sardar Zubair Ahamed</a:t>
            </a:r>
          </a:p>
          <a:p>
            <a:r>
              <a:rPr lang="en-US" sz="2000" dirty="0">
                <a:latin typeface="Times New Roman" panose="02020603050405020304" pitchFamily="18" charset="0"/>
                <a:cs typeface="Times New Roman" panose="02020603050405020304" pitchFamily="18" charset="0"/>
              </a:rPr>
              <a:t>Reg. No : 2467106</a:t>
            </a:r>
          </a:p>
          <a:p>
            <a:r>
              <a:rPr lang="en-IN" sz="2000" dirty="0">
                <a:latin typeface="Times New Roman" panose="02020603050405020304" pitchFamily="18" charset="0"/>
                <a:cs typeface="Times New Roman" panose="02020603050405020304" pitchFamily="18" charset="0"/>
              </a:rPr>
              <a:t>Supervisor</a:t>
            </a:r>
            <a:r>
              <a:rPr lang="en-US" sz="2000" dirty="0">
                <a:latin typeface="Times New Roman" panose="02020603050405020304" pitchFamily="18" charset="0"/>
                <a:cs typeface="Times New Roman" panose="02020603050405020304" pitchFamily="18" charset="0"/>
              </a:rPr>
              <a:t> : Dr. Vandana Reddy</a:t>
            </a:r>
          </a:p>
          <a:p>
            <a:r>
              <a:rPr lang="en-US" sz="2000" dirty="0">
                <a:latin typeface="Times New Roman" panose="02020603050405020304" pitchFamily="18" charset="0"/>
                <a:cs typeface="Times New Roman" panose="02020603050405020304" pitchFamily="18" charset="0"/>
              </a:rPr>
              <a:t>Mentor Name : Dr. Balamurugan M</a:t>
            </a:r>
            <a:endParaRPr lang="en-IN" sz="2000"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lang="en-IN" sz="2800" dirty="0">
              <a:latin typeface="IBM Plex Sans Condensed"/>
              <a:ea typeface="IBM Plex Sans Condensed"/>
              <a:cs typeface="IBM Plex Sans Condensed"/>
              <a:sym typeface="IBM Plex Sans Condensed"/>
            </a:endParaRPr>
          </a:p>
        </p:txBody>
      </p:sp>
      <p:sp>
        <p:nvSpPr>
          <p:cNvPr id="81" name="Google Shape;81;p14"/>
          <p:cNvSpPr txBox="1">
            <a:spLocks noGrp="1"/>
          </p:cNvSpPr>
          <p:nvPr>
            <p:ph type="ctrTitle"/>
          </p:nvPr>
        </p:nvSpPr>
        <p:spPr>
          <a:xfrm>
            <a:off x="415650" y="1800521"/>
            <a:ext cx="11360700" cy="1628480"/>
          </a:xfrm>
          <a:prstGeom prst="rect">
            <a:avLst/>
          </a:prstGeom>
        </p:spPr>
        <p:txBody>
          <a:bodyPr spcFirstLastPara="1" wrap="square" lIns="121900" tIns="121900" rIns="121900" bIns="121900" anchor="b" anchorCtr="0">
            <a:noAutofit/>
          </a:bodyPr>
          <a:lstStyle/>
          <a:p>
            <a:pPr lvl="0"/>
            <a:r>
              <a:rPr lang="en-US"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METAHEURISTIC OPTIMIZATION AND DEEP LEARNING APPROACHES FOR RESILIENT DDOS DETECTION IN IOT ENVIRONMENTS</a:t>
            </a:r>
            <a:endParaRPr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dirty="0">
                <a:solidFill>
                  <a:srgbClr val="7030A0"/>
                </a:solidFill>
              </a:rPr>
              <a:t>INTRODUCTION – DDOS ATTACK</a:t>
            </a:r>
          </a:p>
        </p:txBody>
      </p:sp>
      <p:sp>
        <p:nvSpPr>
          <p:cNvPr id="3" name="Text Placeholder 2"/>
          <p:cNvSpPr>
            <a:spLocks noGrp="1"/>
          </p:cNvSpPr>
          <p:nvPr>
            <p:ph type="body" idx="1"/>
          </p:nvPr>
        </p:nvSpPr>
        <p:spPr>
          <a:xfrm>
            <a:off x="415600" y="1470840"/>
            <a:ext cx="11360800" cy="2887800"/>
          </a:xfrm>
        </p:spPr>
        <p:txBody>
          <a:bodyPr/>
          <a:lstStyle/>
          <a:p>
            <a:pPr marL="546100" indent="-285750" algn="just">
              <a:lnSpc>
                <a:spcPct val="150000"/>
              </a:lnSpc>
            </a:pPr>
            <a:r>
              <a:rPr lang="en-US" sz="1800" dirty="0">
                <a:latin typeface="Times New Roman" panose="02020603050405020304" pitchFamily="18" charset="0"/>
                <a:cs typeface="Times New Roman" panose="02020603050405020304" pitchFamily="18" charset="0"/>
              </a:rPr>
              <a:t>A cyberattack where multiple compromised devices flood a target system</a:t>
            </a:r>
          </a:p>
          <a:p>
            <a:pPr marL="546100" indent="-285750" algn="just">
              <a:lnSpc>
                <a:spcPct val="150000"/>
              </a:lnSpc>
            </a:pPr>
            <a:r>
              <a:rPr lang="en-US" sz="1800" dirty="0">
                <a:latin typeface="Times New Roman" panose="02020603050405020304" pitchFamily="18" charset="0"/>
                <a:cs typeface="Times New Roman" panose="02020603050405020304" pitchFamily="18" charset="0"/>
              </a:rPr>
              <a:t>Causes severe performance degradation or complete system crash</a:t>
            </a:r>
          </a:p>
          <a:p>
            <a:pPr marL="546100" indent="-285750" algn="just">
              <a:lnSpc>
                <a:spcPct val="150000"/>
              </a:lnSpc>
            </a:pPr>
            <a:r>
              <a:rPr lang="en-US" sz="1800" dirty="0">
                <a:latin typeface="Times New Roman" panose="02020603050405020304" pitchFamily="18" charset="0"/>
                <a:cs typeface="Times New Roman" panose="02020603050405020304" pitchFamily="18" charset="0"/>
              </a:rPr>
              <a:t>Affects organizations of all sizes, from small systems to large enterprises</a:t>
            </a:r>
          </a:p>
          <a:p>
            <a:pPr marL="546100" indent="-285750" algn="just">
              <a:lnSpc>
                <a:spcPct val="150000"/>
              </a:lnSpc>
            </a:pPr>
            <a:r>
              <a:rPr lang="en-US" sz="1800" dirty="0">
                <a:latin typeface="Times New Roman" panose="02020603050405020304" pitchFamily="18" charset="0"/>
                <a:cs typeface="Times New Roman" panose="02020603050405020304" pitchFamily="18" charset="0"/>
              </a:rPr>
              <a:t>Results in significant data, bandwidth, and energy losses</a:t>
            </a:r>
          </a:p>
          <a:p>
            <a:pPr marL="546100" indent="-285750" algn="just">
              <a:lnSpc>
                <a:spcPct val="150000"/>
              </a:lnSpc>
            </a:pPr>
            <a:r>
              <a:rPr lang="en-US" sz="1800" dirty="0">
                <a:latin typeface="Times New Roman" panose="02020603050405020304" pitchFamily="18" charset="0"/>
                <a:cs typeface="Times New Roman" panose="02020603050405020304" pitchFamily="18" charset="0"/>
              </a:rPr>
              <a:t>Can also expose systems to potential data breaches</a:t>
            </a:r>
          </a:p>
          <a:p>
            <a:pPr marL="546100" indent="-285750" algn="just">
              <a:lnSpc>
                <a:spcPct val="150000"/>
              </a:lnSpc>
            </a:pPr>
            <a:r>
              <a:rPr lang="en-US" sz="1800" dirty="0">
                <a:latin typeface="Times New Roman" panose="02020603050405020304" pitchFamily="18" charset="0"/>
                <a:cs typeface="Times New Roman" panose="02020603050405020304" pitchFamily="18" charset="0"/>
              </a:rPr>
              <a:t>Necessitates intelligent and accurate detection mechanisms</a:t>
            </a:r>
          </a:p>
          <a:p>
            <a:pPr marL="546100" indent="-285750" algn="just">
              <a:lnSpc>
                <a:spcPct val="150000"/>
              </a:lnSpc>
            </a:pPr>
            <a:endParaRPr lang="en-US" sz="18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78079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3736274-9D90-3217-86C3-9AD573360C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84028" y="2287805"/>
            <a:ext cx="1600423" cy="1428949"/>
          </a:xfrm>
          <a:prstGeom prst="rect">
            <a:avLst/>
          </a:prstGeom>
        </p:spPr>
      </p:pic>
      <p:pic>
        <p:nvPicPr>
          <p:cNvPr id="5" name="Picture 4">
            <a:extLst>
              <a:ext uri="{FF2B5EF4-FFF2-40B4-BE49-F238E27FC236}">
                <a16:creationId xmlns:a16="http://schemas.microsoft.com/office/drawing/2014/main" id="{AED1F997-8DFF-90FB-428A-AA85002268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13997" y="1018417"/>
            <a:ext cx="2295845" cy="1752845"/>
          </a:xfrm>
          <a:prstGeom prst="rect">
            <a:avLst/>
          </a:prstGeom>
        </p:spPr>
      </p:pic>
      <p:pic>
        <p:nvPicPr>
          <p:cNvPr id="7" name="Picture 6">
            <a:extLst>
              <a:ext uri="{FF2B5EF4-FFF2-40B4-BE49-F238E27FC236}">
                <a16:creationId xmlns:a16="http://schemas.microsoft.com/office/drawing/2014/main" id="{4FBC602B-AE4A-5FE3-D324-C79B9A833E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43220" y="4086739"/>
            <a:ext cx="2467319" cy="1038370"/>
          </a:xfrm>
          <a:prstGeom prst="rect">
            <a:avLst/>
          </a:prstGeom>
        </p:spPr>
      </p:pic>
      <p:pic>
        <p:nvPicPr>
          <p:cNvPr id="9" name="Picture 8">
            <a:extLst>
              <a:ext uri="{FF2B5EF4-FFF2-40B4-BE49-F238E27FC236}">
                <a16:creationId xmlns:a16="http://schemas.microsoft.com/office/drawing/2014/main" id="{57022BE2-B005-0857-7E66-6CDFCEB6A48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52582" y="2097563"/>
            <a:ext cx="933580" cy="1590897"/>
          </a:xfrm>
          <a:prstGeom prst="rect">
            <a:avLst/>
          </a:prstGeom>
        </p:spPr>
      </p:pic>
      <p:pic>
        <p:nvPicPr>
          <p:cNvPr id="11" name="Picture 10">
            <a:extLst>
              <a:ext uri="{FF2B5EF4-FFF2-40B4-BE49-F238E27FC236}">
                <a16:creationId xmlns:a16="http://schemas.microsoft.com/office/drawing/2014/main" id="{159388B3-5CA6-0D06-F7A7-CF4B7B40BD2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219556" y="2752188"/>
            <a:ext cx="657317" cy="685896"/>
          </a:xfrm>
          <a:prstGeom prst="rect">
            <a:avLst/>
          </a:prstGeom>
        </p:spPr>
      </p:pic>
      <p:pic>
        <p:nvPicPr>
          <p:cNvPr id="13" name="Picture 12">
            <a:extLst>
              <a:ext uri="{FF2B5EF4-FFF2-40B4-BE49-F238E27FC236}">
                <a16:creationId xmlns:a16="http://schemas.microsoft.com/office/drawing/2014/main" id="{A9C9BFA9-16A5-267F-E812-07DB6485753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071961" y="4605924"/>
            <a:ext cx="1143160" cy="609685"/>
          </a:xfrm>
          <a:prstGeom prst="rect">
            <a:avLst/>
          </a:prstGeom>
        </p:spPr>
      </p:pic>
      <p:cxnSp>
        <p:nvCxnSpPr>
          <p:cNvPr id="25" name="Connector: Curved 24">
            <a:extLst>
              <a:ext uri="{FF2B5EF4-FFF2-40B4-BE49-F238E27FC236}">
                <a16:creationId xmlns:a16="http://schemas.microsoft.com/office/drawing/2014/main" id="{300E724D-16DA-62FD-59EE-9617D9BD3641}"/>
              </a:ext>
            </a:extLst>
          </p:cNvPr>
          <p:cNvCxnSpPr>
            <a:cxnSpLocks/>
            <a:stCxn id="7" idx="2"/>
            <a:endCxn id="3" idx="2"/>
          </p:cNvCxnSpPr>
          <p:nvPr/>
        </p:nvCxnSpPr>
        <p:spPr>
          <a:xfrm rot="5400000" flipH="1" flipV="1">
            <a:off x="3776382" y="2917252"/>
            <a:ext cx="1408355" cy="3007360"/>
          </a:xfrm>
          <a:prstGeom prst="curvedConnector3">
            <a:avLst>
              <a:gd name="adj1" fmla="val -1623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Connector: Curved 26">
            <a:extLst>
              <a:ext uri="{FF2B5EF4-FFF2-40B4-BE49-F238E27FC236}">
                <a16:creationId xmlns:a16="http://schemas.microsoft.com/office/drawing/2014/main" id="{9E120797-4212-651A-EAE6-A2620B17F04A}"/>
              </a:ext>
            </a:extLst>
          </p:cNvPr>
          <p:cNvCxnSpPr>
            <a:stCxn id="5" idx="0"/>
            <a:endCxn id="3" idx="0"/>
          </p:cNvCxnSpPr>
          <p:nvPr/>
        </p:nvCxnSpPr>
        <p:spPr>
          <a:xfrm rot="16200000" flipH="1">
            <a:off x="3688386" y="-8049"/>
            <a:ext cx="1269388" cy="3322320"/>
          </a:xfrm>
          <a:prstGeom prst="curvedConnector3">
            <a:avLst>
              <a:gd name="adj1" fmla="val -18009"/>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9802A600-4FAA-9760-DC96-3DA32018E2D6}"/>
              </a:ext>
            </a:extLst>
          </p:cNvPr>
          <p:cNvCxnSpPr>
            <a:cxnSpLocks/>
          </p:cNvCxnSpPr>
          <p:nvPr/>
        </p:nvCxnSpPr>
        <p:spPr>
          <a:xfrm flipV="1">
            <a:off x="6856353" y="3007358"/>
            <a:ext cx="117082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509CA4D0-13DE-81D7-BC55-6EA2F28276F3}"/>
              </a:ext>
            </a:extLst>
          </p:cNvPr>
          <p:cNvSpPr txBox="1"/>
          <p:nvPr/>
        </p:nvSpPr>
        <p:spPr>
          <a:xfrm>
            <a:off x="1704310" y="2890952"/>
            <a:ext cx="2295845" cy="369332"/>
          </a:xfrm>
          <a:prstGeom prst="rect">
            <a:avLst/>
          </a:prstGeom>
          <a:noFill/>
        </p:spPr>
        <p:txBody>
          <a:bodyPr wrap="square" rtlCol="0">
            <a:spAutoFit/>
          </a:bodyPr>
          <a:lstStyle/>
          <a:p>
            <a:r>
              <a:rPr lang="en-IN" b="1" dirty="0">
                <a:solidFill>
                  <a:srgbClr val="FF0000"/>
                </a:solidFill>
                <a:latin typeface="Times New Roman" panose="02020603050405020304" pitchFamily="18" charset="0"/>
                <a:cs typeface="Times New Roman" panose="02020603050405020304" pitchFamily="18" charset="0"/>
              </a:rPr>
              <a:t>Attacker Computer</a:t>
            </a:r>
          </a:p>
        </p:txBody>
      </p:sp>
      <p:sp>
        <p:nvSpPr>
          <p:cNvPr id="48" name="TextBox 47">
            <a:extLst>
              <a:ext uri="{FF2B5EF4-FFF2-40B4-BE49-F238E27FC236}">
                <a16:creationId xmlns:a16="http://schemas.microsoft.com/office/drawing/2014/main" id="{1874D95D-EE10-6AE9-2005-7D3AFC2D187D}"/>
              </a:ext>
            </a:extLst>
          </p:cNvPr>
          <p:cNvSpPr txBox="1"/>
          <p:nvPr/>
        </p:nvSpPr>
        <p:spPr>
          <a:xfrm>
            <a:off x="1704308" y="5397566"/>
            <a:ext cx="2295845" cy="369332"/>
          </a:xfrm>
          <a:prstGeom prst="rect">
            <a:avLst/>
          </a:prstGeom>
          <a:noFill/>
        </p:spPr>
        <p:txBody>
          <a:bodyPr wrap="square" rtlCol="0">
            <a:spAutoFit/>
          </a:bodyPr>
          <a:lstStyle/>
          <a:p>
            <a:r>
              <a:rPr lang="en-IN" b="1" dirty="0">
                <a:solidFill>
                  <a:srgbClr val="7030A0"/>
                </a:solidFill>
                <a:latin typeface="Times New Roman" panose="02020603050405020304" pitchFamily="18" charset="0"/>
                <a:cs typeface="Times New Roman" panose="02020603050405020304" pitchFamily="18" charset="0"/>
              </a:rPr>
              <a:t>Real Terminal User</a:t>
            </a:r>
          </a:p>
        </p:txBody>
      </p:sp>
      <p:sp>
        <p:nvSpPr>
          <p:cNvPr id="49" name="TextBox 48">
            <a:extLst>
              <a:ext uri="{FF2B5EF4-FFF2-40B4-BE49-F238E27FC236}">
                <a16:creationId xmlns:a16="http://schemas.microsoft.com/office/drawing/2014/main" id="{1325164D-FD81-83F1-1200-64C20C9AD899}"/>
              </a:ext>
            </a:extLst>
          </p:cNvPr>
          <p:cNvSpPr txBox="1"/>
          <p:nvPr/>
        </p:nvSpPr>
        <p:spPr>
          <a:xfrm>
            <a:off x="5566528" y="1034722"/>
            <a:ext cx="2295845" cy="369332"/>
          </a:xfrm>
          <a:prstGeom prst="rect">
            <a:avLst/>
          </a:prstGeom>
          <a:noFill/>
        </p:spPr>
        <p:txBody>
          <a:bodyPr wrap="square" rtlCol="0">
            <a:spAutoFit/>
          </a:bodyPr>
          <a:lstStyle/>
          <a:p>
            <a:r>
              <a:rPr lang="en-IN" b="1" dirty="0">
                <a:solidFill>
                  <a:srgbClr val="FF0000"/>
                </a:solidFill>
                <a:latin typeface="Times New Roman" panose="02020603050405020304" pitchFamily="18" charset="0"/>
                <a:cs typeface="Times New Roman" panose="02020603050405020304" pitchFamily="18" charset="0"/>
              </a:rPr>
              <a:t>Malicious Traffic</a:t>
            </a:r>
          </a:p>
        </p:txBody>
      </p:sp>
      <p:sp>
        <p:nvSpPr>
          <p:cNvPr id="50" name="TextBox 49">
            <a:extLst>
              <a:ext uri="{FF2B5EF4-FFF2-40B4-BE49-F238E27FC236}">
                <a16:creationId xmlns:a16="http://schemas.microsoft.com/office/drawing/2014/main" id="{117B5B2A-7172-D0CD-539F-0B64BA78836F}"/>
              </a:ext>
            </a:extLst>
          </p:cNvPr>
          <p:cNvSpPr txBox="1"/>
          <p:nvPr/>
        </p:nvSpPr>
        <p:spPr>
          <a:xfrm>
            <a:off x="5984239" y="3962526"/>
            <a:ext cx="2295845" cy="369332"/>
          </a:xfrm>
          <a:prstGeom prst="rect">
            <a:avLst/>
          </a:prstGeom>
          <a:noFill/>
        </p:spPr>
        <p:txBody>
          <a:bodyPr wrap="square" rtlCol="0">
            <a:spAutoFit/>
          </a:bodyPr>
          <a:lstStyle/>
          <a:p>
            <a:r>
              <a:rPr lang="en-IN" b="1" dirty="0">
                <a:solidFill>
                  <a:srgbClr val="7030A0"/>
                </a:solidFill>
                <a:latin typeface="Times New Roman" panose="02020603050405020304" pitchFamily="18" charset="0"/>
                <a:cs typeface="Times New Roman" panose="02020603050405020304" pitchFamily="18" charset="0"/>
              </a:rPr>
              <a:t>Real Traffic</a:t>
            </a:r>
          </a:p>
        </p:txBody>
      </p:sp>
      <p:cxnSp>
        <p:nvCxnSpPr>
          <p:cNvPr id="53" name="Connector: Curved 52">
            <a:extLst>
              <a:ext uri="{FF2B5EF4-FFF2-40B4-BE49-F238E27FC236}">
                <a16:creationId xmlns:a16="http://schemas.microsoft.com/office/drawing/2014/main" id="{8B510C7D-3D03-D23E-02ED-186D633358CE}"/>
              </a:ext>
            </a:extLst>
          </p:cNvPr>
          <p:cNvCxnSpPr>
            <a:stCxn id="13" idx="2"/>
          </p:cNvCxnSpPr>
          <p:nvPr/>
        </p:nvCxnSpPr>
        <p:spPr>
          <a:xfrm rot="5400000">
            <a:off x="6438807" y="3562163"/>
            <a:ext cx="551289" cy="3858181"/>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255C59AD-ECD0-4DEA-42AB-5421D2CC7114}"/>
              </a:ext>
            </a:extLst>
          </p:cNvPr>
          <p:cNvSpPr txBox="1"/>
          <p:nvPr/>
        </p:nvSpPr>
        <p:spPr>
          <a:xfrm>
            <a:off x="5984239" y="5798266"/>
            <a:ext cx="2295845"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Not Reachable</a:t>
            </a:r>
          </a:p>
        </p:txBody>
      </p:sp>
      <p:sp>
        <p:nvSpPr>
          <p:cNvPr id="57" name="TextBox 56">
            <a:extLst>
              <a:ext uri="{FF2B5EF4-FFF2-40B4-BE49-F238E27FC236}">
                <a16:creationId xmlns:a16="http://schemas.microsoft.com/office/drawing/2014/main" id="{43C84C16-3249-6734-F83A-EE5D689FFE63}"/>
              </a:ext>
            </a:extLst>
          </p:cNvPr>
          <p:cNvSpPr txBox="1"/>
          <p:nvPr/>
        </p:nvSpPr>
        <p:spPr>
          <a:xfrm>
            <a:off x="8154182" y="3777860"/>
            <a:ext cx="1234599"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Server</a:t>
            </a:r>
          </a:p>
        </p:txBody>
      </p:sp>
      <p:sp>
        <p:nvSpPr>
          <p:cNvPr id="58" name="TextBox 57">
            <a:extLst>
              <a:ext uri="{FF2B5EF4-FFF2-40B4-BE49-F238E27FC236}">
                <a16:creationId xmlns:a16="http://schemas.microsoft.com/office/drawing/2014/main" id="{1D744F3F-1ECB-848C-2943-506E7D9DE170}"/>
              </a:ext>
            </a:extLst>
          </p:cNvPr>
          <p:cNvSpPr txBox="1"/>
          <p:nvPr/>
        </p:nvSpPr>
        <p:spPr>
          <a:xfrm>
            <a:off x="9121495" y="3456161"/>
            <a:ext cx="1234599"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Offline</a:t>
            </a:r>
          </a:p>
        </p:txBody>
      </p:sp>
      <p:sp>
        <p:nvSpPr>
          <p:cNvPr id="59" name="TextBox 58">
            <a:extLst>
              <a:ext uri="{FF2B5EF4-FFF2-40B4-BE49-F238E27FC236}">
                <a16:creationId xmlns:a16="http://schemas.microsoft.com/office/drawing/2014/main" id="{BC642BE7-A78A-CA7E-589A-67577759DA14}"/>
              </a:ext>
            </a:extLst>
          </p:cNvPr>
          <p:cNvSpPr txBox="1"/>
          <p:nvPr/>
        </p:nvSpPr>
        <p:spPr>
          <a:xfrm>
            <a:off x="8519372" y="792480"/>
            <a:ext cx="2880148"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DDOS ATTACK</a:t>
            </a:r>
          </a:p>
        </p:txBody>
      </p:sp>
      <p:pic>
        <p:nvPicPr>
          <p:cNvPr id="61" name="Picture 60">
            <a:extLst>
              <a:ext uri="{FF2B5EF4-FFF2-40B4-BE49-F238E27FC236}">
                <a16:creationId xmlns:a16="http://schemas.microsoft.com/office/drawing/2014/main" id="{314EA67C-58B1-C752-80EE-9B39E021726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0" y="-21699"/>
            <a:ext cx="12192000" cy="552527"/>
          </a:xfrm>
          <a:prstGeom prst="rect">
            <a:avLst/>
          </a:prstGeom>
        </p:spPr>
      </p:pic>
      <p:pic>
        <p:nvPicPr>
          <p:cNvPr id="63" name="Picture 62">
            <a:extLst>
              <a:ext uri="{FF2B5EF4-FFF2-40B4-BE49-F238E27FC236}">
                <a16:creationId xmlns:a16="http://schemas.microsoft.com/office/drawing/2014/main" id="{FD22226C-424A-A24F-2D4B-DFCA9F01BA67}"/>
              </a:ext>
            </a:extLst>
          </p:cNvPr>
          <p:cNvPicPr>
            <a:picLocks noChangeAspect="1"/>
          </p:cNvPicPr>
          <p:nvPr/>
        </p:nvPicPr>
        <p:blipFill>
          <a:blip r:embed="rId9"/>
          <a:stretch>
            <a:fillRect/>
          </a:stretch>
        </p:blipFill>
        <p:spPr>
          <a:xfrm>
            <a:off x="0" y="6391210"/>
            <a:ext cx="12191999" cy="466790"/>
          </a:xfrm>
          <a:prstGeom prst="rect">
            <a:avLst/>
          </a:prstGeom>
        </p:spPr>
      </p:pic>
    </p:spTree>
    <p:extLst>
      <p:ext uri="{BB962C8B-B14F-4D97-AF65-F5344CB8AC3E}">
        <p14:creationId xmlns:p14="http://schemas.microsoft.com/office/powerpoint/2010/main" val="2328563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C027C26-9E5A-2124-4537-A321C053124D}"/>
              </a:ext>
            </a:extLst>
          </p:cNvPr>
          <p:cNvPicPr>
            <a:picLocks noChangeAspect="1"/>
          </p:cNvPicPr>
          <p:nvPr/>
        </p:nvPicPr>
        <p:blipFill>
          <a:blip r:embed="rId2"/>
          <a:srcRect t="2405"/>
          <a:stretch>
            <a:fillRect/>
          </a:stretch>
        </p:blipFill>
        <p:spPr>
          <a:xfrm>
            <a:off x="3058159" y="5938716"/>
            <a:ext cx="891487" cy="763070"/>
          </a:xfrm>
          <a:prstGeom prst="rect">
            <a:avLst/>
          </a:prstGeom>
        </p:spPr>
      </p:pic>
      <p:pic>
        <p:nvPicPr>
          <p:cNvPr id="14" name="Picture 13">
            <a:extLst>
              <a:ext uri="{FF2B5EF4-FFF2-40B4-BE49-F238E27FC236}">
                <a16:creationId xmlns:a16="http://schemas.microsoft.com/office/drawing/2014/main" id="{54130ECE-D38D-C91C-35EA-07E437A0149D}"/>
              </a:ext>
            </a:extLst>
          </p:cNvPr>
          <p:cNvPicPr>
            <a:picLocks noChangeAspect="1"/>
          </p:cNvPicPr>
          <p:nvPr/>
        </p:nvPicPr>
        <p:blipFill>
          <a:blip r:embed="rId3"/>
          <a:stretch>
            <a:fillRect/>
          </a:stretch>
        </p:blipFill>
        <p:spPr>
          <a:xfrm>
            <a:off x="4687208" y="3856639"/>
            <a:ext cx="1162328" cy="1493144"/>
          </a:xfrm>
          <a:prstGeom prst="rect">
            <a:avLst/>
          </a:prstGeom>
        </p:spPr>
      </p:pic>
      <p:pic>
        <p:nvPicPr>
          <p:cNvPr id="34" name="Picture 33">
            <a:extLst>
              <a:ext uri="{FF2B5EF4-FFF2-40B4-BE49-F238E27FC236}">
                <a16:creationId xmlns:a16="http://schemas.microsoft.com/office/drawing/2014/main" id="{A076D008-BA58-612D-03AC-5B59C9B2A5E4}"/>
              </a:ext>
            </a:extLst>
          </p:cNvPr>
          <p:cNvPicPr>
            <a:picLocks noChangeAspect="1"/>
          </p:cNvPicPr>
          <p:nvPr/>
        </p:nvPicPr>
        <p:blipFill>
          <a:blip r:embed="rId2"/>
          <a:srcRect t="2405"/>
          <a:stretch>
            <a:fillRect/>
          </a:stretch>
        </p:blipFill>
        <p:spPr>
          <a:xfrm>
            <a:off x="6747536" y="5938716"/>
            <a:ext cx="891487" cy="763070"/>
          </a:xfrm>
          <a:prstGeom prst="rect">
            <a:avLst/>
          </a:prstGeom>
        </p:spPr>
      </p:pic>
      <p:pic>
        <p:nvPicPr>
          <p:cNvPr id="5" name="Picture 4">
            <a:extLst>
              <a:ext uri="{FF2B5EF4-FFF2-40B4-BE49-F238E27FC236}">
                <a16:creationId xmlns:a16="http://schemas.microsoft.com/office/drawing/2014/main" id="{1040BCCC-123D-29EF-6EF9-2123CAE49CE7}"/>
              </a:ext>
            </a:extLst>
          </p:cNvPr>
          <p:cNvPicPr>
            <a:picLocks noChangeAspect="1"/>
          </p:cNvPicPr>
          <p:nvPr/>
        </p:nvPicPr>
        <p:blipFill>
          <a:blip r:embed="rId4"/>
          <a:stretch>
            <a:fillRect/>
          </a:stretch>
        </p:blipFill>
        <p:spPr>
          <a:xfrm>
            <a:off x="4975794" y="533027"/>
            <a:ext cx="745591" cy="1048821"/>
          </a:xfrm>
          <a:prstGeom prst="rect">
            <a:avLst/>
          </a:prstGeom>
        </p:spPr>
      </p:pic>
      <p:pic>
        <p:nvPicPr>
          <p:cNvPr id="35" name="Picture 34">
            <a:extLst>
              <a:ext uri="{FF2B5EF4-FFF2-40B4-BE49-F238E27FC236}">
                <a16:creationId xmlns:a16="http://schemas.microsoft.com/office/drawing/2014/main" id="{816F8A65-26C5-BBDC-848A-C0577DC4BBB6}"/>
              </a:ext>
            </a:extLst>
          </p:cNvPr>
          <p:cNvPicPr>
            <a:picLocks noChangeAspect="1"/>
          </p:cNvPicPr>
          <p:nvPr/>
        </p:nvPicPr>
        <p:blipFill>
          <a:blip r:embed="rId2"/>
          <a:srcRect t="2405"/>
          <a:stretch>
            <a:fillRect/>
          </a:stretch>
        </p:blipFill>
        <p:spPr>
          <a:xfrm>
            <a:off x="7193279" y="4927261"/>
            <a:ext cx="891487" cy="763070"/>
          </a:xfrm>
          <a:prstGeom prst="rect">
            <a:avLst/>
          </a:prstGeom>
        </p:spPr>
      </p:pic>
      <p:pic>
        <p:nvPicPr>
          <p:cNvPr id="36" name="Picture 35">
            <a:extLst>
              <a:ext uri="{FF2B5EF4-FFF2-40B4-BE49-F238E27FC236}">
                <a16:creationId xmlns:a16="http://schemas.microsoft.com/office/drawing/2014/main" id="{FCE44390-A124-8A3E-CAAD-72CC86EAFA83}"/>
              </a:ext>
            </a:extLst>
          </p:cNvPr>
          <p:cNvPicPr>
            <a:picLocks noChangeAspect="1"/>
          </p:cNvPicPr>
          <p:nvPr/>
        </p:nvPicPr>
        <p:blipFill>
          <a:blip r:embed="rId2"/>
          <a:srcRect t="2405"/>
          <a:stretch>
            <a:fillRect/>
          </a:stretch>
        </p:blipFill>
        <p:spPr>
          <a:xfrm>
            <a:off x="7193279" y="3840141"/>
            <a:ext cx="891487" cy="763070"/>
          </a:xfrm>
          <a:prstGeom prst="rect">
            <a:avLst/>
          </a:prstGeom>
        </p:spPr>
      </p:pic>
      <p:pic>
        <p:nvPicPr>
          <p:cNvPr id="37" name="Picture 36">
            <a:extLst>
              <a:ext uri="{FF2B5EF4-FFF2-40B4-BE49-F238E27FC236}">
                <a16:creationId xmlns:a16="http://schemas.microsoft.com/office/drawing/2014/main" id="{7DC91DBB-4568-C454-F778-6AE879F55FDE}"/>
              </a:ext>
            </a:extLst>
          </p:cNvPr>
          <p:cNvPicPr>
            <a:picLocks noChangeAspect="1"/>
          </p:cNvPicPr>
          <p:nvPr/>
        </p:nvPicPr>
        <p:blipFill>
          <a:blip r:embed="rId2"/>
          <a:srcRect t="2405"/>
          <a:stretch>
            <a:fillRect/>
          </a:stretch>
        </p:blipFill>
        <p:spPr>
          <a:xfrm>
            <a:off x="6747535" y="2806290"/>
            <a:ext cx="891487" cy="763070"/>
          </a:xfrm>
          <a:prstGeom prst="rect">
            <a:avLst/>
          </a:prstGeom>
        </p:spPr>
      </p:pic>
      <p:pic>
        <p:nvPicPr>
          <p:cNvPr id="38" name="Picture 37">
            <a:extLst>
              <a:ext uri="{FF2B5EF4-FFF2-40B4-BE49-F238E27FC236}">
                <a16:creationId xmlns:a16="http://schemas.microsoft.com/office/drawing/2014/main" id="{24FC30A1-7F92-6099-F9E6-48657A74BA5F}"/>
              </a:ext>
            </a:extLst>
          </p:cNvPr>
          <p:cNvPicPr>
            <a:picLocks noChangeAspect="1"/>
          </p:cNvPicPr>
          <p:nvPr/>
        </p:nvPicPr>
        <p:blipFill>
          <a:blip r:embed="rId2"/>
          <a:srcRect t="2405"/>
          <a:stretch>
            <a:fillRect/>
          </a:stretch>
        </p:blipFill>
        <p:spPr>
          <a:xfrm>
            <a:off x="2612415" y="4927261"/>
            <a:ext cx="891487" cy="763070"/>
          </a:xfrm>
          <a:prstGeom prst="rect">
            <a:avLst/>
          </a:prstGeom>
        </p:spPr>
      </p:pic>
      <p:pic>
        <p:nvPicPr>
          <p:cNvPr id="39" name="Picture 38">
            <a:extLst>
              <a:ext uri="{FF2B5EF4-FFF2-40B4-BE49-F238E27FC236}">
                <a16:creationId xmlns:a16="http://schemas.microsoft.com/office/drawing/2014/main" id="{5068D076-F59C-6C80-D6AF-6E54F7E72A37}"/>
              </a:ext>
            </a:extLst>
          </p:cNvPr>
          <p:cNvPicPr>
            <a:picLocks noChangeAspect="1"/>
          </p:cNvPicPr>
          <p:nvPr/>
        </p:nvPicPr>
        <p:blipFill>
          <a:blip r:embed="rId2"/>
          <a:srcRect t="2405"/>
          <a:stretch>
            <a:fillRect/>
          </a:stretch>
        </p:blipFill>
        <p:spPr>
          <a:xfrm>
            <a:off x="2612415" y="3840141"/>
            <a:ext cx="891487" cy="763070"/>
          </a:xfrm>
          <a:prstGeom prst="rect">
            <a:avLst/>
          </a:prstGeom>
        </p:spPr>
      </p:pic>
      <p:pic>
        <p:nvPicPr>
          <p:cNvPr id="40" name="Picture 39">
            <a:extLst>
              <a:ext uri="{FF2B5EF4-FFF2-40B4-BE49-F238E27FC236}">
                <a16:creationId xmlns:a16="http://schemas.microsoft.com/office/drawing/2014/main" id="{BE6A2DD9-72F6-5649-41FB-F4DA11C462C3}"/>
              </a:ext>
            </a:extLst>
          </p:cNvPr>
          <p:cNvPicPr>
            <a:picLocks noChangeAspect="1"/>
          </p:cNvPicPr>
          <p:nvPr/>
        </p:nvPicPr>
        <p:blipFill>
          <a:blip r:embed="rId2"/>
          <a:srcRect t="2405"/>
          <a:stretch>
            <a:fillRect/>
          </a:stretch>
        </p:blipFill>
        <p:spPr>
          <a:xfrm>
            <a:off x="3058158" y="2806290"/>
            <a:ext cx="891487" cy="763070"/>
          </a:xfrm>
          <a:prstGeom prst="rect">
            <a:avLst/>
          </a:prstGeom>
        </p:spPr>
      </p:pic>
      <p:sp>
        <p:nvSpPr>
          <p:cNvPr id="42" name="TextBox 41">
            <a:extLst>
              <a:ext uri="{FF2B5EF4-FFF2-40B4-BE49-F238E27FC236}">
                <a16:creationId xmlns:a16="http://schemas.microsoft.com/office/drawing/2014/main" id="{48ECEE34-731F-2404-3169-E78B16A20C7F}"/>
              </a:ext>
            </a:extLst>
          </p:cNvPr>
          <p:cNvSpPr txBox="1"/>
          <p:nvPr/>
        </p:nvSpPr>
        <p:spPr>
          <a:xfrm>
            <a:off x="4492023" y="5431720"/>
            <a:ext cx="1767840" cy="307777"/>
          </a:xfrm>
          <a:prstGeom prst="rect">
            <a:avLst/>
          </a:prstGeom>
          <a:noFill/>
        </p:spPr>
        <p:txBody>
          <a:bodyPr wrap="square" rtlCol="0">
            <a:spAutoFit/>
          </a:bodyPr>
          <a:lstStyle/>
          <a:p>
            <a:r>
              <a:rPr lang="en-IN" sz="1400" dirty="0">
                <a:solidFill>
                  <a:srgbClr val="00B0F0"/>
                </a:solidFill>
              </a:rPr>
              <a:t>TARGET SERVER</a:t>
            </a:r>
          </a:p>
        </p:txBody>
      </p:sp>
      <p:pic>
        <p:nvPicPr>
          <p:cNvPr id="43" name="Picture 42">
            <a:extLst>
              <a:ext uri="{FF2B5EF4-FFF2-40B4-BE49-F238E27FC236}">
                <a16:creationId xmlns:a16="http://schemas.microsoft.com/office/drawing/2014/main" id="{EE1C57CF-EABB-BE38-22EB-FE4D9DB4747C}"/>
              </a:ext>
            </a:extLst>
          </p:cNvPr>
          <p:cNvPicPr>
            <a:picLocks noChangeAspect="1"/>
          </p:cNvPicPr>
          <p:nvPr/>
        </p:nvPicPr>
        <p:blipFill>
          <a:blip r:embed="rId2"/>
          <a:srcRect t="2405"/>
          <a:stretch>
            <a:fillRect/>
          </a:stretch>
        </p:blipFill>
        <p:spPr>
          <a:xfrm>
            <a:off x="4600062" y="2348547"/>
            <a:ext cx="1374436" cy="1176451"/>
          </a:xfrm>
          <a:prstGeom prst="rect">
            <a:avLst/>
          </a:prstGeom>
        </p:spPr>
      </p:pic>
      <p:sp>
        <p:nvSpPr>
          <p:cNvPr id="44" name="TextBox 43">
            <a:extLst>
              <a:ext uri="{FF2B5EF4-FFF2-40B4-BE49-F238E27FC236}">
                <a16:creationId xmlns:a16="http://schemas.microsoft.com/office/drawing/2014/main" id="{513B1113-11F7-4921-69B7-8526B385BE55}"/>
              </a:ext>
            </a:extLst>
          </p:cNvPr>
          <p:cNvSpPr txBox="1"/>
          <p:nvPr/>
        </p:nvSpPr>
        <p:spPr>
          <a:xfrm>
            <a:off x="4620273" y="1594051"/>
            <a:ext cx="1334012" cy="369332"/>
          </a:xfrm>
          <a:prstGeom prst="rect">
            <a:avLst/>
          </a:prstGeom>
          <a:noFill/>
        </p:spPr>
        <p:txBody>
          <a:bodyPr wrap="square" rtlCol="0">
            <a:spAutoFit/>
          </a:bodyPr>
          <a:lstStyle/>
          <a:p>
            <a:pPr algn="ctr"/>
            <a:r>
              <a:rPr lang="en-IN" dirty="0">
                <a:solidFill>
                  <a:schemeClr val="accent1">
                    <a:lumMod val="75000"/>
                  </a:schemeClr>
                </a:solidFill>
              </a:rPr>
              <a:t>HACKER</a:t>
            </a:r>
            <a:endParaRPr lang="en-IN" b="1" dirty="0">
              <a:solidFill>
                <a:schemeClr val="accent1">
                  <a:lumMod val="75000"/>
                </a:schemeClr>
              </a:solidFill>
            </a:endParaRPr>
          </a:p>
        </p:txBody>
      </p:sp>
      <p:cxnSp>
        <p:nvCxnSpPr>
          <p:cNvPr id="50" name="Straight Arrow Connector 49">
            <a:extLst>
              <a:ext uri="{FF2B5EF4-FFF2-40B4-BE49-F238E27FC236}">
                <a16:creationId xmlns:a16="http://schemas.microsoft.com/office/drawing/2014/main" id="{C10D4165-1FC3-C832-39AD-88B8641B4D0B}"/>
              </a:ext>
            </a:extLst>
          </p:cNvPr>
          <p:cNvCxnSpPr>
            <a:cxnSpLocks/>
            <a:stCxn id="44" idx="2"/>
            <a:endCxn id="43" idx="0"/>
          </p:cNvCxnSpPr>
          <p:nvPr/>
        </p:nvCxnSpPr>
        <p:spPr>
          <a:xfrm>
            <a:off x="5287279" y="1963383"/>
            <a:ext cx="1" cy="385164"/>
          </a:xfrm>
          <a:prstGeom prst="straightConnector1">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54" name="Connector: Curved 53">
            <a:extLst>
              <a:ext uri="{FF2B5EF4-FFF2-40B4-BE49-F238E27FC236}">
                <a16:creationId xmlns:a16="http://schemas.microsoft.com/office/drawing/2014/main" id="{FCB99235-654F-C0AD-0A91-226D426F20A9}"/>
              </a:ext>
            </a:extLst>
          </p:cNvPr>
          <p:cNvCxnSpPr>
            <a:cxnSpLocks/>
          </p:cNvCxnSpPr>
          <p:nvPr/>
        </p:nvCxnSpPr>
        <p:spPr>
          <a:xfrm>
            <a:off x="5974497" y="2535509"/>
            <a:ext cx="1218781" cy="236352"/>
          </a:xfrm>
          <a:prstGeom prst="curvedConnector2">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60" name="Connector: Curved 59">
            <a:extLst>
              <a:ext uri="{FF2B5EF4-FFF2-40B4-BE49-F238E27FC236}">
                <a16:creationId xmlns:a16="http://schemas.microsoft.com/office/drawing/2014/main" id="{D84338B3-832C-45C1-1297-85CF6FA6C877}"/>
              </a:ext>
            </a:extLst>
          </p:cNvPr>
          <p:cNvCxnSpPr>
            <a:cxnSpLocks/>
            <a:endCxn id="40" idx="0"/>
          </p:cNvCxnSpPr>
          <p:nvPr/>
        </p:nvCxnSpPr>
        <p:spPr>
          <a:xfrm rot="10800000" flipV="1">
            <a:off x="3503903" y="2526086"/>
            <a:ext cx="1096163" cy="280203"/>
          </a:xfrm>
          <a:prstGeom prst="curvedConnector2">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63" name="Connector: Curved 62">
            <a:extLst>
              <a:ext uri="{FF2B5EF4-FFF2-40B4-BE49-F238E27FC236}">
                <a16:creationId xmlns:a16="http://schemas.microsoft.com/office/drawing/2014/main" id="{35C5232D-0C76-E5B6-EAE3-474F8FB9AC8C}"/>
              </a:ext>
            </a:extLst>
          </p:cNvPr>
          <p:cNvCxnSpPr>
            <a:cxnSpLocks/>
          </p:cNvCxnSpPr>
          <p:nvPr/>
        </p:nvCxnSpPr>
        <p:spPr>
          <a:xfrm>
            <a:off x="3617563" y="3487307"/>
            <a:ext cx="1069645" cy="632691"/>
          </a:xfrm>
          <a:prstGeom prst="curvedConnector3">
            <a:avLst>
              <a:gd name="adj1" fmla="val 50000"/>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66" name="Connector: Curved 65">
            <a:extLst>
              <a:ext uri="{FF2B5EF4-FFF2-40B4-BE49-F238E27FC236}">
                <a16:creationId xmlns:a16="http://schemas.microsoft.com/office/drawing/2014/main" id="{B3A946D2-59F5-1ABC-AF84-326C78463BFC}"/>
              </a:ext>
            </a:extLst>
          </p:cNvPr>
          <p:cNvCxnSpPr>
            <a:cxnSpLocks/>
            <a:endCxn id="14" idx="1"/>
          </p:cNvCxnSpPr>
          <p:nvPr/>
        </p:nvCxnSpPr>
        <p:spPr>
          <a:xfrm>
            <a:off x="3503901" y="4119998"/>
            <a:ext cx="1183307" cy="483213"/>
          </a:xfrm>
          <a:prstGeom prst="curvedConnector3">
            <a:avLst>
              <a:gd name="adj1" fmla="val 50000"/>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68" name="Connector: Curved 67">
            <a:extLst>
              <a:ext uri="{FF2B5EF4-FFF2-40B4-BE49-F238E27FC236}">
                <a16:creationId xmlns:a16="http://schemas.microsoft.com/office/drawing/2014/main" id="{09D2E1AB-780A-0F9A-F30E-3C0536D6143E}"/>
              </a:ext>
            </a:extLst>
          </p:cNvPr>
          <p:cNvCxnSpPr>
            <a:cxnSpLocks/>
          </p:cNvCxnSpPr>
          <p:nvPr/>
        </p:nvCxnSpPr>
        <p:spPr>
          <a:xfrm flipV="1">
            <a:off x="3547475" y="4927261"/>
            <a:ext cx="1110505" cy="270950"/>
          </a:xfrm>
          <a:prstGeom prst="curvedConnector3">
            <a:avLst>
              <a:gd name="adj1" fmla="val 52745"/>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75" name="Connector: Curved 74">
            <a:extLst>
              <a:ext uri="{FF2B5EF4-FFF2-40B4-BE49-F238E27FC236}">
                <a16:creationId xmlns:a16="http://schemas.microsoft.com/office/drawing/2014/main" id="{7F789892-8C85-2D68-4DA7-B7FCBCB80D31}"/>
              </a:ext>
            </a:extLst>
          </p:cNvPr>
          <p:cNvCxnSpPr>
            <a:cxnSpLocks/>
          </p:cNvCxnSpPr>
          <p:nvPr/>
        </p:nvCxnSpPr>
        <p:spPr>
          <a:xfrm flipV="1">
            <a:off x="3958506" y="5801091"/>
            <a:ext cx="1232633" cy="519160"/>
          </a:xfrm>
          <a:prstGeom prst="curvedConnector3">
            <a:avLst>
              <a:gd name="adj1" fmla="val 105225"/>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81" name="Connector: Curved 80">
            <a:extLst>
              <a:ext uri="{FF2B5EF4-FFF2-40B4-BE49-F238E27FC236}">
                <a16:creationId xmlns:a16="http://schemas.microsoft.com/office/drawing/2014/main" id="{75B12C23-5A29-D854-7DB1-9BEF2294E7A0}"/>
              </a:ext>
            </a:extLst>
          </p:cNvPr>
          <p:cNvCxnSpPr>
            <a:cxnSpLocks/>
          </p:cNvCxnSpPr>
          <p:nvPr/>
        </p:nvCxnSpPr>
        <p:spPr>
          <a:xfrm rot="10800000" flipV="1">
            <a:off x="5974497" y="3454148"/>
            <a:ext cx="1126992" cy="767527"/>
          </a:xfrm>
          <a:prstGeom prst="curvedConnector3">
            <a:avLst>
              <a:gd name="adj1" fmla="val 50000"/>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86" name="Connector: Curved 85">
            <a:extLst>
              <a:ext uri="{FF2B5EF4-FFF2-40B4-BE49-F238E27FC236}">
                <a16:creationId xmlns:a16="http://schemas.microsoft.com/office/drawing/2014/main" id="{3DEFC72C-A4D0-AA20-5E5C-A4C95C32B75E}"/>
              </a:ext>
            </a:extLst>
          </p:cNvPr>
          <p:cNvCxnSpPr>
            <a:cxnSpLocks/>
          </p:cNvCxnSpPr>
          <p:nvPr/>
        </p:nvCxnSpPr>
        <p:spPr>
          <a:xfrm rot="10800000" flipV="1">
            <a:off x="5941329" y="4107366"/>
            <a:ext cx="1160161" cy="479892"/>
          </a:xfrm>
          <a:prstGeom prst="curvedConnector3">
            <a:avLst>
              <a:gd name="adj1" fmla="val 50000"/>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89" name="Connector: Curved 88">
            <a:extLst>
              <a:ext uri="{FF2B5EF4-FFF2-40B4-BE49-F238E27FC236}">
                <a16:creationId xmlns:a16="http://schemas.microsoft.com/office/drawing/2014/main" id="{482F7AE9-24B7-C5AC-16FC-2DA034618E1F}"/>
              </a:ext>
            </a:extLst>
          </p:cNvPr>
          <p:cNvCxnSpPr>
            <a:cxnSpLocks/>
            <a:stCxn id="35" idx="1"/>
          </p:cNvCxnSpPr>
          <p:nvPr/>
        </p:nvCxnSpPr>
        <p:spPr>
          <a:xfrm rot="10800000">
            <a:off x="5860027" y="4920820"/>
            <a:ext cx="1333252" cy="387977"/>
          </a:xfrm>
          <a:prstGeom prst="curvedConnector3">
            <a:avLst>
              <a:gd name="adj1" fmla="val 50000"/>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96" name="Connector: Curved 95">
            <a:extLst>
              <a:ext uri="{FF2B5EF4-FFF2-40B4-BE49-F238E27FC236}">
                <a16:creationId xmlns:a16="http://schemas.microsoft.com/office/drawing/2014/main" id="{564B7F92-13AF-5B66-DB56-59F26F7869B8}"/>
              </a:ext>
            </a:extLst>
          </p:cNvPr>
          <p:cNvCxnSpPr>
            <a:cxnSpLocks/>
            <a:stCxn id="34" idx="1"/>
          </p:cNvCxnSpPr>
          <p:nvPr/>
        </p:nvCxnSpPr>
        <p:spPr>
          <a:xfrm rot="10800000">
            <a:off x="5608322" y="5760107"/>
            <a:ext cx="1139214" cy="560145"/>
          </a:xfrm>
          <a:prstGeom prst="curvedConnector3">
            <a:avLst>
              <a:gd name="adj1" fmla="val 98160"/>
            </a:avLst>
          </a:prstGeom>
          <a:ln w="38100">
            <a:tailEnd type="triangle"/>
          </a:ln>
        </p:spPr>
        <p:style>
          <a:lnRef idx="1">
            <a:schemeClr val="accent2"/>
          </a:lnRef>
          <a:fillRef idx="0">
            <a:schemeClr val="accent2"/>
          </a:fillRef>
          <a:effectRef idx="0">
            <a:schemeClr val="accent2"/>
          </a:effectRef>
          <a:fontRef idx="minor">
            <a:schemeClr val="tx1"/>
          </a:fontRef>
        </p:style>
      </p:cxnSp>
      <p:pic>
        <p:nvPicPr>
          <p:cNvPr id="111" name="Picture 110">
            <a:extLst>
              <a:ext uri="{FF2B5EF4-FFF2-40B4-BE49-F238E27FC236}">
                <a16:creationId xmlns:a16="http://schemas.microsoft.com/office/drawing/2014/main" id="{9B215E46-9FDD-3E75-E30B-E37CF316A89C}"/>
              </a:ext>
            </a:extLst>
          </p:cNvPr>
          <p:cNvPicPr>
            <a:picLocks noChangeAspect="1"/>
          </p:cNvPicPr>
          <p:nvPr/>
        </p:nvPicPr>
        <p:blipFill>
          <a:blip r:embed="rId2"/>
          <a:srcRect t="2405"/>
          <a:stretch>
            <a:fillRect/>
          </a:stretch>
        </p:blipFill>
        <p:spPr>
          <a:xfrm>
            <a:off x="7970791" y="1227138"/>
            <a:ext cx="1218780" cy="1043217"/>
          </a:xfrm>
          <a:prstGeom prst="rect">
            <a:avLst/>
          </a:prstGeom>
        </p:spPr>
      </p:pic>
      <p:cxnSp>
        <p:nvCxnSpPr>
          <p:cNvPr id="122" name="Connector: Curved 121">
            <a:extLst>
              <a:ext uri="{FF2B5EF4-FFF2-40B4-BE49-F238E27FC236}">
                <a16:creationId xmlns:a16="http://schemas.microsoft.com/office/drawing/2014/main" id="{EC1730B9-01E9-7A59-B449-D3DB69FE6CED}"/>
              </a:ext>
            </a:extLst>
          </p:cNvPr>
          <p:cNvCxnSpPr>
            <a:cxnSpLocks/>
            <a:endCxn id="40" idx="1"/>
          </p:cNvCxnSpPr>
          <p:nvPr/>
        </p:nvCxnSpPr>
        <p:spPr>
          <a:xfrm rot="16200000" flipH="1">
            <a:off x="2104306" y="2233973"/>
            <a:ext cx="1097866" cy="809837"/>
          </a:xfrm>
          <a:prstGeom prst="curvedConnector2">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3" name="Connector: Curved 122">
            <a:extLst>
              <a:ext uri="{FF2B5EF4-FFF2-40B4-BE49-F238E27FC236}">
                <a16:creationId xmlns:a16="http://schemas.microsoft.com/office/drawing/2014/main" id="{9A163DA0-E464-DA44-5D59-4B8970139946}"/>
              </a:ext>
            </a:extLst>
          </p:cNvPr>
          <p:cNvCxnSpPr>
            <a:cxnSpLocks/>
          </p:cNvCxnSpPr>
          <p:nvPr/>
        </p:nvCxnSpPr>
        <p:spPr>
          <a:xfrm rot="16200000" flipH="1">
            <a:off x="1371835" y="2882827"/>
            <a:ext cx="2071813" cy="466818"/>
          </a:xfrm>
          <a:prstGeom prst="curvedConnector2">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7" name="Connector: Curved 126">
            <a:extLst>
              <a:ext uri="{FF2B5EF4-FFF2-40B4-BE49-F238E27FC236}">
                <a16:creationId xmlns:a16="http://schemas.microsoft.com/office/drawing/2014/main" id="{46E883EB-0E1E-B2FA-B13A-5921286508DF}"/>
              </a:ext>
            </a:extLst>
          </p:cNvPr>
          <p:cNvCxnSpPr>
            <a:cxnSpLocks/>
            <a:endCxn id="38" idx="1"/>
          </p:cNvCxnSpPr>
          <p:nvPr/>
        </p:nvCxnSpPr>
        <p:spPr>
          <a:xfrm rot="16200000" flipH="1">
            <a:off x="738318" y="3434698"/>
            <a:ext cx="3228467" cy="519728"/>
          </a:xfrm>
          <a:prstGeom prst="curvedConnector2">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4" name="Connector: Curved 133">
            <a:extLst>
              <a:ext uri="{FF2B5EF4-FFF2-40B4-BE49-F238E27FC236}">
                <a16:creationId xmlns:a16="http://schemas.microsoft.com/office/drawing/2014/main" id="{9190E95D-484F-9A03-BCBF-D2E8C40B4EE1}"/>
              </a:ext>
            </a:extLst>
          </p:cNvPr>
          <p:cNvCxnSpPr>
            <a:cxnSpLocks/>
            <a:endCxn id="3" idx="1"/>
          </p:cNvCxnSpPr>
          <p:nvPr/>
        </p:nvCxnSpPr>
        <p:spPr>
          <a:xfrm rot="16200000" flipH="1">
            <a:off x="495641" y="3757732"/>
            <a:ext cx="4051967" cy="1073070"/>
          </a:xfrm>
          <a:prstGeom prst="curvedConnector2">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138" name="Picture 137">
            <a:extLst>
              <a:ext uri="{FF2B5EF4-FFF2-40B4-BE49-F238E27FC236}">
                <a16:creationId xmlns:a16="http://schemas.microsoft.com/office/drawing/2014/main" id="{0FCC4DB4-86E3-F813-B0BB-EA18F8B82AB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6705"/>
            <a:ext cx="12192000" cy="552527"/>
          </a:xfrm>
          <a:prstGeom prst="rect">
            <a:avLst/>
          </a:prstGeom>
        </p:spPr>
      </p:pic>
      <p:pic>
        <p:nvPicPr>
          <p:cNvPr id="112" name="Picture 111">
            <a:extLst>
              <a:ext uri="{FF2B5EF4-FFF2-40B4-BE49-F238E27FC236}">
                <a16:creationId xmlns:a16="http://schemas.microsoft.com/office/drawing/2014/main" id="{C75A9A38-9CA7-1B63-3726-3DF37CC6932C}"/>
              </a:ext>
            </a:extLst>
          </p:cNvPr>
          <p:cNvPicPr>
            <a:picLocks noChangeAspect="1"/>
          </p:cNvPicPr>
          <p:nvPr/>
        </p:nvPicPr>
        <p:blipFill>
          <a:blip r:embed="rId2"/>
          <a:srcRect t="2405"/>
          <a:stretch>
            <a:fillRect/>
          </a:stretch>
        </p:blipFill>
        <p:spPr>
          <a:xfrm>
            <a:off x="1503444" y="1227138"/>
            <a:ext cx="1222944" cy="1046781"/>
          </a:xfrm>
          <a:prstGeom prst="rect">
            <a:avLst/>
          </a:prstGeom>
        </p:spPr>
      </p:pic>
      <p:cxnSp>
        <p:nvCxnSpPr>
          <p:cNvPr id="146" name="Connector: Curved 145">
            <a:extLst>
              <a:ext uri="{FF2B5EF4-FFF2-40B4-BE49-F238E27FC236}">
                <a16:creationId xmlns:a16="http://schemas.microsoft.com/office/drawing/2014/main" id="{196F7CCE-C11D-1C4C-1D9D-82958F831653}"/>
              </a:ext>
            </a:extLst>
          </p:cNvPr>
          <p:cNvCxnSpPr>
            <a:cxnSpLocks/>
            <a:stCxn id="37" idx="3"/>
          </p:cNvCxnSpPr>
          <p:nvPr/>
        </p:nvCxnSpPr>
        <p:spPr>
          <a:xfrm flipV="1">
            <a:off x="7639022" y="2268284"/>
            <a:ext cx="773037" cy="919541"/>
          </a:xfrm>
          <a:prstGeom prst="curvedConnector2">
            <a:avLst/>
          </a:prstGeom>
          <a:ln w="38100">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148" name="Connector: Curved 147">
            <a:extLst>
              <a:ext uri="{FF2B5EF4-FFF2-40B4-BE49-F238E27FC236}">
                <a16:creationId xmlns:a16="http://schemas.microsoft.com/office/drawing/2014/main" id="{19BE5D93-B3AA-F248-DE7B-641690E624E6}"/>
              </a:ext>
            </a:extLst>
          </p:cNvPr>
          <p:cNvCxnSpPr>
            <a:stCxn id="36" idx="3"/>
          </p:cNvCxnSpPr>
          <p:nvPr/>
        </p:nvCxnSpPr>
        <p:spPr>
          <a:xfrm flipV="1">
            <a:off x="8084766" y="2270355"/>
            <a:ext cx="439474" cy="1951321"/>
          </a:xfrm>
          <a:prstGeom prst="curvedConnector2">
            <a:avLst/>
          </a:prstGeom>
          <a:ln w="38100">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150" name="Connector: Curved 149">
            <a:extLst>
              <a:ext uri="{FF2B5EF4-FFF2-40B4-BE49-F238E27FC236}">
                <a16:creationId xmlns:a16="http://schemas.microsoft.com/office/drawing/2014/main" id="{855987BD-7BE0-25EA-8315-EC4A15A56097}"/>
              </a:ext>
            </a:extLst>
          </p:cNvPr>
          <p:cNvCxnSpPr>
            <a:stCxn id="35" idx="3"/>
            <a:endCxn id="111" idx="2"/>
          </p:cNvCxnSpPr>
          <p:nvPr/>
        </p:nvCxnSpPr>
        <p:spPr>
          <a:xfrm flipV="1">
            <a:off x="8084766" y="2270355"/>
            <a:ext cx="495415" cy="3038441"/>
          </a:xfrm>
          <a:prstGeom prst="curvedConnector2">
            <a:avLst/>
          </a:prstGeom>
          <a:ln w="38100">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162" name="Connector: Curved 161">
            <a:extLst>
              <a:ext uri="{FF2B5EF4-FFF2-40B4-BE49-F238E27FC236}">
                <a16:creationId xmlns:a16="http://schemas.microsoft.com/office/drawing/2014/main" id="{CE546D65-1B17-B862-D274-8E866B55D5D3}"/>
              </a:ext>
            </a:extLst>
          </p:cNvPr>
          <p:cNvCxnSpPr>
            <a:cxnSpLocks/>
            <a:endCxn id="34" idx="3"/>
          </p:cNvCxnSpPr>
          <p:nvPr/>
        </p:nvCxnSpPr>
        <p:spPr>
          <a:xfrm rot="5400000">
            <a:off x="6179724" y="3727586"/>
            <a:ext cx="4051965" cy="1133365"/>
          </a:xfrm>
          <a:prstGeom prst="curvedConnector2">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74" name="TextBox 173">
            <a:extLst>
              <a:ext uri="{FF2B5EF4-FFF2-40B4-BE49-F238E27FC236}">
                <a16:creationId xmlns:a16="http://schemas.microsoft.com/office/drawing/2014/main" id="{A4A85C29-C013-6B24-81D1-272B1558150E}"/>
              </a:ext>
            </a:extLst>
          </p:cNvPr>
          <p:cNvSpPr txBox="1"/>
          <p:nvPr/>
        </p:nvSpPr>
        <p:spPr>
          <a:xfrm>
            <a:off x="9096955" y="4587259"/>
            <a:ext cx="2679104" cy="1477328"/>
          </a:xfrm>
          <a:prstGeom prst="rect">
            <a:avLst/>
          </a:prstGeom>
          <a:noFill/>
        </p:spPr>
        <p:txBody>
          <a:bodyPr wrap="square" rtlCol="0">
            <a:spAutoFit/>
          </a:bodyPr>
          <a:lstStyle/>
          <a:p>
            <a:pPr algn="just"/>
            <a:r>
              <a:rPr lang="en-IN" b="1" dirty="0">
                <a:latin typeface="Times New Roman" panose="02020603050405020304" pitchFamily="18" charset="0"/>
                <a:cs typeface="Times New Roman" panose="02020603050405020304" pitchFamily="18" charset="0"/>
              </a:rPr>
              <a:t>This network is used to flood the target site with phony server requests, leaving no bandwidth for legitimate traffic.</a:t>
            </a:r>
          </a:p>
        </p:txBody>
      </p:sp>
      <p:sp>
        <p:nvSpPr>
          <p:cNvPr id="175" name="TextBox 174">
            <a:extLst>
              <a:ext uri="{FF2B5EF4-FFF2-40B4-BE49-F238E27FC236}">
                <a16:creationId xmlns:a16="http://schemas.microsoft.com/office/drawing/2014/main" id="{EC30E40A-09FE-9180-97D2-AF02D2A93418}"/>
              </a:ext>
            </a:extLst>
          </p:cNvPr>
          <p:cNvSpPr txBox="1"/>
          <p:nvPr/>
        </p:nvSpPr>
        <p:spPr>
          <a:xfrm>
            <a:off x="0" y="358936"/>
            <a:ext cx="5688762" cy="338554"/>
          </a:xfrm>
          <a:prstGeom prst="rect">
            <a:avLst/>
          </a:prstGeom>
          <a:noFill/>
        </p:spPr>
        <p:txBody>
          <a:bodyPr wrap="square" rtlCol="0">
            <a:spAutoFit/>
          </a:bodyPr>
          <a:lstStyle/>
          <a:p>
            <a:r>
              <a:rPr lang="en-IN" sz="1600" b="1" dirty="0">
                <a:latin typeface="Times New Roman" panose="02020603050405020304" pitchFamily="18" charset="0"/>
                <a:cs typeface="Times New Roman" panose="02020603050405020304" pitchFamily="18" charset="0"/>
              </a:rPr>
              <a:t>DISTRIBUTED DENIAL OF SERVICE (DDOS) ATTACK  </a:t>
            </a:r>
          </a:p>
        </p:txBody>
      </p:sp>
      <p:sp>
        <p:nvSpPr>
          <p:cNvPr id="176" name="TextBox 175">
            <a:extLst>
              <a:ext uri="{FF2B5EF4-FFF2-40B4-BE49-F238E27FC236}">
                <a16:creationId xmlns:a16="http://schemas.microsoft.com/office/drawing/2014/main" id="{BDEA56E6-EB71-AEAD-CF65-519EAA984C20}"/>
              </a:ext>
            </a:extLst>
          </p:cNvPr>
          <p:cNvSpPr txBox="1"/>
          <p:nvPr/>
        </p:nvSpPr>
        <p:spPr>
          <a:xfrm>
            <a:off x="9096955" y="2535509"/>
            <a:ext cx="2679104" cy="1477328"/>
          </a:xfrm>
          <a:prstGeom prst="rect">
            <a:avLst/>
          </a:prstGeom>
          <a:noFill/>
        </p:spPr>
        <p:txBody>
          <a:bodyPr wrap="square" rtlCol="0">
            <a:spAutoFit/>
          </a:bodyPr>
          <a:lstStyle/>
          <a:p>
            <a:pPr algn="just"/>
            <a:r>
              <a:rPr lang="en-IN" b="1" dirty="0">
                <a:latin typeface="Times New Roman" panose="02020603050405020304" pitchFamily="18" charset="0"/>
                <a:cs typeface="Times New Roman" panose="02020603050405020304" pitchFamily="18" charset="0"/>
              </a:rPr>
              <a:t>In the most common example of denial-of-Service (DoS) attacks, an attacker uses a network of hijacked computers.</a:t>
            </a:r>
          </a:p>
        </p:txBody>
      </p:sp>
    </p:spTree>
    <p:extLst>
      <p:ext uri="{BB962C8B-B14F-4D97-AF65-F5344CB8AC3E}">
        <p14:creationId xmlns:p14="http://schemas.microsoft.com/office/powerpoint/2010/main" val="40801644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9A2-0B13-596E-203B-9993A50AF88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BC87408-2B89-42BA-2E0E-51D4E94038D3}"/>
              </a:ext>
            </a:extLst>
          </p:cNvPr>
          <p:cNvSpPr txBox="1"/>
          <p:nvPr/>
        </p:nvSpPr>
        <p:spPr>
          <a:xfrm>
            <a:off x="3442148" y="5430134"/>
            <a:ext cx="5307703"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Types of DDoS attacks</a:t>
            </a:r>
            <a:endParaRPr lang="en-IN"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BA1AC924-8F40-7C99-33A7-C25E824636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66495" y="2228682"/>
            <a:ext cx="7059010" cy="240063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9538700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0361767-7F7B-F5D5-B604-B2E48B669D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7522" y="1534251"/>
            <a:ext cx="7776956" cy="378949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TextBox 6">
            <a:extLst>
              <a:ext uri="{FF2B5EF4-FFF2-40B4-BE49-F238E27FC236}">
                <a16:creationId xmlns:a16="http://schemas.microsoft.com/office/drawing/2014/main" id="{5EF4DF1A-E8DF-4246-2FCE-D8EA9B1C9E4A}"/>
              </a:ext>
            </a:extLst>
          </p:cNvPr>
          <p:cNvSpPr txBox="1"/>
          <p:nvPr/>
        </p:nvSpPr>
        <p:spPr>
          <a:xfrm>
            <a:off x="3442149" y="5514975"/>
            <a:ext cx="5307703"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DDoS attack model in lightweight IoT networks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7560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5BB79-3F67-CC5F-EE6B-E1F7DEC19A58}"/>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Objectives</a:t>
            </a:r>
          </a:p>
        </p:txBody>
      </p:sp>
      <p:sp>
        <p:nvSpPr>
          <p:cNvPr id="3" name="Text Placeholder 2">
            <a:extLst>
              <a:ext uri="{FF2B5EF4-FFF2-40B4-BE49-F238E27FC236}">
                <a16:creationId xmlns:a16="http://schemas.microsoft.com/office/drawing/2014/main" id="{7506F39F-B2D4-3C25-80F1-9B312CBB4074}"/>
              </a:ext>
            </a:extLst>
          </p:cNvPr>
          <p:cNvSpPr>
            <a:spLocks noGrp="1"/>
          </p:cNvSpPr>
          <p:nvPr>
            <p:ph type="body" idx="1"/>
          </p:nvPr>
        </p:nvSpPr>
        <p:spPr/>
        <p:txBody>
          <a:bodyPr/>
          <a:lstStyle/>
          <a:p>
            <a:pPr marL="546100" indent="-457200" algn="just">
              <a:buFont typeface="+mj-lt"/>
              <a:buAutoNum type="arabicPeriod"/>
            </a:pPr>
            <a:r>
              <a:rPr lang="en-US" sz="2000" dirty="0">
                <a:latin typeface="Times New Roman" panose="02020603050405020304" pitchFamily="18" charset="0"/>
                <a:cs typeface="Times New Roman" panose="02020603050405020304" pitchFamily="18" charset="0"/>
              </a:rPr>
              <a:t>To develop a deep learning-based model for accurate and efficient detection of DDoS attacks in IoT networks.</a:t>
            </a:r>
          </a:p>
          <a:p>
            <a:pPr marL="546100" indent="-457200" algn="just">
              <a:buFont typeface="+mj-lt"/>
              <a:buAutoNum type="arabicPeriod"/>
            </a:pPr>
            <a:r>
              <a:rPr lang="en-IN" sz="2000" dirty="0">
                <a:latin typeface="Times New Roman" panose="02020603050405020304" pitchFamily="18" charset="0"/>
                <a:cs typeface="Times New Roman" panose="02020603050405020304" pitchFamily="18" charset="0"/>
              </a:rPr>
              <a:t>To design an ensemble optimization framework by integrating the Cheetah Optimization Algorithm (</a:t>
            </a:r>
            <a:r>
              <a:rPr lang="en-IN" sz="2000" dirty="0" err="1">
                <a:latin typeface="Times New Roman" panose="02020603050405020304" pitchFamily="18" charset="0"/>
                <a:cs typeface="Times New Roman" panose="02020603050405020304" pitchFamily="18" charset="0"/>
              </a:rPr>
              <a:t>ChOA</a:t>
            </a:r>
            <a:r>
              <a:rPr lang="en-IN" sz="2000" dirty="0">
                <a:latin typeface="Times New Roman" panose="02020603050405020304" pitchFamily="18" charset="0"/>
                <a:cs typeface="Times New Roman" panose="02020603050405020304" pitchFamily="18" charset="0"/>
              </a:rPr>
              <a:t>) and Particle Swarm Optimization (PSO) to enhance detection performance and minimize false positives.</a:t>
            </a:r>
            <a:endParaRPr lang="en-US" sz="2000" dirty="0">
              <a:latin typeface="Times New Roman" panose="02020603050405020304" pitchFamily="18" charset="0"/>
              <a:cs typeface="Times New Roman" panose="02020603050405020304" pitchFamily="18" charset="0"/>
            </a:endParaRPr>
          </a:p>
          <a:p>
            <a:pPr marL="546100" indent="-457200" algn="just">
              <a:buFont typeface="+mj-lt"/>
              <a:buAutoNum type="arabicPeriod"/>
            </a:pPr>
            <a:endParaRPr lang="en-IN" sz="20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0378727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CA101-DF5E-9A50-6ED4-8BD7C22F5256}"/>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Problem Statement</a:t>
            </a:r>
          </a:p>
        </p:txBody>
      </p:sp>
      <p:sp>
        <p:nvSpPr>
          <p:cNvPr id="3" name="Text Placeholder 2">
            <a:extLst>
              <a:ext uri="{FF2B5EF4-FFF2-40B4-BE49-F238E27FC236}">
                <a16:creationId xmlns:a16="http://schemas.microsoft.com/office/drawing/2014/main" id="{516A187E-D6B1-89A7-99FF-126FAA51C93C}"/>
              </a:ext>
            </a:extLst>
          </p:cNvPr>
          <p:cNvSpPr>
            <a:spLocks noGrp="1"/>
          </p:cNvSpPr>
          <p:nvPr>
            <p:ph type="body" idx="1"/>
          </p:nvPr>
        </p:nvSpPr>
        <p:spPr>
          <a:xfrm>
            <a:off x="415600" y="1162050"/>
            <a:ext cx="11360800" cy="4863990"/>
          </a:xfrm>
        </p:spPr>
        <p:txBody>
          <a:bodyPr/>
          <a:lstStyle/>
          <a:p>
            <a:pPr marL="88900" indent="0" algn="just">
              <a:buNone/>
            </a:pPr>
            <a:r>
              <a:rPr lang="en-US" sz="2000" dirty="0">
                <a:latin typeface="Times New Roman" panose="02020603050405020304" pitchFamily="18" charset="0"/>
                <a:cs typeface="Times New Roman" panose="02020603050405020304" pitchFamily="18" charset="0"/>
              </a:rPr>
              <a:t>The rapid growth of IoT networks generates complex traffic, making DDoS detection challenging due to evolving attack patterns and limitations of static methods. Deep learning offers potential but requires optimal hyperparameter tuning, where manual approaches are inefficient. Hence, an intelligent system combining DL with optimization algorithms is needed for accurate and adaptive DDoS detection in IoT environments.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73296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0A5AA-095C-F6ED-BC8F-0DCA9A6BF2CB}"/>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CFBCDD8-5623-D415-B05E-8EDFD4ECBF76}"/>
              </a:ext>
            </a:extLst>
          </p:cNvPr>
          <p:cNvGraphicFramePr>
            <a:graphicFrameLocks noGrp="1"/>
          </p:cNvGraphicFramePr>
          <p:nvPr>
            <p:extLst>
              <p:ext uri="{D42A27DB-BD31-4B8C-83A1-F6EECF244321}">
                <p14:modId xmlns:p14="http://schemas.microsoft.com/office/powerpoint/2010/main" val="4150151623"/>
              </p:ext>
            </p:extLst>
          </p:nvPr>
        </p:nvGraphicFramePr>
        <p:xfrm>
          <a:off x="114300" y="1457325"/>
          <a:ext cx="11972924" cy="4439828"/>
        </p:xfrm>
        <a:graphic>
          <a:graphicData uri="http://schemas.openxmlformats.org/drawingml/2006/table">
            <a:tbl>
              <a:tblPr firstRow="1" bandRow="1">
                <a:tableStyleId>{5940675A-B579-460E-94D1-54222C63F5DA}</a:tableStyleId>
              </a:tblPr>
              <a:tblGrid>
                <a:gridCol w="2372439">
                  <a:extLst>
                    <a:ext uri="{9D8B030D-6E8A-4147-A177-3AD203B41FA5}">
                      <a16:colId xmlns:a16="http://schemas.microsoft.com/office/drawing/2014/main" val="2292645265"/>
                    </a:ext>
                  </a:extLst>
                </a:gridCol>
                <a:gridCol w="2177034">
                  <a:extLst>
                    <a:ext uri="{9D8B030D-6E8A-4147-A177-3AD203B41FA5}">
                      <a16:colId xmlns:a16="http://schemas.microsoft.com/office/drawing/2014/main" val="846223099"/>
                    </a:ext>
                  </a:extLst>
                </a:gridCol>
                <a:gridCol w="1635907">
                  <a:extLst>
                    <a:ext uri="{9D8B030D-6E8A-4147-A177-3AD203B41FA5}">
                      <a16:colId xmlns:a16="http://schemas.microsoft.com/office/drawing/2014/main" val="719000492"/>
                    </a:ext>
                  </a:extLst>
                </a:gridCol>
                <a:gridCol w="1704544">
                  <a:extLst>
                    <a:ext uri="{9D8B030D-6E8A-4147-A177-3AD203B41FA5}">
                      <a16:colId xmlns:a16="http://schemas.microsoft.com/office/drawing/2014/main" val="1257845919"/>
                    </a:ext>
                  </a:extLst>
                </a:gridCol>
                <a:gridCol w="2103981">
                  <a:extLst>
                    <a:ext uri="{9D8B030D-6E8A-4147-A177-3AD203B41FA5}">
                      <a16:colId xmlns:a16="http://schemas.microsoft.com/office/drawing/2014/main" val="3617162021"/>
                    </a:ext>
                  </a:extLst>
                </a:gridCol>
                <a:gridCol w="1979019">
                  <a:extLst>
                    <a:ext uri="{9D8B030D-6E8A-4147-A177-3AD203B41FA5}">
                      <a16:colId xmlns:a16="http://schemas.microsoft.com/office/drawing/2014/main" val="4036149471"/>
                    </a:ext>
                  </a:extLst>
                </a:gridCol>
              </a:tblGrid>
              <a:tr h="309978">
                <a:tc>
                  <a:txBody>
                    <a:bodyPr/>
                    <a:lstStyle/>
                    <a:p>
                      <a:pPr lvl="0">
                        <a:buNone/>
                      </a:pPr>
                      <a:r>
                        <a:rPr lang="en-GB" dirty="0">
                          <a:solidFill>
                            <a:srgbClr val="FF0000"/>
                          </a:solidFill>
                          <a:latin typeface="Times New Roman" panose="02020603050405020304" pitchFamily="18" charset="0"/>
                          <a:cs typeface="Times New Roman" panose="02020603050405020304" pitchFamily="18" charset="0"/>
                        </a:rPr>
                        <a:t>Title</a:t>
                      </a:r>
                      <a:endParaRPr lang="en-US" dirty="0">
                        <a:latin typeface="Times New Roman" panose="02020603050405020304" pitchFamily="18" charset="0"/>
                        <a:cs typeface="Times New Roman" panose="02020603050405020304" pitchFamily="18" charset="0"/>
                      </a:endParaRPr>
                    </a:p>
                  </a:txBody>
                  <a:tcPr/>
                </a:tc>
                <a:tc>
                  <a:txBody>
                    <a:bodyPr/>
                    <a:lstStyle/>
                    <a:p>
                      <a:r>
                        <a:rPr lang="en-GB" dirty="0">
                          <a:latin typeface="Times New Roman" panose="02020603050405020304" pitchFamily="18" charset="0"/>
                          <a:cs typeface="Times New Roman" panose="02020603050405020304" pitchFamily="18" charset="0"/>
                        </a:rPr>
                        <a:t>Authors</a:t>
                      </a:r>
                      <a:endParaRPr lang="en-US" dirty="0">
                        <a:latin typeface="Times New Roman" panose="02020603050405020304" pitchFamily="18" charset="0"/>
                        <a:cs typeface="Times New Roman" panose="02020603050405020304" pitchFamily="18" charset="0"/>
                      </a:endParaRPr>
                    </a:p>
                  </a:txBody>
                  <a:tcPr/>
                </a:tc>
                <a:tc>
                  <a:txBody>
                    <a:bodyPr/>
                    <a:lstStyle/>
                    <a:p>
                      <a:r>
                        <a:rPr lang="en-GB" dirty="0">
                          <a:latin typeface="Times New Roman" panose="02020603050405020304" pitchFamily="18" charset="0"/>
                          <a:cs typeface="Times New Roman" panose="02020603050405020304" pitchFamily="18" charset="0"/>
                        </a:rPr>
                        <a:t>Publication details </a:t>
                      </a:r>
                      <a:endParaRPr lang="en-US" dirty="0">
                        <a:latin typeface="Times New Roman" panose="02020603050405020304" pitchFamily="18" charset="0"/>
                        <a:cs typeface="Times New Roman" panose="02020603050405020304" pitchFamily="18" charset="0"/>
                      </a:endParaRPr>
                    </a:p>
                  </a:txBody>
                  <a:tcPr/>
                </a:tc>
                <a:tc>
                  <a:txBody>
                    <a:bodyPr/>
                    <a:lstStyle/>
                    <a:p>
                      <a:r>
                        <a:rPr lang="en-GB" dirty="0">
                          <a:latin typeface="Times New Roman" panose="02020603050405020304" pitchFamily="18" charset="0"/>
                          <a:cs typeface="Times New Roman" panose="02020603050405020304" pitchFamily="18" charset="0"/>
                        </a:rPr>
                        <a:t>Gaps  identified</a:t>
                      </a:r>
                    </a:p>
                  </a:txBody>
                  <a:tcPr/>
                </a:tc>
                <a:tc>
                  <a:txBody>
                    <a:bodyPr/>
                    <a:lstStyle/>
                    <a:p>
                      <a:r>
                        <a:rPr lang="en-GB" dirty="0">
                          <a:latin typeface="Times New Roman" panose="02020603050405020304" pitchFamily="18" charset="0"/>
                          <a:cs typeface="Times New Roman" panose="02020603050405020304" pitchFamily="18" charset="0"/>
                        </a:rPr>
                        <a:t>Methodology used</a:t>
                      </a:r>
                      <a:endParaRPr lang="en-US" dirty="0">
                        <a:latin typeface="Times New Roman" panose="02020603050405020304" pitchFamily="18" charset="0"/>
                        <a:cs typeface="Times New Roman" panose="02020603050405020304" pitchFamily="18" charset="0"/>
                      </a:endParaRPr>
                    </a:p>
                  </a:txBody>
                  <a:tcPr/>
                </a:tc>
                <a:tc>
                  <a:txBody>
                    <a:bodyPr/>
                    <a:lstStyle/>
                    <a:p>
                      <a:r>
                        <a:rPr lang="en-GB" dirty="0">
                          <a:latin typeface="Times New Roman" panose="02020603050405020304" pitchFamily="18" charset="0"/>
                          <a:cs typeface="Times New Roman" panose="02020603050405020304" pitchFamily="18" charset="0"/>
                        </a:rPr>
                        <a:t>Results</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13818929"/>
                  </a:ext>
                </a:extLst>
              </a:tr>
              <a:tr h="1560166">
                <a:tc>
                  <a:txBody>
                    <a:bodyPr/>
                    <a:lstStyle/>
                    <a:p>
                      <a:pPr lvl="0" algn="just">
                        <a:buNone/>
                      </a:pPr>
                      <a:r>
                        <a:rPr lang="en-US" sz="1200" dirty="0">
                          <a:latin typeface="Times New Roman" panose="02020603050405020304" pitchFamily="18" charset="0"/>
                          <a:cs typeface="Times New Roman" panose="02020603050405020304" pitchFamily="18" charset="0"/>
                        </a:rPr>
                        <a:t>A Hybrid Cheetah and Grey Wolf Optimization Algorithm for Network Intrusion Detection</a:t>
                      </a:r>
                      <a:endParaRPr lang="en-GB" sz="1200" b="0" i="0" u="none" strike="noStrike" noProof="0" dirty="0">
                        <a:latin typeface="Times New Roman" panose="02020603050405020304" pitchFamily="18" charset="0"/>
                        <a:cs typeface="Times New Roman" panose="02020603050405020304" pitchFamily="18" charset="0"/>
                      </a:endParaRPr>
                    </a:p>
                  </a:txBody>
                  <a:tcPr/>
                </a:tc>
                <a:tc>
                  <a:txBody>
                    <a:bodyPr/>
                    <a:lstStyle/>
                    <a:p>
                      <a:pPr lvl="0" algn="just">
                        <a:buNone/>
                      </a:pPr>
                      <a:r>
                        <a:rPr lang="fi-FI" sz="1200" dirty="0">
                          <a:latin typeface="Times New Roman" panose="02020603050405020304" pitchFamily="18" charset="0"/>
                          <a:cs typeface="Times New Roman" panose="02020603050405020304" pitchFamily="18" charset="0"/>
                        </a:rPr>
                        <a:t>Deepshikha Kumari, Amit Kumar, et al.</a:t>
                      </a:r>
                      <a:endParaRPr lang="en-US" sz="1200" dirty="0">
                        <a:latin typeface="Times New Roman" panose="02020603050405020304" pitchFamily="18" charset="0"/>
                        <a:cs typeface="Times New Roman" panose="02020603050405020304" pitchFamily="18" charset="0"/>
                      </a:endParaRPr>
                    </a:p>
                  </a:txBody>
                  <a:tcPr/>
                </a:tc>
                <a:tc>
                  <a:txBody>
                    <a:bodyPr/>
                    <a:lstStyle/>
                    <a:p>
                      <a:pPr marL="0" lvl="0" indent="0">
                        <a:buFont typeface="Arial"/>
                        <a:buNone/>
                      </a:pPr>
                      <a:r>
                        <a:rPr lang="en-US" sz="1200" b="1" dirty="0">
                          <a:latin typeface="Times New Roman" panose="02020603050405020304" pitchFamily="18" charset="0"/>
                          <a:cs typeface="Times New Roman" panose="02020603050405020304" pitchFamily="18" charset="0"/>
                        </a:rPr>
                        <a:t>Publication: </a:t>
                      </a:r>
                      <a:r>
                        <a:rPr lang="en-US" sz="1200" i="0" dirty="0">
                          <a:latin typeface="Times New Roman" panose="02020603050405020304" pitchFamily="18" charset="0"/>
                          <a:cs typeface="Times New Roman" panose="02020603050405020304" pitchFamily="18" charset="0"/>
                        </a:rPr>
                        <a:t>Engineering Research Express, IOP Science</a:t>
                      </a:r>
                      <a:br>
                        <a:rPr lang="en-US" sz="1200" dirty="0">
                          <a:latin typeface="Times New Roman" panose="02020603050405020304" pitchFamily="18" charset="0"/>
                          <a:cs typeface="Times New Roman" panose="02020603050405020304" pitchFamily="18" charset="0"/>
                        </a:rPr>
                      </a:br>
                      <a:r>
                        <a:rPr lang="en-US" sz="1200" b="1" dirty="0">
                          <a:latin typeface="Times New Roman" panose="02020603050405020304" pitchFamily="18" charset="0"/>
                          <a:cs typeface="Times New Roman" panose="02020603050405020304" pitchFamily="18" charset="0"/>
                        </a:rPr>
                        <a:t>Year</a:t>
                      </a:r>
                      <a:r>
                        <a:rPr lang="en-US" sz="1200" dirty="0">
                          <a:latin typeface="Times New Roman" panose="02020603050405020304" pitchFamily="18" charset="0"/>
                          <a:cs typeface="Times New Roman" panose="02020603050405020304" pitchFamily="18" charset="0"/>
                        </a:rPr>
                        <a:t>: 2025</a:t>
                      </a:r>
                      <a:endParaRPr lang="en-GB" sz="1200" b="0" i="0" u="none" strike="noStrike" noProof="0" dirty="0">
                        <a:latin typeface="Times New Roman" panose="02020603050405020304" pitchFamily="18" charset="0"/>
                        <a:cs typeface="Times New Roman" panose="02020603050405020304" pitchFamily="18" charset="0"/>
                      </a:endParaRPr>
                    </a:p>
                  </a:txBody>
                  <a:tcPr/>
                </a:tc>
                <a:tc>
                  <a:txBody>
                    <a:bodyPr/>
                    <a:lstStyle/>
                    <a:p>
                      <a:pPr marL="0" lvl="0" indent="0" algn="just">
                        <a:buFont typeface="Arial"/>
                        <a:buNone/>
                      </a:pPr>
                      <a:r>
                        <a:rPr lang="en-US" sz="1200" dirty="0">
                          <a:latin typeface="Times New Roman" panose="02020603050405020304" pitchFamily="18" charset="0"/>
                          <a:cs typeface="Times New Roman" panose="02020603050405020304" pitchFamily="18" charset="0"/>
                        </a:rPr>
                        <a:t>Existing DL-based intrusion systems lack optimal convergence and often suffer from overfitting and slow learning due to poor hyperparameter tuning.</a:t>
                      </a:r>
                      <a:endParaRPr lang="en-GB" sz="1200" b="0" i="0" u="none" strike="noStrike" noProof="0" dirty="0">
                        <a:latin typeface="Times New Roman" panose="02020603050405020304" pitchFamily="18" charset="0"/>
                        <a:cs typeface="Times New Roman" panose="02020603050405020304" pitchFamily="18" charset="0"/>
                      </a:endParaRPr>
                    </a:p>
                  </a:txBody>
                  <a:tcPr/>
                </a:tc>
                <a:tc>
                  <a:txBody>
                    <a:bodyPr/>
                    <a:lstStyle/>
                    <a:p>
                      <a:pPr lvl="0" algn="just">
                        <a:buNone/>
                      </a:pPr>
                      <a:r>
                        <a:rPr lang="en-IN" sz="1200" dirty="0">
                          <a:latin typeface="Times New Roman" panose="02020603050405020304" pitchFamily="18" charset="0"/>
                          <a:cs typeface="Times New Roman" panose="02020603050405020304" pitchFamily="18" charset="0"/>
                        </a:rPr>
                        <a:t>A hybrid optimization method combining </a:t>
                      </a:r>
                      <a:r>
                        <a:rPr lang="en-IN" sz="1200" b="1" dirty="0">
                          <a:latin typeface="Times New Roman" panose="02020603050405020304" pitchFamily="18" charset="0"/>
                          <a:cs typeface="Times New Roman" panose="02020603050405020304" pitchFamily="18" charset="0"/>
                        </a:rPr>
                        <a:t>Cheetah Optimization Algorithm (COA)</a:t>
                      </a:r>
                      <a:r>
                        <a:rPr lang="en-IN" sz="1200" dirty="0">
                          <a:latin typeface="Times New Roman" panose="02020603050405020304" pitchFamily="18" charset="0"/>
                          <a:cs typeface="Times New Roman" panose="02020603050405020304" pitchFamily="18" charset="0"/>
                        </a:rPr>
                        <a:t> and </a:t>
                      </a:r>
                      <a:r>
                        <a:rPr lang="en-IN" sz="1200" b="1" dirty="0">
                          <a:latin typeface="Times New Roman" panose="02020603050405020304" pitchFamily="18" charset="0"/>
                          <a:cs typeface="Times New Roman" panose="02020603050405020304" pitchFamily="18" charset="0"/>
                        </a:rPr>
                        <a:t>Grey Wolf Optimizer (GWO)</a:t>
                      </a:r>
                      <a:r>
                        <a:rPr lang="en-IN" sz="1200" dirty="0">
                          <a:latin typeface="Times New Roman" panose="02020603050405020304" pitchFamily="18" charset="0"/>
                          <a:cs typeface="Times New Roman" panose="02020603050405020304" pitchFamily="18" charset="0"/>
                        </a:rPr>
                        <a:t> is used to optimize </a:t>
                      </a:r>
                      <a:r>
                        <a:rPr lang="en-IN" sz="1200" b="1" dirty="0">
                          <a:latin typeface="Times New Roman" panose="02020603050405020304" pitchFamily="18" charset="0"/>
                          <a:cs typeface="Times New Roman" panose="02020603050405020304" pitchFamily="18" charset="0"/>
                        </a:rPr>
                        <a:t>CNN parameters</a:t>
                      </a:r>
                      <a:r>
                        <a:rPr lang="en-IN" sz="1200" dirty="0">
                          <a:latin typeface="Times New Roman" panose="02020603050405020304" pitchFamily="18" charset="0"/>
                          <a:cs typeface="Times New Roman" panose="02020603050405020304" pitchFamily="18" charset="0"/>
                        </a:rPr>
                        <a:t> on multiple intrusion detection datasets</a:t>
                      </a:r>
                      <a:endParaRPr lang="en-GB" sz="1200" dirty="0">
                        <a:latin typeface="Times New Roman" panose="02020603050405020304" pitchFamily="18" charset="0"/>
                        <a:cs typeface="Times New Roman" panose="02020603050405020304" pitchFamily="18" charset="0"/>
                      </a:endParaRPr>
                    </a:p>
                  </a:txBody>
                  <a:tcPr/>
                </a:tc>
                <a:tc>
                  <a:txBody>
                    <a:bodyPr/>
                    <a:lstStyle/>
                    <a:p>
                      <a:pPr marL="0" lvl="0" indent="0">
                        <a:buFont typeface="Arial"/>
                        <a:buNone/>
                      </a:pPr>
                      <a:r>
                        <a:rPr lang="en-US" sz="1200" b="0" dirty="0">
                          <a:latin typeface="Times New Roman" panose="02020603050405020304" pitchFamily="18" charset="0"/>
                          <a:cs typeface="Times New Roman" panose="02020603050405020304" pitchFamily="18" charset="0"/>
                        </a:rPr>
                        <a:t>Achieved accuracy up to 99.12%, showing significant performance improvement over standalone CNN or single optimizers.</a:t>
                      </a:r>
                      <a:endParaRPr lang="en-GB" sz="1200" b="0" i="0" u="none" strike="noStrike" noProof="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74601183"/>
                  </a:ext>
                </a:extLst>
              </a:tr>
              <a:tr h="1376617">
                <a:tc>
                  <a:txBody>
                    <a:bodyPr/>
                    <a:lstStyle/>
                    <a:p>
                      <a:pPr lvl="0" algn="just">
                        <a:buNone/>
                      </a:pPr>
                      <a:r>
                        <a:rPr lang="en-US" sz="1200" dirty="0">
                          <a:latin typeface="Times New Roman" panose="02020603050405020304" pitchFamily="18" charset="0"/>
                          <a:cs typeface="Times New Roman" panose="02020603050405020304" pitchFamily="18" charset="0"/>
                        </a:rPr>
                        <a:t>Enhancing DDoS Attack Mitigation Using Machine Learning and Blockchain-Based Mobile Edge Computing in IoT</a:t>
                      </a:r>
                      <a:endParaRPr lang="en-GB" sz="1200" b="0" i="0" u="none" strike="noStrike" noProof="0" dirty="0">
                        <a:latin typeface="Times New Roman" panose="02020603050405020304" pitchFamily="18" charset="0"/>
                        <a:cs typeface="Times New Roman" panose="02020603050405020304" pitchFamily="18" charset="0"/>
                      </a:endParaRPr>
                    </a:p>
                  </a:txBody>
                  <a:tcPr/>
                </a:tc>
                <a:tc>
                  <a:txBody>
                    <a:bodyPr/>
                    <a:lstStyle/>
                    <a:p>
                      <a:pPr lvl="0">
                        <a:buNone/>
                      </a:pPr>
                      <a:r>
                        <a:rPr lang="it-IT" sz="1200" b="0" dirty="0">
                          <a:latin typeface="Times New Roman" panose="02020603050405020304" pitchFamily="18" charset="0"/>
                          <a:cs typeface="Times New Roman" panose="02020603050405020304" pitchFamily="18" charset="0"/>
                        </a:rPr>
                        <a:t>M. Chaira, A. Belhenniche, R. Chertovskih</a:t>
                      </a:r>
                      <a:endParaRPr lang="en-US" sz="1200" b="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latin typeface="Times New Roman" panose="02020603050405020304" pitchFamily="18" charset="0"/>
                          <a:cs typeface="Times New Roman" panose="02020603050405020304" pitchFamily="18" charset="0"/>
                        </a:rPr>
                        <a:t>Publication</a:t>
                      </a:r>
                      <a:r>
                        <a:rPr lang="en-US" sz="1200" dirty="0">
                          <a:latin typeface="Times New Roman" panose="02020603050405020304" pitchFamily="18" charset="0"/>
                          <a:cs typeface="Times New Roman" panose="02020603050405020304" pitchFamily="18" charset="0"/>
                        </a:rPr>
                        <a:t>: MDPI</a:t>
                      </a:r>
                      <a:br>
                        <a:rPr lang="en-US" sz="1200" dirty="0">
                          <a:latin typeface="Times New Roman" panose="02020603050405020304" pitchFamily="18" charset="0"/>
                          <a:cs typeface="Times New Roman" panose="02020603050405020304" pitchFamily="18" charset="0"/>
                        </a:rPr>
                      </a:br>
                      <a:r>
                        <a:rPr lang="en-US" sz="1200" b="1" dirty="0">
                          <a:latin typeface="Times New Roman" panose="02020603050405020304" pitchFamily="18" charset="0"/>
                          <a:cs typeface="Times New Roman" panose="02020603050405020304" pitchFamily="18" charset="0"/>
                        </a:rPr>
                        <a:t>Year</a:t>
                      </a:r>
                      <a:r>
                        <a:rPr lang="en-US" sz="1200" dirty="0">
                          <a:latin typeface="Times New Roman" panose="02020603050405020304" pitchFamily="18" charset="0"/>
                          <a:cs typeface="Times New Roman" panose="02020603050405020304" pitchFamily="18" charset="0"/>
                        </a:rPr>
                        <a:t>: 2025</a:t>
                      </a:r>
                      <a:endParaRPr lang="en-GB" sz="1200" b="0" i="0" u="none" strike="noStrike" noProof="0" dirty="0">
                        <a:latin typeface="Times New Roman" panose="02020603050405020304" pitchFamily="18" charset="0"/>
                        <a:cs typeface="Times New Roman" panose="02020603050405020304" pitchFamily="18" charset="0"/>
                      </a:endParaRPr>
                    </a:p>
                    <a:p>
                      <a:pPr lvl="0">
                        <a:buNone/>
                      </a:pPr>
                      <a:endParaRPr lang="en-GB" dirty="0"/>
                    </a:p>
                  </a:txBody>
                  <a:tcPr/>
                </a:tc>
                <a:tc>
                  <a:txBody>
                    <a:bodyPr/>
                    <a:lstStyle/>
                    <a:p>
                      <a:pPr marL="0" lvl="0" indent="0">
                        <a:buFont typeface="Arial"/>
                        <a:buNone/>
                      </a:pPr>
                      <a:r>
                        <a:rPr lang="en-US" sz="1200" dirty="0">
                          <a:latin typeface="Times New Roman" panose="02020603050405020304" pitchFamily="18" charset="0"/>
                          <a:cs typeface="Times New Roman" panose="02020603050405020304" pitchFamily="18" charset="0"/>
                        </a:rPr>
                        <a:t>Existing DDoS detection models fail in distributed IoT settings due to latency and lack of decentralized protection.</a:t>
                      </a:r>
                      <a:endParaRPr lang="en-GB" sz="1200" b="0" i="0" u="none" strike="noStrike" noProof="0" dirty="0">
                        <a:latin typeface="Times New Roman" panose="02020603050405020304" pitchFamily="18" charset="0"/>
                        <a:cs typeface="Times New Roman" panose="02020603050405020304" pitchFamily="18" charset="0"/>
                      </a:endParaRPr>
                    </a:p>
                  </a:txBody>
                  <a:tcPr/>
                </a:tc>
                <a:tc>
                  <a:txBody>
                    <a:bodyPr/>
                    <a:lstStyle/>
                    <a:p>
                      <a:pPr marL="0" lvl="0" indent="0" algn="just">
                        <a:lnSpc>
                          <a:spcPct val="100000"/>
                        </a:lnSpc>
                        <a:spcBef>
                          <a:spcPts val="0"/>
                        </a:spcBef>
                        <a:spcAft>
                          <a:spcPts val="0"/>
                        </a:spcAft>
                        <a:buFont typeface="Arial"/>
                        <a:buNone/>
                      </a:pPr>
                      <a:r>
                        <a:rPr lang="en-US" sz="1200" dirty="0">
                          <a:latin typeface="Times New Roman" panose="02020603050405020304" pitchFamily="18" charset="0"/>
                          <a:cs typeface="Times New Roman" panose="02020603050405020304" pitchFamily="18" charset="0"/>
                        </a:rPr>
                        <a:t>Used </a:t>
                      </a:r>
                      <a:r>
                        <a:rPr lang="en-US" sz="1200" b="1" dirty="0">
                          <a:latin typeface="Times New Roman" panose="02020603050405020304" pitchFamily="18" charset="0"/>
                          <a:cs typeface="Times New Roman" panose="02020603050405020304" pitchFamily="18" charset="0"/>
                        </a:rPr>
                        <a:t>Random Forest</a:t>
                      </a:r>
                      <a:r>
                        <a:rPr lang="en-US" sz="1200" dirty="0">
                          <a:latin typeface="Times New Roman" panose="02020603050405020304" pitchFamily="18" charset="0"/>
                          <a:cs typeface="Times New Roman" panose="02020603050405020304" pitchFamily="18" charset="0"/>
                        </a:rPr>
                        <a:t> and </a:t>
                      </a:r>
                      <a:r>
                        <a:rPr lang="en-US" sz="1200" b="1" dirty="0">
                          <a:latin typeface="Times New Roman" panose="02020603050405020304" pitchFamily="18" charset="0"/>
                          <a:cs typeface="Times New Roman" panose="02020603050405020304" pitchFamily="18" charset="0"/>
                        </a:rPr>
                        <a:t>Transformer models</a:t>
                      </a:r>
                      <a:r>
                        <a:rPr lang="en-US" sz="1200" dirty="0">
                          <a:latin typeface="Times New Roman" panose="02020603050405020304" pitchFamily="18" charset="0"/>
                          <a:cs typeface="Times New Roman" panose="02020603050405020304" pitchFamily="18" charset="0"/>
                        </a:rPr>
                        <a:t> with </a:t>
                      </a:r>
                      <a:r>
                        <a:rPr lang="en-US" sz="1200" b="1" dirty="0">
                          <a:latin typeface="Times New Roman" panose="02020603050405020304" pitchFamily="18" charset="0"/>
                          <a:cs typeface="Times New Roman" panose="02020603050405020304" pitchFamily="18" charset="0"/>
                        </a:rPr>
                        <a:t>blockchain-enabled edge computing</a:t>
                      </a:r>
                      <a:r>
                        <a:rPr lang="en-US" sz="1200" dirty="0">
                          <a:latin typeface="Times New Roman" panose="02020603050405020304" pitchFamily="18" charset="0"/>
                          <a:cs typeface="Times New Roman" panose="02020603050405020304" pitchFamily="18" charset="0"/>
                        </a:rPr>
                        <a:t> for decentralized and real-time DDoS detection. CICDDoS2019 dataset was used.</a:t>
                      </a:r>
                      <a:endParaRPr lang="en-GB" sz="1200" b="0" dirty="0">
                        <a:latin typeface="Times New Roman" panose="02020603050405020304" pitchFamily="18" charset="0"/>
                        <a:cs typeface="Times New Roman" panose="02020603050405020304" pitchFamily="18" charset="0"/>
                      </a:endParaRPr>
                    </a:p>
                  </a:txBody>
                  <a:tcPr/>
                </a:tc>
                <a:tc>
                  <a:txBody>
                    <a:bodyPr/>
                    <a:lstStyle/>
                    <a:p>
                      <a:pPr marL="0" lvl="0" indent="0">
                        <a:buFont typeface="Arial" panose="020B0604020202020204" pitchFamily="34" charset="0"/>
                        <a:buNone/>
                      </a:pPr>
                      <a:r>
                        <a:rPr lang="en-US" sz="1200" dirty="0">
                          <a:latin typeface="Times New Roman" panose="02020603050405020304" pitchFamily="18" charset="0"/>
                          <a:cs typeface="Times New Roman" panose="02020603050405020304" pitchFamily="18" charset="0"/>
                        </a:rPr>
                        <a:t>Achieved </a:t>
                      </a:r>
                      <a:r>
                        <a:rPr lang="en-US" sz="1200" b="1" dirty="0">
                          <a:latin typeface="Times New Roman" panose="02020603050405020304" pitchFamily="18" charset="0"/>
                          <a:cs typeface="Times New Roman" panose="02020603050405020304" pitchFamily="18" charset="0"/>
                        </a:rPr>
                        <a:t>99.78% detection accuracy</a:t>
                      </a:r>
                      <a:r>
                        <a:rPr lang="en-US" sz="1200" dirty="0">
                          <a:latin typeface="Times New Roman" panose="02020603050405020304" pitchFamily="18" charset="0"/>
                          <a:cs typeface="Times New Roman" panose="02020603050405020304" pitchFamily="18" charset="0"/>
                        </a:rPr>
                        <a:t> and reduced detection latency using Transformer + Blockchain MEC framework.</a:t>
                      </a:r>
                      <a:endParaRPr lang="en-GB" sz="1200" b="0" i="0" u="none" strike="noStrike" noProof="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44016209"/>
                  </a:ext>
                </a:extLst>
              </a:tr>
              <a:tr h="1193067">
                <a:tc>
                  <a:txBody>
                    <a:bodyPr/>
                    <a:lstStyle/>
                    <a:p>
                      <a:pPr lvl="0" algn="just">
                        <a:buNone/>
                      </a:pPr>
                      <a:r>
                        <a:rPr lang="en-US" sz="1200" dirty="0">
                          <a:latin typeface="Times New Roman" panose="02020603050405020304" pitchFamily="18" charset="0"/>
                          <a:cs typeface="Times New Roman" panose="02020603050405020304" pitchFamily="18" charset="0"/>
                        </a:rPr>
                        <a:t>A DDoS Detection Model Based on Multi-Strategy Integrated Zebra Optimization Algorithm</a:t>
                      </a:r>
                      <a:endParaRPr lang="en-GB" sz="1200" b="0" i="0" u="none" strike="noStrike" noProof="0" dirty="0">
                        <a:latin typeface="Times New Roman" panose="02020603050405020304" pitchFamily="18" charset="0"/>
                        <a:cs typeface="Times New Roman" panose="02020603050405020304" pitchFamily="18" charset="0"/>
                      </a:endParaRPr>
                    </a:p>
                  </a:txBody>
                  <a:tcPr/>
                </a:tc>
                <a:tc>
                  <a:txBody>
                    <a:bodyPr/>
                    <a:lstStyle/>
                    <a:p>
                      <a:pPr lvl="0">
                        <a:buNone/>
                      </a:pPr>
                      <a:r>
                        <a:rPr lang="en-IN" sz="1200" dirty="0">
                          <a:latin typeface="Times New Roman" panose="02020603050405020304" pitchFamily="18" charset="0"/>
                          <a:cs typeface="Times New Roman" panose="02020603050405020304" pitchFamily="18" charset="0"/>
                        </a:rPr>
                        <a:t>X. Liu, L. Wang, et al.</a:t>
                      </a:r>
                      <a:endParaRPr lang="en-US" sz="12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latin typeface="Times New Roman" panose="02020603050405020304" pitchFamily="18" charset="0"/>
                          <a:cs typeface="Times New Roman" panose="02020603050405020304" pitchFamily="18" charset="0"/>
                        </a:rPr>
                        <a:t>Publication</a:t>
                      </a:r>
                      <a:r>
                        <a:rPr lang="en-US" sz="1200" dirty="0">
                          <a:latin typeface="Times New Roman" panose="02020603050405020304" pitchFamily="18" charset="0"/>
                          <a:cs typeface="Times New Roman" panose="02020603050405020304" pitchFamily="18" charset="0"/>
                        </a:rPr>
                        <a:t>:</a:t>
                      </a:r>
                      <a:r>
                        <a:rPr lang="en-IN" sz="1200" dirty="0">
                          <a:latin typeface="Times New Roman" panose="02020603050405020304" pitchFamily="18" charset="0"/>
                          <a:cs typeface="Times New Roman" panose="02020603050405020304" pitchFamily="18" charset="0"/>
                        </a:rPr>
                        <a:t>Springer</a:t>
                      </a:r>
                      <a:br>
                        <a:rPr lang="en-US" sz="1200" dirty="0">
                          <a:latin typeface="Times New Roman" panose="02020603050405020304" pitchFamily="18" charset="0"/>
                          <a:cs typeface="Times New Roman" panose="02020603050405020304" pitchFamily="18" charset="0"/>
                        </a:rPr>
                      </a:br>
                      <a:r>
                        <a:rPr lang="en-US" sz="1200" b="1" dirty="0">
                          <a:latin typeface="Times New Roman" panose="02020603050405020304" pitchFamily="18" charset="0"/>
                          <a:cs typeface="Times New Roman" panose="02020603050405020304" pitchFamily="18" charset="0"/>
                        </a:rPr>
                        <a:t>Year</a:t>
                      </a:r>
                      <a:r>
                        <a:rPr lang="en-US" sz="1200" dirty="0">
                          <a:latin typeface="Times New Roman" panose="02020603050405020304" pitchFamily="18" charset="0"/>
                          <a:cs typeface="Times New Roman" panose="02020603050405020304" pitchFamily="18" charset="0"/>
                        </a:rPr>
                        <a:t>: 2025</a:t>
                      </a:r>
                      <a:endParaRPr lang="en-GB" sz="1200" b="0" i="0" u="none" strike="noStrike" noProof="0" dirty="0">
                        <a:latin typeface="Times New Roman" panose="02020603050405020304" pitchFamily="18" charset="0"/>
                        <a:cs typeface="Times New Roman" panose="02020603050405020304" pitchFamily="18" charset="0"/>
                      </a:endParaRPr>
                    </a:p>
                    <a:p>
                      <a:pPr lvl="0">
                        <a:buNone/>
                      </a:pPr>
                      <a:endParaRPr lang="en-GB" dirty="0"/>
                    </a:p>
                  </a:txBody>
                  <a:tcPr/>
                </a:tc>
                <a:tc>
                  <a:txBody>
                    <a:bodyPr/>
                    <a:lstStyle/>
                    <a:p>
                      <a:pPr marL="0" lvl="0" indent="0">
                        <a:buFont typeface="Arial"/>
                        <a:buNone/>
                      </a:pPr>
                      <a:r>
                        <a:rPr lang="en-US" sz="1200" dirty="0">
                          <a:latin typeface="Times New Roman" panose="02020603050405020304" pitchFamily="18" charset="0"/>
                          <a:cs typeface="Times New Roman" panose="02020603050405020304" pitchFamily="18" charset="0"/>
                        </a:rPr>
                        <a:t>Traditional optimization algorithms lack diversity and get stuck in local optima when tuning DL models.</a:t>
                      </a:r>
                      <a:endParaRPr lang="en-GB" sz="1200" b="0" i="0" u="none" strike="noStrike" noProof="0" dirty="0">
                        <a:latin typeface="Times New Roman" panose="02020603050405020304" pitchFamily="18" charset="0"/>
                        <a:cs typeface="Times New Roman" panose="02020603050405020304" pitchFamily="18" charset="0"/>
                      </a:endParaRPr>
                    </a:p>
                  </a:txBody>
                  <a:tcPr/>
                </a:tc>
                <a:tc>
                  <a:txBody>
                    <a:bodyPr/>
                    <a:lstStyle/>
                    <a:p>
                      <a:pPr marL="0" lvl="0" indent="0" algn="just">
                        <a:lnSpc>
                          <a:spcPct val="100000"/>
                        </a:lnSpc>
                        <a:spcBef>
                          <a:spcPts val="0"/>
                        </a:spcBef>
                        <a:spcAft>
                          <a:spcPts val="0"/>
                        </a:spcAft>
                        <a:buFont typeface="Arial"/>
                        <a:buNone/>
                      </a:pPr>
                      <a:r>
                        <a:rPr lang="en-US" sz="1200" dirty="0">
                          <a:latin typeface="Times New Roman" panose="02020603050405020304" pitchFamily="18" charset="0"/>
                          <a:cs typeface="Times New Roman" panose="02020603050405020304" pitchFamily="18" charset="0"/>
                        </a:rPr>
                        <a:t>Proposed an enhanced </a:t>
                      </a:r>
                      <a:r>
                        <a:rPr lang="en-US" sz="1200" b="1" dirty="0">
                          <a:latin typeface="Times New Roman" panose="02020603050405020304" pitchFamily="18" charset="0"/>
                          <a:cs typeface="Times New Roman" panose="02020603050405020304" pitchFamily="18" charset="0"/>
                        </a:rPr>
                        <a:t>Zebra Optimization Algorithm</a:t>
                      </a:r>
                      <a:r>
                        <a:rPr lang="en-US" sz="1200" dirty="0">
                          <a:latin typeface="Times New Roman" panose="02020603050405020304" pitchFamily="18" charset="0"/>
                          <a:cs typeface="Times New Roman" panose="02020603050405020304" pitchFamily="18" charset="0"/>
                        </a:rPr>
                        <a:t> integrated with </a:t>
                      </a:r>
                      <a:r>
                        <a:rPr lang="en-US" sz="1200" b="1" dirty="0">
                          <a:latin typeface="Times New Roman" panose="02020603050405020304" pitchFamily="18" charset="0"/>
                          <a:cs typeface="Times New Roman" panose="02020603050405020304" pitchFamily="18" charset="0"/>
                        </a:rPr>
                        <a:t>CNN-LSTM</a:t>
                      </a:r>
                      <a:endParaRPr lang="en-GB" sz="1200" b="0" dirty="0">
                        <a:latin typeface="Times New Roman" panose="02020603050405020304" pitchFamily="18" charset="0"/>
                        <a:cs typeface="Times New Roman" panose="02020603050405020304" pitchFamily="18" charset="0"/>
                      </a:endParaRPr>
                    </a:p>
                  </a:txBody>
                  <a:tcPr/>
                </a:tc>
                <a:tc>
                  <a:txBody>
                    <a:bodyPr/>
                    <a:lstStyle/>
                    <a:p>
                      <a:pPr marL="0" lvl="0" indent="0">
                        <a:buFont typeface="Arial" panose="020B0604020202020204" pitchFamily="34" charset="0"/>
                        <a:buNone/>
                      </a:pPr>
                      <a:r>
                        <a:rPr lang="en-US" sz="1200" dirty="0">
                          <a:latin typeface="Times New Roman" panose="02020603050405020304" pitchFamily="18" charset="0"/>
                          <a:cs typeface="Times New Roman" panose="02020603050405020304" pitchFamily="18" charset="0"/>
                        </a:rPr>
                        <a:t>Achieved </a:t>
                      </a:r>
                      <a:r>
                        <a:rPr lang="en-US" sz="1200" b="1" dirty="0">
                          <a:latin typeface="Times New Roman" panose="02020603050405020304" pitchFamily="18" charset="0"/>
                          <a:cs typeface="Times New Roman" panose="02020603050405020304" pitchFamily="18" charset="0"/>
                        </a:rPr>
                        <a:t>~98.7% F1-score</a:t>
                      </a:r>
                      <a:r>
                        <a:rPr lang="en-US" sz="1200" dirty="0">
                          <a:latin typeface="Times New Roman" panose="02020603050405020304" pitchFamily="18" charset="0"/>
                          <a:cs typeface="Times New Roman" panose="02020603050405020304" pitchFamily="18" charset="0"/>
                        </a:rPr>
                        <a:t>, showing robustness and stability over other metaheuristics.</a:t>
                      </a:r>
                      <a:endParaRPr lang="en-GB" sz="1200" b="0" i="0" u="none" strike="noStrike" noProof="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67775079"/>
                  </a:ext>
                </a:extLst>
              </a:tr>
            </a:tbl>
          </a:graphicData>
        </a:graphic>
      </p:graphicFrame>
    </p:spTree>
    <p:extLst>
      <p:ext uri="{BB962C8B-B14F-4D97-AF65-F5344CB8AC3E}">
        <p14:creationId xmlns:p14="http://schemas.microsoft.com/office/powerpoint/2010/main" val="38334578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BBAF9-2E88-4F32-F5D3-C4215CD23E50}"/>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A1D498BA-3D2B-A53C-502A-D7F887952093}"/>
              </a:ext>
            </a:extLst>
          </p:cNvPr>
          <p:cNvGraphicFramePr>
            <a:graphicFrameLocks noGrp="1"/>
          </p:cNvGraphicFramePr>
          <p:nvPr>
            <p:extLst>
              <p:ext uri="{D42A27DB-BD31-4B8C-83A1-F6EECF244321}">
                <p14:modId xmlns:p14="http://schemas.microsoft.com/office/powerpoint/2010/main" val="3602302105"/>
              </p:ext>
            </p:extLst>
          </p:nvPr>
        </p:nvGraphicFramePr>
        <p:xfrm>
          <a:off x="209551" y="1549702"/>
          <a:ext cx="11877675" cy="4184393"/>
        </p:xfrm>
        <a:graphic>
          <a:graphicData uri="http://schemas.openxmlformats.org/drawingml/2006/table">
            <a:tbl>
              <a:tblPr firstRow="1" bandRow="1">
                <a:tableStyleId>{5940675A-B579-460E-94D1-54222C63F5DA}</a:tableStyleId>
              </a:tblPr>
              <a:tblGrid>
                <a:gridCol w="2276954">
                  <a:extLst>
                    <a:ext uri="{9D8B030D-6E8A-4147-A177-3AD203B41FA5}">
                      <a16:colId xmlns:a16="http://schemas.microsoft.com/office/drawing/2014/main" val="2292645265"/>
                    </a:ext>
                  </a:extLst>
                </a:gridCol>
                <a:gridCol w="2089414">
                  <a:extLst>
                    <a:ext uri="{9D8B030D-6E8A-4147-A177-3AD203B41FA5}">
                      <a16:colId xmlns:a16="http://schemas.microsoft.com/office/drawing/2014/main" val="846223099"/>
                    </a:ext>
                  </a:extLst>
                </a:gridCol>
                <a:gridCol w="1570066">
                  <a:extLst>
                    <a:ext uri="{9D8B030D-6E8A-4147-A177-3AD203B41FA5}">
                      <a16:colId xmlns:a16="http://schemas.microsoft.com/office/drawing/2014/main" val="719000492"/>
                    </a:ext>
                  </a:extLst>
                </a:gridCol>
                <a:gridCol w="1829740">
                  <a:extLst>
                    <a:ext uri="{9D8B030D-6E8A-4147-A177-3AD203B41FA5}">
                      <a16:colId xmlns:a16="http://schemas.microsoft.com/office/drawing/2014/main" val="1257845919"/>
                    </a:ext>
                  </a:extLst>
                </a:gridCol>
                <a:gridCol w="1957170">
                  <a:extLst>
                    <a:ext uri="{9D8B030D-6E8A-4147-A177-3AD203B41FA5}">
                      <a16:colId xmlns:a16="http://schemas.microsoft.com/office/drawing/2014/main" val="3617162021"/>
                    </a:ext>
                  </a:extLst>
                </a:gridCol>
                <a:gridCol w="2154331">
                  <a:extLst>
                    <a:ext uri="{9D8B030D-6E8A-4147-A177-3AD203B41FA5}">
                      <a16:colId xmlns:a16="http://schemas.microsoft.com/office/drawing/2014/main" val="4036149471"/>
                    </a:ext>
                  </a:extLst>
                </a:gridCol>
              </a:tblGrid>
              <a:tr h="397669">
                <a:tc>
                  <a:txBody>
                    <a:bodyPr/>
                    <a:lstStyle/>
                    <a:p>
                      <a:pPr lvl="0">
                        <a:buNone/>
                      </a:pPr>
                      <a:r>
                        <a:rPr lang="en-GB" dirty="0">
                          <a:solidFill>
                            <a:srgbClr val="FF0000"/>
                          </a:solidFill>
                          <a:latin typeface="Times New Roman" panose="02020603050405020304" pitchFamily="18" charset="0"/>
                          <a:cs typeface="Times New Roman" panose="02020603050405020304" pitchFamily="18" charset="0"/>
                        </a:rPr>
                        <a:t>Title</a:t>
                      </a:r>
                      <a:endParaRPr lang="en-US" dirty="0">
                        <a:latin typeface="Times New Roman" panose="02020603050405020304" pitchFamily="18" charset="0"/>
                        <a:cs typeface="Times New Roman" panose="02020603050405020304" pitchFamily="18" charset="0"/>
                      </a:endParaRPr>
                    </a:p>
                  </a:txBody>
                  <a:tcPr/>
                </a:tc>
                <a:tc>
                  <a:txBody>
                    <a:bodyPr/>
                    <a:lstStyle/>
                    <a:p>
                      <a:r>
                        <a:rPr lang="en-GB" dirty="0">
                          <a:latin typeface="Times New Roman" panose="02020603050405020304" pitchFamily="18" charset="0"/>
                          <a:cs typeface="Times New Roman" panose="02020603050405020304" pitchFamily="18" charset="0"/>
                        </a:rPr>
                        <a:t>Authors</a:t>
                      </a:r>
                      <a:endParaRPr lang="en-US" dirty="0">
                        <a:latin typeface="Times New Roman" panose="02020603050405020304" pitchFamily="18" charset="0"/>
                        <a:cs typeface="Times New Roman" panose="02020603050405020304" pitchFamily="18" charset="0"/>
                      </a:endParaRPr>
                    </a:p>
                  </a:txBody>
                  <a:tcPr/>
                </a:tc>
                <a:tc>
                  <a:txBody>
                    <a:bodyPr/>
                    <a:lstStyle/>
                    <a:p>
                      <a:r>
                        <a:rPr lang="en-GB" dirty="0">
                          <a:latin typeface="Times New Roman" panose="02020603050405020304" pitchFamily="18" charset="0"/>
                          <a:cs typeface="Times New Roman" panose="02020603050405020304" pitchFamily="18" charset="0"/>
                        </a:rPr>
                        <a:t>Publication details </a:t>
                      </a:r>
                      <a:endParaRPr lang="en-US" dirty="0">
                        <a:latin typeface="Times New Roman" panose="02020603050405020304" pitchFamily="18" charset="0"/>
                        <a:cs typeface="Times New Roman" panose="02020603050405020304" pitchFamily="18" charset="0"/>
                      </a:endParaRPr>
                    </a:p>
                  </a:txBody>
                  <a:tcPr/>
                </a:tc>
                <a:tc>
                  <a:txBody>
                    <a:bodyPr/>
                    <a:lstStyle/>
                    <a:p>
                      <a:r>
                        <a:rPr lang="en-GB" dirty="0">
                          <a:latin typeface="Times New Roman" panose="02020603050405020304" pitchFamily="18" charset="0"/>
                          <a:cs typeface="Times New Roman" panose="02020603050405020304" pitchFamily="18" charset="0"/>
                        </a:rPr>
                        <a:t>Gaps  identified</a:t>
                      </a:r>
                    </a:p>
                  </a:txBody>
                  <a:tcPr/>
                </a:tc>
                <a:tc>
                  <a:txBody>
                    <a:bodyPr/>
                    <a:lstStyle/>
                    <a:p>
                      <a:r>
                        <a:rPr lang="en-GB" dirty="0">
                          <a:latin typeface="Times New Roman" panose="02020603050405020304" pitchFamily="18" charset="0"/>
                          <a:cs typeface="Times New Roman" panose="02020603050405020304" pitchFamily="18" charset="0"/>
                        </a:rPr>
                        <a:t>Methodology used</a:t>
                      </a:r>
                      <a:endParaRPr lang="en-US" dirty="0">
                        <a:latin typeface="Times New Roman" panose="02020603050405020304" pitchFamily="18" charset="0"/>
                        <a:cs typeface="Times New Roman" panose="02020603050405020304" pitchFamily="18" charset="0"/>
                      </a:endParaRPr>
                    </a:p>
                  </a:txBody>
                  <a:tcPr/>
                </a:tc>
                <a:tc>
                  <a:txBody>
                    <a:bodyPr/>
                    <a:lstStyle/>
                    <a:p>
                      <a:r>
                        <a:rPr lang="en-GB" dirty="0">
                          <a:latin typeface="Times New Roman" panose="02020603050405020304" pitchFamily="18" charset="0"/>
                          <a:cs typeface="Times New Roman" panose="02020603050405020304" pitchFamily="18" charset="0"/>
                        </a:rPr>
                        <a:t>Results</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13818929"/>
                  </a:ext>
                </a:extLst>
              </a:tr>
              <a:tr h="1081670">
                <a:tc>
                  <a:txBody>
                    <a:bodyPr/>
                    <a:lstStyle/>
                    <a:p>
                      <a:pPr lvl="0" algn="just">
                        <a:buNone/>
                      </a:pPr>
                      <a:r>
                        <a:rPr lang="en-US" sz="1200" dirty="0">
                          <a:latin typeface="Times New Roman" panose="02020603050405020304" pitchFamily="18" charset="0"/>
                          <a:cs typeface="Times New Roman" panose="02020603050405020304" pitchFamily="18" charset="0"/>
                        </a:rPr>
                        <a:t>DDoS Threats in IoT: A Review of Blockchain-Based Defense Strategies</a:t>
                      </a:r>
                      <a:endParaRPr lang="en-GB" sz="1200" b="0" i="0" u="none" strike="noStrike" noProof="0" dirty="0">
                        <a:latin typeface="Times New Roman" panose="02020603050405020304" pitchFamily="18" charset="0"/>
                        <a:cs typeface="Times New Roman" panose="02020603050405020304" pitchFamily="18" charset="0"/>
                      </a:endParaRPr>
                    </a:p>
                  </a:txBody>
                  <a:tcPr/>
                </a:tc>
                <a:tc>
                  <a:txBody>
                    <a:bodyPr/>
                    <a:lstStyle/>
                    <a:p>
                      <a:pPr lvl="0" algn="just">
                        <a:buNone/>
                      </a:pPr>
                      <a:r>
                        <a:rPr lang="en-IN" sz="1200" dirty="0">
                          <a:latin typeface="Times New Roman" panose="02020603050405020304" pitchFamily="18" charset="0"/>
                          <a:cs typeface="Times New Roman" panose="02020603050405020304" pitchFamily="18" charset="0"/>
                        </a:rPr>
                        <a:t>Fiza Abdul Rahim, Abdul Ghafar Jaafar, Noor Hafizah Hassan, Abdulrahman Aminu Ghali, </a:t>
                      </a:r>
                      <a:r>
                        <a:rPr lang="en-IN" sz="1200" dirty="0" err="1">
                          <a:latin typeface="Times New Roman" panose="02020603050405020304" pitchFamily="18" charset="0"/>
                          <a:cs typeface="Times New Roman" panose="02020603050405020304" pitchFamily="18" charset="0"/>
                        </a:rPr>
                        <a:t>Khairol</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Shapawi</a:t>
                      </a:r>
                      <a:r>
                        <a:rPr lang="en-IN" sz="1200" dirty="0">
                          <a:latin typeface="Times New Roman" panose="02020603050405020304" pitchFamily="18" charset="0"/>
                          <a:cs typeface="Times New Roman" panose="02020603050405020304" pitchFamily="18" charset="0"/>
                        </a:rPr>
                        <a:t> Abdul Karim</a:t>
                      </a:r>
                      <a:endParaRPr lang="en-US" sz="1200" dirty="0">
                        <a:latin typeface="Times New Roman" panose="02020603050405020304" pitchFamily="18" charset="0"/>
                        <a:cs typeface="Times New Roman" panose="02020603050405020304" pitchFamily="18" charset="0"/>
                      </a:endParaRPr>
                    </a:p>
                  </a:txBody>
                  <a:tcPr/>
                </a:tc>
                <a:tc>
                  <a:txBody>
                    <a:bodyPr/>
                    <a:lstStyle/>
                    <a:p>
                      <a:pPr marL="0" lvl="0" indent="0">
                        <a:buFont typeface="Arial"/>
                        <a:buNone/>
                      </a:pPr>
                      <a:r>
                        <a:rPr lang="en-US" sz="1200" b="1" dirty="0">
                          <a:latin typeface="Times New Roman" panose="02020603050405020304" pitchFamily="18" charset="0"/>
                          <a:cs typeface="Times New Roman" panose="02020603050405020304" pitchFamily="18" charset="0"/>
                        </a:rPr>
                        <a:t>Publication</a:t>
                      </a:r>
                      <a:r>
                        <a:rPr lang="en-US" sz="1200" dirty="0">
                          <a:latin typeface="Times New Roman" panose="02020603050405020304" pitchFamily="18" charset="0"/>
                          <a:cs typeface="Times New Roman" panose="02020603050405020304" pitchFamily="18" charset="0"/>
                        </a:rPr>
                        <a:t>: SSRN (Social Science Research Network)</a:t>
                      </a:r>
                      <a:br>
                        <a:rPr lang="en-US" sz="1200" dirty="0">
                          <a:latin typeface="Times New Roman" panose="02020603050405020304" pitchFamily="18" charset="0"/>
                          <a:cs typeface="Times New Roman" panose="02020603050405020304" pitchFamily="18" charset="0"/>
                        </a:rPr>
                      </a:br>
                      <a:r>
                        <a:rPr lang="en-US" sz="1200" b="1" dirty="0">
                          <a:latin typeface="Times New Roman" panose="02020603050405020304" pitchFamily="18" charset="0"/>
                          <a:cs typeface="Times New Roman" panose="02020603050405020304" pitchFamily="18" charset="0"/>
                        </a:rPr>
                        <a:t>Year</a:t>
                      </a:r>
                      <a:r>
                        <a:rPr lang="en-US" sz="1200" dirty="0">
                          <a:latin typeface="Times New Roman" panose="02020603050405020304" pitchFamily="18" charset="0"/>
                          <a:cs typeface="Times New Roman" panose="02020603050405020304" pitchFamily="18" charset="0"/>
                        </a:rPr>
                        <a:t>: 2024</a:t>
                      </a:r>
                      <a:endParaRPr lang="en-GB" sz="1200" b="0" i="0" u="none" strike="noStrike" noProof="0" dirty="0">
                        <a:latin typeface="Times New Roman" panose="02020603050405020304" pitchFamily="18" charset="0"/>
                        <a:cs typeface="Times New Roman" panose="02020603050405020304" pitchFamily="18" charset="0"/>
                      </a:endParaRPr>
                    </a:p>
                  </a:txBody>
                  <a:tcPr/>
                </a:tc>
                <a:tc>
                  <a:txBody>
                    <a:bodyPr/>
                    <a:lstStyle/>
                    <a:p>
                      <a:pPr marL="0" lvl="0" indent="0" algn="l">
                        <a:buFont typeface="Arial"/>
                        <a:buNone/>
                      </a:pPr>
                      <a:r>
                        <a:rPr lang="en-US" sz="1200" dirty="0">
                          <a:latin typeface="Times New Roman" panose="02020603050405020304" pitchFamily="18" charset="0"/>
                          <a:cs typeface="Times New Roman" panose="02020603050405020304" pitchFamily="18" charset="0"/>
                        </a:rPr>
                        <a:t>Limited integration of AI and blockchain in current IoT DDoS mitigation solutions.</a:t>
                      </a:r>
                      <a:endParaRPr lang="en-GB" sz="1200" b="0" i="0" u="none" strike="noStrike" noProof="0" dirty="0">
                        <a:latin typeface="Times New Roman" panose="02020603050405020304" pitchFamily="18" charset="0"/>
                        <a:cs typeface="Times New Roman" panose="02020603050405020304" pitchFamily="18" charset="0"/>
                      </a:endParaRPr>
                    </a:p>
                  </a:txBody>
                  <a:tcPr/>
                </a:tc>
                <a:tc>
                  <a:txBody>
                    <a:bodyPr/>
                    <a:lstStyle/>
                    <a:p>
                      <a:pPr lvl="0">
                        <a:buNone/>
                      </a:pPr>
                      <a:r>
                        <a:rPr lang="en-US" sz="1200" dirty="0">
                          <a:latin typeface="Times New Roman" panose="02020603050405020304" pitchFamily="18" charset="0"/>
                          <a:cs typeface="Times New Roman" panose="02020603050405020304" pitchFamily="18" charset="0"/>
                        </a:rPr>
                        <a:t>Systematic literature review using PRISMA guidelines.</a:t>
                      </a:r>
                      <a:endParaRPr lang="en-GB" sz="12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latin typeface="Times New Roman" panose="02020603050405020304" pitchFamily="18" charset="0"/>
                          <a:cs typeface="Times New Roman" panose="02020603050405020304" pitchFamily="18" charset="0"/>
                        </a:rPr>
                        <a:t>Integration with </a:t>
                      </a:r>
                      <a:r>
                        <a:rPr lang="en-US" sz="1200" b="1" dirty="0">
                          <a:latin typeface="Times New Roman" panose="02020603050405020304" pitchFamily="18" charset="0"/>
                          <a:cs typeface="Times New Roman" panose="02020603050405020304" pitchFamily="18" charset="0"/>
                        </a:rPr>
                        <a:t>AI and federated learning</a:t>
                      </a:r>
                      <a:r>
                        <a:rPr lang="en-US" sz="1200" dirty="0">
                          <a:latin typeface="Times New Roman" panose="02020603050405020304" pitchFamily="18" charset="0"/>
                          <a:cs typeface="Times New Roman" panose="02020603050405020304" pitchFamily="18" charset="0"/>
                        </a:rPr>
                        <a:t> enhances anomaly detection and real-time threat response.</a:t>
                      </a:r>
                    </a:p>
                    <a:p>
                      <a:pPr marL="0" lvl="0" indent="0">
                        <a:buFont typeface="Arial"/>
                        <a:buNone/>
                      </a:pPr>
                      <a:endParaRPr lang="en-GB" sz="1200" b="0" i="0" u="none" strike="noStrike" noProof="0" dirty="0">
                        <a:latin typeface="Arial"/>
                      </a:endParaRPr>
                    </a:p>
                  </a:txBody>
                  <a:tcPr/>
                </a:tc>
                <a:extLst>
                  <a:ext uri="{0D108BD9-81ED-4DB2-BD59-A6C34878D82A}">
                    <a16:rowId xmlns:a16="http://schemas.microsoft.com/office/drawing/2014/main" val="3274601183"/>
                  </a:ext>
                </a:extLst>
              </a:tr>
              <a:tr h="1333454">
                <a:tc>
                  <a:txBody>
                    <a:bodyPr/>
                    <a:lstStyle/>
                    <a:p>
                      <a:pPr lvl="0" algn="just">
                        <a:buNone/>
                      </a:pPr>
                      <a:r>
                        <a:rPr lang="en-US" sz="1200" i="0" dirty="0">
                          <a:latin typeface="Times New Roman" panose="02020603050405020304" pitchFamily="18" charset="0"/>
                          <a:cs typeface="Times New Roman" panose="02020603050405020304" pitchFamily="18" charset="0"/>
                        </a:rPr>
                        <a:t>Distributed Denial of Service Attack Detection and Mitigation Strategy in 5G‑Enabled Internet of Things Networks</a:t>
                      </a:r>
                      <a:endParaRPr lang="en-GB" sz="1200" b="0" i="0" u="none" strike="noStrike" noProof="0" dirty="0">
                        <a:latin typeface="Times New Roman" panose="02020603050405020304" pitchFamily="18" charset="0"/>
                        <a:cs typeface="Times New Roman" panose="02020603050405020304" pitchFamily="18" charset="0"/>
                      </a:endParaRPr>
                    </a:p>
                  </a:txBody>
                  <a:tcPr/>
                </a:tc>
                <a:tc>
                  <a:txBody>
                    <a:bodyPr/>
                    <a:lstStyle/>
                    <a:p>
                      <a:pPr lvl="0">
                        <a:buNone/>
                      </a:pPr>
                      <a:r>
                        <a:rPr lang="en-IN" sz="1200" dirty="0">
                          <a:latin typeface="Times New Roman" panose="02020603050405020304" pitchFamily="18" charset="0"/>
                          <a:cs typeface="Times New Roman" panose="02020603050405020304" pitchFamily="18" charset="0"/>
                        </a:rPr>
                        <a:t>J. Suresh Babu, A. Padmapriya, R. Subramanian, P. Vijayakumar, Neeraj Kumar, M. Shamim Hossain</a:t>
                      </a:r>
                      <a:endParaRPr lang="en-US" sz="12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latin typeface="Times New Roman" panose="02020603050405020304" pitchFamily="18" charset="0"/>
                          <a:cs typeface="Times New Roman" panose="02020603050405020304" pitchFamily="18" charset="0"/>
                        </a:rPr>
                        <a:t>Publication</a:t>
                      </a:r>
                      <a:r>
                        <a:rPr lang="en-US" sz="1200" dirty="0">
                          <a:latin typeface="Times New Roman" panose="02020603050405020304" pitchFamily="18" charset="0"/>
                          <a:cs typeface="Times New Roman" panose="02020603050405020304" pitchFamily="18" charset="0"/>
                        </a:rPr>
                        <a:t>:</a:t>
                      </a:r>
                      <a:r>
                        <a:rPr lang="en-IN" sz="1200" dirty="0">
                          <a:latin typeface="Times New Roman" panose="02020603050405020304" pitchFamily="18" charset="0"/>
                          <a:cs typeface="Times New Roman" panose="02020603050405020304" pitchFamily="18" charset="0"/>
                        </a:rPr>
                        <a:t>Springer</a:t>
                      </a:r>
                      <a:br>
                        <a:rPr lang="en-US" sz="1200" dirty="0">
                          <a:latin typeface="Times New Roman" panose="02020603050405020304" pitchFamily="18" charset="0"/>
                          <a:cs typeface="Times New Roman" panose="02020603050405020304" pitchFamily="18" charset="0"/>
                        </a:rPr>
                      </a:br>
                      <a:r>
                        <a:rPr lang="en-US" sz="1200" b="1" dirty="0">
                          <a:latin typeface="Times New Roman" panose="02020603050405020304" pitchFamily="18" charset="0"/>
                          <a:cs typeface="Times New Roman" panose="02020603050405020304" pitchFamily="18" charset="0"/>
                        </a:rPr>
                        <a:t>Year</a:t>
                      </a:r>
                      <a:r>
                        <a:rPr lang="en-US" sz="1200" dirty="0">
                          <a:latin typeface="Times New Roman" panose="02020603050405020304" pitchFamily="18" charset="0"/>
                          <a:cs typeface="Times New Roman" panose="02020603050405020304" pitchFamily="18" charset="0"/>
                        </a:rPr>
                        <a:t>: 2024</a:t>
                      </a:r>
                      <a:endParaRPr lang="en-GB" sz="1200" b="0" i="0" u="none" strike="noStrike" noProof="0" dirty="0">
                        <a:latin typeface="Times New Roman" panose="02020603050405020304" pitchFamily="18" charset="0"/>
                        <a:cs typeface="Times New Roman" panose="02020603050405020304" pitchFamily="18" charset="0"/>
                      </a:endParaRPr>
                    </a:p>
                    <a:p>
                      <a:pPr lvl="0">
                        <a:buNone/>
                      </a:pPr>
                      <a:endParaRPr lang="en-GB" dirty="0"/>
                    </a:p>
                  </a:txBody>
                  <a:tcPr/>
                </a:tc>
                <a:tc>
                  <a:txBody>
                    <a:bodyPr/>
                    <a:lstStyle/>
                    <a:p>
                      <a:pPr marL="0" lvl="0" indent="0">
                        <a:buFont typeface="Arial"/>
                        <a:buNone/>
                      </a:pPr>
                      <a:r>
                        <a:rPr lang="en-US" sz="1200" dirty="0">
                          <a:latin typeface="Times New Roman" panose="02020603050405020304" pitchFamily="18" charset="0"/>
                          <a:cs typeface="Times New Roman" panose="02020603050405020304" pitchFamily="18" charset="0"/>
                        </a:rPr>
                        <a:t>Traditional methods lack real-time response for 5G-enabled IoT traffic.</a:t>
                      </a:r>
                      <a:endParaRPr lang="en-GB" sz="1200" b="0" i="0" u="none" strike="noStrike" noProof="0" dirty="0">
                        <a:latin typeface="Times New Roman" panose="02020603050405020304" pitchFamily="18" charset="0"/>
                        <a:cs typeface="Times New Roman" panose="02020603050405020304" pitchFamily="18" charset="0"/>
                      </a:endParaRPr>
                    </a:p>
                  </a:txBody>
                  <a:tcPr/>
                </a:tc>
                <a:tc>
                  <a:txBody>
                    <a:bodyPr/>
                    <a:lstStyle/>
                    <a:p>
                      <a:pPr marL="0" lvl="0" indent="0" algn="just">
                        <a:lnSpc>
                          <a:spcPct val="100000"/>
                        </a:lnSpc>
                        <a:spcBef>
                          <a:spcPts val="0"/>
                        </a:spcBef>
                        <a:spcAft>
                          <a:spcPts val="0"/>
                        </a:spcAft>
                        <a:buFont typeface="Arial"/>
                        <a:buNone/>
                      </a:pPr>
                      <a:r>
                        <a:rPr lang="en-US" sz="1200" dirty="0">
                          <a:latin typeface="Times New Roman" panose="02020603050405020304" pitchFamily="18" charset="0"/>
                          <a:cs typeface="Times New Roman" panose="02020603050405020304" pitchFamily="18" charset="0"/>
                        </a:rPr>
                        <a:t>A hybrid edge-SDN-ML framework is developed for real-time DDoS detection and mitigation in 5G-IoT networks.</a:t>
                      </a:r>
                      <a:endParaRPr lang="en-GB" sz="1200" b="0" dirty="0">
                        <a:latin typeface="Times New Roman" panose="02020603050405020304" pitchFamily="18" charset="0"/>
                        <a:cs typeface="Times New Roman" panose="02020603050405020304" pitchFamily="18" charset="0"/>
                      </a:endParaRPr>
                    </a:p>
                  </a:txBody>
                  <a:tcPr/>
                </a:tc>
                <a:tc>
                  <a:txBody>
                    <a:bodyPr/>
                    <a:lstStyle/>
                    <a:p>
                      <a:pPr marL="171450" lvl="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Improved detection accuracy and reduced false positives.</a:t>
                      </a:r>
                    </a:p>
                    <a:p>
                      <a:pPr marL="171450" lvl="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Scalable and adaptable in 5G-IoT settings.</a:t>
                      </a:r>
                      <a:endParaRPr lang="en-GB" sz="1200" b="0" i="0" u="none" strike="noStrike" noProof="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44016209"/>
                  </a:ext>
                </a:extLst>
              </a:tr>
              <a:tr h="1333454">
                <a:tc>
                  <a:txBody>
                    <a:bodyPr/>
                    <a:lstStyle/>
                    <a:p>
                      <a:pPr lvl="0" algn="just">
                        <a:buNone/>
                      </a:pPr>
                      <a:r>
                        <a:rPr lang="en-US" sz="1200" dirty="0">
                          <a:latin typeface="Times New Roman" panose="02020603050405020304" pitchFamily="18" charset="0"/>
                          <a:cs typeface="Times New Roman" panose="02020603050405020304" pitchFamily="18" charset="0"/>
                        </a:rPr>
                        <a:t>Blockchain-Based Cybersecurity Mechanism for Detecting and Mitigating DDoS Attacks in IoT Networks</a:t>
                      </a:r>
                      <a:endParaRPr lang="en-GB" sz="1200" b="0" i="0" u="none" strike="noStrike" noProof="0" dirty="0">
                        <a:latin typeface="Times New Roman" panose="02020603050405020304" pitchFamily="18" charset="0"/>
                        <a:cs typeface="Times New Roman" panose="02020603050405020304" pitchFamily="18" charset="0"/>
                      </a:endParaRPr>
                    </a:p>
                  </a:txBody>
                  <a:tcPr/>
                </a:tc>
                <a:tc>
                  <a:txBody>
                    <a:bodyPr/>
                    <a:lstStyle/>
                    <a:p>
                      <a:pPr lvl="0">
                        <a:buNone/>
                      </a:pPr>
                      <a:r>
                        <a:rPr lang="sv-SE" sz="1200" dirty="0">
                          <a:latin typeface="Times New Roman" panose="02020603050405020304" pitchFamily="18" charset="0"/>
                          <a:cs typeface="Times New Roman" panose="02020603050405020304" pitchFamily="18" charset="0"/>
                        </a:rPr>
                        <a:t>K. Kamalanaban, R. Murugan, P. Vijayakumar, N. Kumar, B. Ghosh, M. Alazab</a:t>
                      </a:r>
                      <a:endParaRPr lang="en-US" sz="12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latin typeface="Times New Roman" panose="02020603050405020304" pitchFamily="18" charset="0"/>
                          <a:cs typeface="Times New Roman" panose="02020603050405020304" pitchFamily="18" charset="0"/>
                        </a:rPr>
                        <a:t>Publication</a:t>
                      </a:r>
                      <a:r>
                        <a:rPr lang="en-US" sz="1200" dirty="0">
                          <a:latin typeface="Times New Roman" panose="02020603050405020304" pitchFamily="18" charset="0"/>
                          <a:cs typeface="Times New Roman" panose="02020603050405020304" pitchFamily="18" charset="0"/>
                        </a:rPr>
                        <a:t>:</a:t>
                      </a:r>
                      <a:r>
                        <a:rPr lang="en-IN" sz="1200" dirty="0">
                          <a:latin typeface="Times New Roman" panose="02020603050405020304" pitchFamily="18" charset="0"/>
                          <a:cs typeface="Times New Roman" panose="02020603050405020304" pitchFamily="18" charset="0"/>
                        </a:rPr>
                        <a:t>Elsevier</a:t>
                      </a:r>
                      <a:br>
                        <a:rPr lang="en-US" sz="1200" dirty="0">
                          <a:latin typeface="Times New Roman" panose="02020603050405020304" pitchFamily="18" charset="0"/>
                          <a:cs typeface="Times New Roman" panose="02020603050405020304" pitchFamily="18" charset="0"/>
                        </a:rPr>
                      </a:br>
                      <a:r>
                        <a:rPr lang="en-US" sz="1200" b="1" dirty="0">
                          <a:latin typeface="Times New Roman" panose="02020603050405020304" pitchFamily="18" charset="0"/>
                          <a:cs typeface="Times New Roman" panose="02020603050405020304" pitchFamily="18" charset="0"/>
                        </a:rPr>
                        <a:t>Year</a:t>
                      </a:r>
                      <a:r>
                        <a:rPr lang="en-US" sz="1200" dirty="0">
                          <a:latin typeface="Times New Roman" panose="02020603050405020304" pitchFamily="18" charset="0"/>
                          <a:cs typeface="Times New Roman" panose="02020603050405020304" pitchFamily="18" charset="0"/>
                        </a:rPr>
                        <a:t>: 2024</a:t>
                      </a:r>
                      <a:endParaRPr lang="en-GB" sz="1200" b="0" i="0" u="none" strike="noStrike" noProof="0" dirty="0">
                        <a:latin typeface="Times New Roman" panose="02020603050405020304" pitchFamily="18" charset="0"/>
                        <a:cs typeface="Times New Roman" panose="02020603050405020304" pitchFamily="18" charset="0"/>
                      </a:endParaRPr>
                    </a:p>
                    <a:p>
                      <a:pPr lvl="0">
                        <a:buNone/>
                      </a:pPr>
                      <a:endParaRPr lang="en-GB" dirty="0"/>
                    </a:p>
                  </a:txBody>
                  <a:tcPr/>
                </a:tc>
                <a:tc>
                  <a:txBody>
                    <a:bodyPr/>
                    <a:lstStyle/>
                    <a:p>
                      <a:pPr marL="0" lvl="0" indent="0">
                        <a:buFont typeface="Arial"/>
                        <a:buNone/>
                      </a:pPr>
                      <a:r>
                        <a:rPr lang="en-US" sz="1200" dirty="0">
                          <a:latin typeface="Times New Roman" panose="02020603050405020304" pitchFamily="18" charset="0"/>
                          <a:cs typeface="Times New Roman" panose="02020603050405020304" pitchFamily="18" charset="0"/>
                        </a:rPr>
                        <a:t>Existing DDoS detection methods are not efficient for dynamic and resource-constrained IoT environments.</a:t>
                      </a:r>
                      <a:endParaRPr lang="en-GB" sz="1200" b="0" i="0" u="none" strike="noStrike" noProof="0" dirty="0">
                        <a:latin typeface="Times New Roman" panose="02020603050405020304" pitchFamily="18" charset="0"/>
                        <a:cs typeface="Times New Roman" panose="02020603050405020304" pitchFamily="18" charset="0"/>
                      </a:endParaRPr>
                    </a:p>
                  </a:txBody>
                  <a:tcPr/>
                </a:tc>
                <a:tc>
                  <a:txBody>
                    <a:bodyPr/>
                    <a:lstStyle/>
                    <a:p>
                      <a:pPr marL="0" lvl="0" indent="0" algn="just">
                        <a:lnSpc>
                          <a:spcPct val="100000"/>
                        </a:lnSpc>
                        <a:spcBef>
                          <a:spcPts val="0"/>
                        </a:spcBef>
                        <a:spcAft>
                          <a:spcPts val="0"/>
                        </a:spcAft>
                        <a:buFont typeface="Arial"/>
                        <a:buNone/>
                      </a:pPr>
                      <a:r>
                        <a:rPr lang="en-US" sz="1200" dirty="0">
                          <a:latin typeface="Times New Roman" panose="02020603050405020304" pitchFamily="18" charset="0"/>
                          <a:cs typeface="Times New Roman" panose="02020603050405020304" pitchFamily="18" charset="0"/>
                        </a:rPr>
                        <a:t>Blockchain-based framework using federated learning and edge computing for collaborative DDoS detection in IoT.</a:t>
                      </a:r>
                      <a:endParaRPr lang="en-GB" sz="1200" b="0" dirty="0">
                        <a:latin typeface="Times New Roman" panose="02020603050405020304" pitchFamily="18" charset="0"/>
                        <a:cs typeface="Times New Roman" panose="02020603050405020304" pitchFamily="18" charset="0"/>
                      </a:endParaRPr>
                    </a:p>
                  </a:txBody>
                  <a:tcPr/>
                </a:tc>
                <a:tc>
                  <a:txBody>
                    <a:bodyPr/>
                    <a:lstStyle/>
                    <a:p>
                      <a:pPr marL="171450" lvl="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Improved DDoS detection accuracy and reduced false alarms.</a:t>
                      </a: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200" dirty="0">
                          <a:latin typeface="Times New Roman" panose="02020603050405020304" pitchFamily="18" charset="0"/>
                          <a:cs typeface="Times New Roman" panose="02020603050405020304" pitchFamily="18" charset="0"/>
                        </a:rPr>
                        <a:t>Demonstrated scalability and efficiency in simulated IoT environments.</a:t>
                      </a:r>
                    </a:p>
                    <a:p>
                      <a:pPr marL="0" lvl="0" indent="0">
                        <a:buFont typeface="Arial" panose="020B0604020202020204" pitchFamily="34" charset="0"/>
                        <a:buNone/>
                      </a:pPr>
                      <a:endParaRPr lang="en-GB" sz="1200" b="0" i="0" u="none" strike="noStrike" noProof="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67775079"/>
                  </a:ext>
                </a:extLst>
              </a:tr>
            </a:tbl>
          </a:graphicData>
        </a:graphic>
      </p:graphicFrame>
    </p:spTree>
    <p:extLst>
      <p:ext uri="{BB962C8B-B14F-4D97-AF65-F5344CB8AC3E}">
        <p14:creationId xmlns:p14="http://schemas.microsoft.com/office/powerpoint/2010/main" val="5824554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11D25-1558-6A2D-9A3A-435B682B5831}"/>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1BB9F1EF-C8AD-258E-810F-0793C3462C5E}"/>
              </a:ext>
            </a:extLst>
          </p:cNvPr>
          <p:cNvGraphicFramePr>
            <a:graphicFrameLocks noGrp="1"/>
          </p:cNvGraphicFramePr>
          <p:nvPr/>
        </p:nvGraphicFramePr>
        <p:xfrm>
          <a:off x="142874" y="1514476"/>
          <a:ext cx="11820528" cy="4303818"/>
        </p:xfrm>
        <a:graphic>
          <a:graphicData uri="http://schemas.openxmlformats.org/drawingml/2006/table">
            <a:tbl>
              <a:tblPr firstRow="1" bandRow="1">
                <a:tableStyleId>{5940675A-B579-460E-94D1-54222C63F5DA}</a:tableStyleId>
              </a:tblPr>
              <a:tblGrid>
                <a:gridCol w="1970088">
                  <a:extLst>
                    <a:ext uri="{9D8B030D-6E8A-4147-A177-3AD203B41FA5}">
                      <a16:colId xmlns:a16="http://schemas.microsoft.com/office/drawing/2014/main" val="2292645265"/>
                    </a:ext>
                  </a:extLst>
                </a:gridCol>
                <a:gridCol w="1970088">
                  <a:extLst>
                    <a:ext uri="{9D8B030D-6E8A-4147-A177-3AD203B41FA5}">
                      <a16:colId xmlns:a16="http://schemas.microsoft.com/office/drawing/2014/main" val="846223099"/>
                    </a:ext>
                  </a:extLst>
                </a:gridCol>
                <a:gridCol w="1970088">
                  <a:extLst>
                    <a:ext uri="{9D8B030D-6E8A-4147-A177-3AD203B41FA5}">
                      <a16:colId xmlns:a16="http://schemas.microsoft.com/office/drawing/2014/main" val="719000492"/>
                    </a:ext>
                  </a:extLst>
                </a:gridCol>
                <a:gridCol w="1970088">
                  <a:extLst>
                    <a:ext uri="{9D8B030D-6E8A-4147-A177-3AD203B41FA5}">
                      <a16:colId xmlns:a16="http://schemas.microsoft.com/office/drawing/2014/main" val="1257845919"/>
                    </a:ext>
                  </a:extLst>
                </a:gridCol>
                <a:gridCol w="1970088">
                  <a:extLst>
                    <a:ext uri="{9D8B030D-6E8A-4147-A177-3AD203B41FA5}">
                      <a16:colId xmlns:a16="http://schemas.microsoft.com/office/drawing/2014/main" val="3617162021"/>
                    </a:ext>
                  </a:extLst>
                </a:gridCol>
                <a:gridCol w="1970088">
                  <a:extLst>
                    <a:ext uri="{9D8B030D-6E8A-4147-A177-3AD203B41FA5}">
                      <a16:colId xmlns:a16="http://schemas.microsoft.com/office/drawing/2014/main" val="4036149471"/>
                    </a:ext>
                  </a:extLst>
                </a:gridCol>
              </a:tblGrid>
              <a:tr h="296756">
                <a:tc>
                  <a:txBody>
                    <a:bodyPr/>
                    <a:lstStyle/>
                    <a:p>
                      <a:pPr lvl="0">
                        <a:buNone/>
                      </a:pPr>
                      <a:r>
                        <a:rPr lang="en-GB" dirty="0">
                          <a:solidFill>
                            <a:srgbClr val="FF0000"/>
                          </a:solidFill>
                          <a:latin typeface="Times New Roman" panose="02020603050405020304" pitchFamily="18" charset="0"/>
                          <a:cs typeface="Times New Roman" panose="02020603050405020304" pitchFamily="18" charset="0"/>
                        </a:rPr>
                        <a:t>Title</a:t>
                      </a:r>
                      <a:endParaRPr lang="en-US">
                        <a:latin typeface="Times New Roman" panose="02020603050405020304" pitchFamily="18" charset="0"/>
                        <a:cs typeface="Times New Roman" panose="02020603050405020304" pitchFamily="18" charset="0"/>
                      </a:endParaRPr>
                    </a:p>
                  </a:txBody>
                  <a:tcPr/>
                </a:tc>
                <a:tc>
                  <a:txBody>
                    <a:bodyPr/>
                    <a:lstStyle/>
                    <a:p>
                      <a:r>
                        <a:rPr lang="en-GB" dirty="0">
                          <a:latin typeface="Times New Roman" panose="02020603050405020304" pitchFamily="18" charset="0"/>
                          <a:cs typeface="Times New Roman" panose="02020603050405020304" pitchFamily="18" charset="0"/>
                        </a:rPr>
                        <a:t>Authors</a:t>
                      </a:r>
                      <a:endParaRPr lang="en-US">
                        <a:latin typeface="Times New Roman" panose="02020603050405020304" pitchFamily="18" charset="0"/>
                        <a:cs typeface="Times New Roman" panose="02020603050405020304" pitchFamily="18" charset="0"/>
                      </a:endParaRPr>
                    </a:p>
                  </a:txBody>
                  <a:tcPr/>
                </a:tc>
                <a:tc>
                  <a:txBody>
                    <a:bodyPr/>
                    <a:lstStyle/>
                    <a:p>
                      <a:r>
                        <a:rPr lang="en-GB" dirty="0">
                          <a:latin typeface="Times New Roman" panose="02020603050405020304" pitchFamily="18" charset="0"/>
                          <a:cs typeface="Times New Roman" panose="02020603050405020304" pitchFamily="18" charset="0"/>
                        </a:rPr>
                        <a:t>Publication details </a:t>
                      </a:r>
                      <a:endParaRPr lang="en-US">
                        <a:latin typeface="Times New Roman" panose="02020603050405020304" pitchFamily="18" charset="0"/>
                        <a:cs typeface="Times New Roman" panose="02020603050405020304" pitchFamily="18" charset="0"/>
                      </a:endParaRPr>
                    </a:p>
                  </a:txBody>
                  <a:tcPr/>
                </a:tc>
                <a:tc>
                  <a:txBody>
                    <a:bodyPr/>
                    <a:lstStyle/>
                    <a:p>
                      <a:r>
                        <a:rPr lang="en-GB" dirty="0">
                          <a:latin typeface="Times New Roman" panose="02020603050405020304" pitchFamily="18" charset="0"/>
                          <a:cs typeface="Times New Roman" panose="02020603050405020304" pitchFamily="18" charset="0"/>
                        </a:rPr>
                        <a:t>Gaps  identified</a:t>
                      </a:r>
                    </a:p>
                  </a:txBody>
                  <a:tcPr/>
                </a:tc>
                <a:tc>
                  <a:txBody>
                    <a:bodyPr/>
                    <a:lstStyle/>
                    <a:p>
                      <a:r>
                        <a:rPr lang="en-GB" dirty="0">
                          <a:latin typeface="Times New Roman" panose="02020603050405020304" pitchFamily="18" charset="0"/>
                          <a:cs typeface="Times New Roman" panose="02020603050405020304" pitchFamily="18" charset="0"/>
                        </a:rPr>
                        <a:t>Methodology used</a:t>
                      </a:r>
                      <a:endParaRPr lang="en-US">
                        <a:latin typeface="Times New Roman" panose="02020603050405020304" pitchFamily="18" charset="0"/>
                        <a:cs typeface="Times New Roman" panose="02020603050405020304" pitchFamily="18" charset="0"/>
                      </a:endParaRPr>
                    </a:p>
                  </a:txBody>
                  <a:tcPr/>
                </a:tc>
                <a:tc>
                  <a:txBody>
                    <a:bodyPr/>
                    <a:lstStyle/>
                    <a:p>
                      <a:r>
                        <a:rPr lang="en-GB" dirty="0">
                          <a:latin typeface="Times New Roman" panose="02020603050405020304" pitchFamily="18" charset="0"/>
                          <a:cs typeface="Times New Roman" panose="02020603050405020304" pitchFamily="18" charset="0"/>
                        </a:rPr>
                        <a:t>Results</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13818929"/>
                  </a:ext>
                </a:extLst>
              </a:tr>
              <a:tr h="1595294">
                <a:tc>
                  <a:txBody>
                    <a:bodyPr/>
                    <a:lstStyle/>
                    <a:p>
                      <a:pPr lvl="0" algn="just">
                        <a:lnSpc>
                          <a:spcPct val="100000"/>
                        </a:lnSpc>
                        <a:spcBef>
                          <a:spcPts val="0"/>
                        </a:spcBef>
                        <a:spcAft>
                          <a:spcPts val="0"/>
                        </a:spcAft>
                        <a:buNone/>
                      </a:pPr>
                      <a:r>
                        <a:rPr lang="en-GB" sz="1200" b="0" i="0" u="none" strike="noStrike" noProof="0" dirty="0">
                          <a:latin typeface="Times New Roman" panose="02020603050405020304" pitchFamily="18" charset="0"/>
                          <a:cs typeface="Times New Roman" panose="02020603050405020304" pitchFamily="18" charset="0"/>
                        </a:rPr>
                        <a:t>Machine Learning in IoT Security: Current Solutions and Future Challenges</a:t>
                      </a:r>
                      <a:endParaRPr lang="en-US" b="0" u="none">
                        <a:latin typeface="Times New Roman" panose="02020603050405020304" pitchFamily="18" charset="0"/>
                        <a:cs typeface="Times New Roman" panose="02020603050405020304" pitchFamily="18" charset="0"/>
                      </a:endParaRPr>
                    </a:p>
                    <a:p>
                      <a:pPr lvl="0" algn="just">
                        <a:buNone/>
                      </a:pPr>
                      <a:endParaRPr lang="en-GB" sz="1200" b="0" i="0" u="none" strike="noStrike" noProof="0" dirty="0">
                        <a:latin typeface="Times New Roman" panose="02020603050405020304" pitchFamily="18" charset="0"/>
                        <a:cs typeface="Times New Roman" panose="02020603050405020304" pitchFamily="18" charset="0"/>
                      </a:endParaRPr>
                    </a:p>
                  </a:txBody>
                  <a:tcPr/>
                </a:tc>
                <a:tc>
                  <a:txBody>
                    <a:bodyPr/>
                    <a:lstStyle/>
                    <a:p>
                      <a:pPr lvl="0" algn="just">
                        <a:buNone/>
                      </a:pPr>
                      <a:r>
                        <a:rPr lang="en-GB" sz="1200" b="0" i="0" u="none" strike="noStrike" noProof="0" dirty="0">
                          <a:latin typeface="Times New Roman" panose="02020603050405020304" pitchFamily="18" charset="0"/>
                          <a:cs typeface="Times New Roman" panose="02020603050405020304" pitchFamily="18" charset="0"/>
                        </a:rPr>
                        <a:t>Fatima Hussain, Rasheed Hussain, Syed Ali Hassan, Ekram Hossain</a:t>
                      </a:r>
                      <a:endParaRPr lang="en-US" dirty="0">
                        <a:latin typeface="Times New Roman" panose="02020603050405020304" pitchFamily="18" charset="0"/>
                        <a:cs typeface="Times New Roman" panose="02020603050405020304" pitchFamily="18" charset="0"/>
                      </a:endParaRPr>
                    </a:p>
                  </a:txBody>
                  <a:tcPr/>
                </a:tc>
                <a:tc>
                  <a:txBody>
                    <a:bodyPr/>
                    <a:lstStyle/>
                    <a:p>
                      <a:pPr marL="171450" lvl="0" indent="-171450">
                        <a:buFont typeface="Arial"/>
                        <a:buChar char="•"/>
                      </a:pPr>
                      <a:r>
                        <a:rPr lang="en-GB" sz="1200" b="0" i="0" u="none" strike="noStrike" noProof="0" err="1">
                          <a:latin typeface="Times New Roman" panose="02020603050405020304" pitchFamily="18" charset="0"/>
                          <a:cs typeface="Times New Roman" panose="02020603050405020304" pitchFamily="18" charset="0"/>
                        </a:rPr>
                        <a:t>ArXiv</a:t>
                      </a:r>
                      <a:endParaRPr lang="en-US">
                        <a:latin typeface="Times New Roman" panose="02020603050405020304" pitchFamily="18" charset="0"/>
                        <a:cs typeface="Times New Roman" panose="02020603050405020304" pitchFamily="18" charset="0"/>
                      </a:endParaRPr>
                    </a:p>
                    <a:p>
                      <a:pPr marL="171450" lvl="0" indent="-171450">
                        <a:buFont typeface="Arial"/>
                        <a:buChar char="•"/>
                      </a:pPr>
                      <a:r>
                        <a:rPr lang="en-GB" sz="1200" b="1" i="0" u="none" strike="noStrike" noProof="0" dirty="0">
                          <a:solidFill>
                            <a:srgbClr val="000000"/>
                          </a:solidFill>
                          <a:latin typeface="Times New Roman" panose="02020603050405020304" pitchFamily="18" charset="0"/>
                          <a:cs typeface="Times New Roman" panose="02020603050405020304" pitchFamily="18" charset="0"/>
                        </a:rPr>
                        <a:t>Date of Publication: </a:t>
                      </a:r>
                      <a:r>
                        <a:rPr lang="en-GB" sz="1200" b="0" i="0" u="none" strike="noStrike" noProof="0" dirty="0">
                          <a:solidFill>
                            <a:srgbClr val="000000"/>
                          </a:solidFill>
                          <a:latin typeface="Times New Roman" panose="02020603050405020304" pitchFamily="18" charset="0"/>
                          <a:cs typeface="Times New Roman" panose="02020603050405020304" pitchFamily="18" charset="0"/>
                        </a:rPr>
                        <a:t>April 11, 2019</a:t>
                      </a:r>
                      <a:endParaRPr lang="en-GB" sz="1200" b="0" i="0" u="none" strike="noStrike" noProof="0" dirty="0">
                        <a:latin typeface="Times New Roman" panose="02020603050405020304" pitchFamily="18" charset="0"/>
                        <a:cs typeface="Times New Roman" panose="02020603050405020304" pitchFamily="18" charset="0"/>
                      </a:endParaRPr>
                    </a:p>
                  </a:txBody>
                  <a:tcPr/>
                </a:tc>
                <a:tc>
                  <a:txBody>
                    <a:bodyPr/>
                    <a:lstStyle/>
                    <a:p>
                      <a:pPr marL="171450" lvl="0" indent="-171450" algn="l">
                        <a:buFont typeface="Arial"/>
                        <a:buChar char="•"/>
                      </a:pPr>
                      <a:r>
                        <a:rPr lang="en-GB" sz="1200" b="0" i="0" u="none" strike="noStrike" noProof="0" dirty="0">
                          <a:latin typeface="Times New Roman" panose="02020603050405020304" pitchFamily="18" charset="0"/>
                          <a:cs typeface="Times New Roman" panose="02020603050405020304" pitchFamily="18" charset="0"/>
                        </a:rPr>
                        <a:t>Traditional cryptographic methods don’t scale for IoT's size and complexity.</a:t>
                      </a:r>
                      <a:endParaRPr lang="en-US" dirty="0">
                        <a:latin typeface="Times New Roman" panose="02020603050405020304" pitchFamily="18" charset="0"/>
                        <a:cs typeface="Times New Roman" panose="02020603050405020304" pitchFamily="18" charset="0"/>
                      </a:endParaRPr>
                    </a:p>
                    <a:p>
                      <a:pPr marL="171450" lvl="0" indent="-171450" algn="l">
                        <a:buFont typeface="Arial"/>
                        <a:buChar char="•"/>
                      </a:pPr>
                      <a:r>
                        <a:rPr lang="en-GB" sz="1200" b="0" i="0" u="none" strike="noStrike" noProof="0" dirty="0">
                          <a:latin typeface="Times New Roman" panose="02020603050405020304" pitchFamily="18" charset="0"/>
                          <a:cs typeface="Times New Roman" panose="02020603050405020304" pitchFamily="18" charset="0"/>
                        </a:rPr>
                        <a:t> Surveys lack coverage of ML/DL for IoT security holistically.</a:t>
                      </a:r>
                    </a:p>
                  </a:txBody>
                  <a:tcPr/>
                </a:tc>
                <a:tc>
                  <a:txBody>
                    <a:bodyPr/>
                    <a:lstStyle/>
                    <a:p>
                      <a:pPr marL="171450" lvl="0" indent="-171450" algn="l">
                        <a:lnSpc>
                          <a:spcPct val="100000"/>
                        </a:lnSpc>
                        <a:spcBef>
                          <a:spcPts val="0"/>
                        </a:spcBef>
                        <a:spcAft>
                          <a:spcPts val="0"/>
                        </a:spcAft>
                        <a:buFont typeface="Arial"/>
                        <a:buChar char="•"/>
                      </a:pPr>
                      <a:r>
                        <a:rPr lang="en-GB" sz="1200" b="0" i="0" u="none" strike="noStrike" noProof="0" dirty="0">
                          <a:latin typeface="Times New Roman" panose="02020603050405020304" pitchFamily="18" charset="0"/>
                          <a:cs typeface="Times New Roman" panose="02020603050405020304" pitchFamily="18" charset="0"/>
                        </a:rPr>
                        <a:t>Explains DL models like CNN, RNN, LSTM, GAN, and DBN for IoT.</a:t>
                      </a:r>
                      <a:endParaRPr lang="en-US" dirty="0">
                        <a:latin typeface="Times New Roman" panose="02020603050405020304" pitchFamily="18" charset="0"/>
                        <a:cs typeface="Times New Roman" panose="02020603050405020304" pitchFamily="18" charset="0"/>
                      </a:endParaRPr>
                    </a:p>
                    <a:p>
                      <a:pPr marL="171450" lvl="0" indent="-171450" algn="l">
                        <a:lnSpc>
                          <a:spcPct val="100000"/>
                        </a:lnSpc>
                        <a:spcBef>
                          <a:spcPts val="0"/>
                        </a:spcBef>
                        <a:spcAft>
                          <a:spcPts val="0"/>
                        </a:spcAft>
                        <a:buFont typeface="Arial"/>
                        <a:buChar char="•"/>
                      </a:pPr>
                      <a:r>
                        <a:rPr lang="en-GB" sz="1200" b="0" i="0" u="none" strike="noStrike" noProof="0" dirty="0">
                          <a:latin typeface="Times New Roman" panose="02020603050405020304" pitchFamily="18" charset="0"/>
                          <a:cs typeface="Times New Roman" panose="02020603050405020304" pitchFamily="18" charset="0"/>
                        </a:rPr>
                        <a:t> Maps ML/DL to security tasks like intrusion, malware, DDoS, and auth.</a:t>
                      </a:r>
                    </a:p>
                    <a:p>
                      <a:pPr lvl="0">
                        <a:buNone/>
                      </a:pPr>
                      <a:endParaRPr lang="en-GB" dirty="0">
                        <a:latin typeface="Times New Roman" panose="02020603050405020304" pitchFamily="18" charset="0"/>
                        <a:cs typeface="Times New Roman" panose="02020603050405020304" pitchFamily="18" charset="0"/>
                      </a:endParaRPr>
                    </a:p>
                  </a:txBody>
                  <a:tcPr/>
                </a:tc>
                <a:tc>
                  <a:txBody>
                    <a:bodyPr/>
                    <a:lstStyle/>
                    <a:p>
                      <a:pPr marL="171450" lvl="0" indent="-171450">
                        <a:buFont typeface="Arial"/>
                        <a:buChar char="•"/>
                      </a:pPr>
                      <a:r>
                        <a:rPr lang="en-GB" sz="1200" b="0" i="0" u="none" strike="noStrike" noProof="0" dirty="0">
                          <a:latin typeface="Times New Roman" panose="02020603050405020304" pitchFamily="18" charset="0"/>
                          <a:cs typeface="Times New Roman" panose="02020603050405020304" pitchFamily="18" charset="0"/>
                        </a:rPr>
                        <a:t>ML/DL models enable smart anomaly detection, classification, and forecasting.</a:t>
                      </a:r>
                      <a:endParaRPr lang="en-US" dirty="0">
                        <a:latin typeface="Times New Roman" panose="02020603050405020304" pitchFamily="18" charset="0"/>
                        <a:cs typeface="Times New Roman" panose="02020603050405020304" pitchFamily="18" charset="0"/>
                      </a:endParaRPr>
                    </a:p>
                    <a:p>
                      <a:pPr marL="171450" lvl="0" indent="-171450">
                        <a:buFont typeface="Arial"/>
                        <a:buChar char="•"/>
                      </a:pPr>
                      <a:r>
                        <a:rPr lang="en-GB" sz="1200" b="0" i="0" u="none" strike="noStrike" noProof="0" dirty="0">
                          <a:latin typeface="Times New Roman" panose="02020603050405020304" pitchFamily="18" charset="0"/>
                          <a:cs typeface="Times New Roman" panose="02020603050405020304" pitchFamily="18" charset="0"/>
                        </a:rPr>
                        <a:t>SVM, RF, CNN, and autoencoders are widely effective in threat detection.</a:t>
                      </a:r>
                    </a:p>
                  </a:txBody>
                  <a:tcPr/>
                </a:tc>
                <a:extLst>
                  <a:ext uri="{0D108BD9-81ED-4DB2-BD59-A6C34878D82A}">
                    <a16:rowId xmlns:a16="http://schemas.microsoft.com/office/drawing/2014/main" val="3274601183"/>
                  </a:ext>
                </a:extLst>
              </a:tr>
              <a:tr h="2403724">
                <a:tc>
                  <a:txBody>
                    <a:bodyPr/>
                    <a:lstStyle/>
                    <a:p>
                      <a:pPr lvl="0" algn="l">
                        <a:lnSpc>
                          <a:spcPct val="100000"/>
                        </a:lnSpc>
                        <a:spcBef>
                          <a:spcPts val="0"/>
                        </a:spcBef>
                        <a:spcAft>
                          <a:spcPts val="0"/>
                        </a:spcAft>
                        <a:buNone/>
                      </a:pPr>
                      <a:r>
                        <a:rPr lang="en-GB" sz="1200" b="0" i="0" u="none" strike="noStrike" noProof="0" dirty="0">
                          <a:latin typeface="Times New Roman" panose="02020603050405020304" pitchFamily="18" charset="0"/>
                          <a:cs typeface="Times New Roman" panose="02020603050405020304" pitchFamily="18" charset="0"/>
                        </a:rPr>
                        <a:t>IoT Security: Botnet Detection in IoT using Machine Learning</a:t>
                      </a:r>
                      <a:endParaRPr lang="en-US" b="0" dirty="0">
                        <a:latin typeface="Times New Roman" panose="02020603050405020304" pitchFamily="18" charset="0"/>
                        <a:cs typeface="Times New Roman" panose="02020603050405020304" pitchFamily="18" charset="0"/>
                      </a:endParaRPr>
                    </a:p>
                    <a:p>
                      <a:pPr lvl="0">
                        <a:buNone/>
                      </a:pPr>
                      <a:endParaRPr lang="en-GB" sz="1200" b="0" i="0" u="none" strike="noStrike" noProof="0" dirty="0">
                        <a:latin typeface="Times New Roman" panose="02020603050405020304" pitchFamily="18" charset="0"/>
                        <a:cs typeface="Times New Roman" panose="02020603050405020304" pitchFamily="18" charset="0"/>
                      </a:endParaRPr>
                    </a:p>
                  </a:txBody>
                  <a:tcPr/>
                </a:tc>
                <a:tc>
                  <a:txBody>
                    <a:bodyPr/>
                    <a:lstStyle/>
                    <a:p>
                      <a:pPr lvl="0">
                        <a:buNone/>
                      </a:pPr>
                      <a:r>
                        <a:rPr lang="en-GB" sz="1200" b="0" i="0" u="none" strike="noStrike" noProof="0" dirty="0">
                          <a:latin typeface="Times New Roman" panose="02020603050405020304" pitchFamily="18" charset="0"/>
                          <a:cs typeface="Times New Roman" panose="02020603050405020304" pitchFamily="18" charset="0"/>
                        </a:rPr>
                        <a:t>Satish Pokhrel, Robert Abbas, </a:t>
                      </a:r>
                      <a:r>
                        <a:rPr lang="en-GB" sz="1200" b="0" i="0" u="none" strike="noStrike" noProof="0" dirty="0" err="1">
                          <a:latin typeface="Times New Roman" panose="02020603050405020304" pitchFamily="18" charset="0"/>
                          <a:cs typeface="Times New Roman" panose="02020603050405020304" pitchFamily="18" charset="0"/>
                        </a:rPr>
                        <a:t>Bhulok</a:t>
                      </a:r>
                      <a:r>
                        <a:rPr lang="en-GB" sz="1200" b="0" i="0" u="none" strike="noStrike" noProof="0" dirty="0">
                          <a:latin typeface="Times New Roman" panose="02020603050405020304" pitchFamily="18" charset="0"/>
                          <a:cs typeface="Times New Roman" panose="02020603050405020304" pitchFamily="18" charset="0"/>
                        </a:rPr>
                        <a:t> Aryal</a:t>
                      </a:r>
                      <a:endParaRPr lang="en-US" dirty="0">
                        <a:latin typeface="Times New Roman" panose="02020603050405020304" pitchFamily="18" charset="0"/>
                        <a:cs typeface="Times New Roman" panose="02020603050405020304" pitchFamily="18" charset="0"/>
                      </a:endParaRPr>
                    </a:p>
                  </a:txBody>
                  <a:tcPr/>
                </a:tc>
                <a:tc>
                  <a:txBody>
                    <a:bodyPr/>
                    <a:lstStyle/>
                    <a:p>
                      <a:pPr marL="285750" lvl="0" indent="-285750" algn="l">
                        <a:lnSpc>
                          <a:spcPct val="100000"/>
                        </a:lnSpc>
                        <a:spcBef>
                          <a:spcPts val="0"/>
                        </a:spcBef>
                        <a:spcAft>
                          <a:spcPts val="0"/>
                        </a:spcAft>
                        <a:buFont typeface="Arial"/>
                        <a:buChar char="•"/>
                      </a:pPr>
                      <a:r>
                        <a:rPr lang="en-GB" sz="1200" b="0" i="0" u="none" strike="noStrike" noProof="0" dirty="0" err="1">
                          <a:solidFill>
                            <a:srgbClr val="000000"/>
                          </a:solidFill>
                          <a:latin typeface="Times New Roman" panose="02020603050405020304" pitchFamily="18" charset="0"/>
                          <a:cs typeface="Times New Roman" panose="02020603050405020304" pitchFamily="18" charset="0"/>
                        </a:rPr>
                        <a:t>ArXiv</a:t>
                      </a:r>
                      <a:endParaRPr lang="en-GB" sz="1200" b="0" i="0" u="none" strike="noStrike" noProof="0" dirty="0" err="1">
                        <a:latin typeface="Times New Roman" panose="02020603050405020304" pitchFamily="18" charset="0"/>
                        <a:cs typeface="Times New Roman" panose="02020603050405020304" pitchFamily="18" charset="0"/>
                      </a:endParaRPr>
                    </a:p>
                    <a:p>
                      <a:pPr marL="285750" lvl="0" indent="-285750" algn="l">
                        <a:lnSpc>
                          <a:spcPct val="100000"/>
                        </a:lnSpc>
                        <a:spcBef>
                          <a:spcPts val="0"/>
                        </a:spcBef>
                        <a:spcAft>
                          <a:spcPts val="0"/>
                        </a:spcAft>
                        <a:buFont typeface="Arial"/>
                        <a:buChar char="•"/>
                      </a:pPr>
                      <a:r>
                        <a:rPr lang="en-GB" sz="1200" b="1" i="0" u="none" strike="noStrike" noProof="0" dirty="0">
                          <a:latin typeface="Times New Roman" panose="02020603050405020304" pitchFamily="18" charset="0"/>
                          <a:cs typeface="Times New Roman" panose="02020603050405020304" pitchFamily="18" charset="0"/>
                        </a:rPr>
                        <a:t>Date of Publication:</a:t>
                      </a:r>
                      <a:r>
                        <a:rPr lang="en-GB" sz="1200" b="0" i="0" u="none" strike="noStrike" noProof="0" dirty="0">
                          <a:latin typeface="Times New Roman" panose="02020603050405020304" pitchFamily="18" charset="0"/>
                          <a:cs typeface="Times New Roman" panose="02020603050405020304" pitchFamily="18" charset="0"/>
                        </a:rPr>
                        <a:t> April 6, 2021</a:t>
                      </a:r>
                      <a:endParaRPr lang="en-GB" sz="1200" dirty="0">
                        <a:latin typeface="Times New Roman" panose="02020603050405020304" pitchFamily="18" charset="0"/>
                        <a:cs typeface="Times New Roman" panose="02020603050405020304" pitchFamily="18" charset="0"/>
                      </a:endParaRPr>
                    </a:p>
                    <a:p>
                      <a:pPr lvl="0">
                        <a:buNone/>
                      </a:pPr>
                      <a:endParaRPr lang="en-GB" dirty="0">
                        <a:latin typeface="Times New Roman" panose="02020603050405020304" pitchFamily="18" charset="0"/>
                        <a:cs typeface="Times New Roman" panose="02020603050405020304" pitchFamily="18" charset="0"/>
                      </a:endParaRPr>
                    </a:p>
                  </a:txBody>
                  <a:tcPr/>
                </a:tc>
                <a:tc>
                  <a:txBody>
                    <a:bodyPr/>
                    <a:lstStyle/>
                    <a:p>
                      <a:pPr marL="0" lvl="0" indent="0" algn="l">
                        <a:lnSpc>
                          <a:spcPct val="100000"/>
                        </a:lnSpc>
                        <a:spcBef>
                          <a:spcPts val="0"/>
                        </a:spcBef>
                        <a:spcAft>
                          <a:spcPts val="0"/>
                        </a:spcAft>
                        <a:buFont typeface="Arial"/>
                        <a:buChar char="•"/>
                      </a:pPr>
                      <a:r>
                        <a:rPr lang="en-GB" sz="1200" b="0" i="0" u="none" strike="noStrike" noProof="0" dirty="0">
                          <a:latin typeface="Times New Roman" panose="02020603050405020304" pitchFamily="18" charset="0"/>
                          <a:cs typeface="Times New Roman" panose="02020603050405020304" pitchFamily="18" charset="0"/>
                        </a:rPr>
                        <a:t> Most studies use imbalanced datasets, leading to misleading accuracy.</a:t>
                      </a:r>
                    </a:p>
                    <a:p>
                      <a:pPr marL="0" lvl="0" indent="0" algn="l">
                        <a:lnSpc>
                          <a:spcPct val="100000"/>
                        </a:lnSpc>
                        <a:spcBef>
                          <a:spcPts val="0"/>
                        </a:spcBef>
                        <a:spcAft>
                          <a:spcPts val="0"/>
                        </a:spcAft>
                        <a:buFont typeface="Arial"/>
                        <a:buChar char="•"/>
                      </a:pPr>
                      <a:r>
                        <a:rPr lang="en-GB" sz="1200" b="0" i="0" u="none" strike="noStrike" noProof="0" dirty="0">
                          <a:latin typeface="Times New Roman" panose="02020603050405020304" pitchFamily="18" charset="0"/>
                          <a:cs typeface="Times New Roman" panose="02020603050405020304" pitchFamily="18" charset="0"/>
                        </a:rPr>
                        <a:t> Feature engineering is often ignored, causing overfitting and high computational cost.</a:t>
                      </a:r>
                      <a:endParaRPr lang="en-GB" sz="1200" dirty="0">
                        <a:latin typeface="Times New Roman" panose="02020603050405020304" pitchFamily="18" charset="0"/>
                        <a:cs typeface="Times New Roman" panose="02020603050405020304" pitchFamily="18" charset="0"/>
                      </a:endParaRPr>
                    </a:p>
                    <a:p>
                      <a:pPr marL="0" lvl="0" indent="0" algn="l">
                        <a:lnSpc>
                          <a:spcPct val="100000"/>
                        </a:lnSpc>
                        <a:spcBef>
                          <a:spcPts val="0"/>
                        </a:spcBef>
                        <a:spcAft>
                          <a:spcPts val="0"/>
                        </a:spcAft>
                        <a:buFont typeface="Arial"/>
                        <a:buChar char="•"/>
                      </a:pPr>
                      <a:r>
                        <a:rPr lang="en-GB" sz="1200" b="0" i="0" u="none" strike="noStrike" noProof="0" dirty="0">
                          <a:latin typeface="Times New Roman" panose="02020603050405020304" pitchFamily="18" charset="0"/>
                          <a:cs typeface="Times New Roman" panose="02020603050405020304" pitchFamily="18" charset="0"/>
                        </a:rPr>
                        <a:t> Many models do not validate generalizability using proper cross-validation.</a:t>
                      </a:r>
                      <a:endParaRPr lang="en-GB" dirty="0">
                        <a:latin typeface="Times New Roman" panose="02020603050405020304" pitchFamily="18" charset="0"/>
                        <a:cs typeface="Times New Roman" panose="02020603050405020304" pitchFamily="18" charset="0"/>
                      </a:endParaRPr>
                    </a:p>
                    <a:p>
                      <a:pPr marL="171450" lvl="0" indent="-171450">
                        <a:buFont typeface="Arial"/>
                        <a:buChar char="•"/>
                      </a:pPr>
                      <a:endParaRPr lang="en-GB" sz="1200" b="0" i="0" u="none" strike="noStrike" noProof="0" dirty="0">
                        <a:latin typeface="Times New Roman" panose="02020603050405020304" pitchFamily="18" charset="0"/>
                        <a:cs typeface="Times New Roman" panose="02020603050405020304" pitchFamily="18" charset="0"/>
                      </a:endParaRPr>
                    </a:p>
                  </a:txBody>
                  <a:tcPr/>
                </a:tc>
                <a:tc>
                  <a:txBody>
                    <a:bodyPr/>
                    <a:lstStyle/>
                    <a:p>
                      <a:pPr marL="0" lvl="0" indent="0" algn="l">
                        <a:lnSpc>
                          <a:spcPct val="100000"/>
                        </a:lnSpc>
                        <a:spcBef>
                          <a:spcPts val="0"/>
                        </a:spcBef>
                        <a:spcAft>
                          <a:spcPts val="0"/>
                        </a:spcAft>
                        <a:buFont typeface="Arial"/>
                        <a:buChar char="•"/>
                      </a:pPr>
                      <a:r>
                        <a:rPr lang="en-GB" sz="1200" b="0" i="0" u="none" strike="noStrike" noProof="0" dirty="0">
                          <a:latin typeface="Times New Roman" panose="02020603050405020304" pitchFamily="18" charset="0"/>
                          <a:cs typeface="Times New Roman" panose="02020603050405020304" pitchFamily="18" charset="0"/>
                        </a:rPr>
                        <a:t> Preprocessing included: data cleansing, min-max normalization, and transformation of categorical features.</a:t>
                      </a:r>
                    </a:p>
                    <a:p>
                      <a:pPr marL="0" lvl="0" indent="0" algn="l">
                        <a:lnSpc>
                          <a:spcPct val="100000"/>
                        </a:lnSpc>
                        <a:spcBef>
                          <a:spcPts val="0"/>
                        </a:spcBef>
                        <a:spcAft>
                          <a:spcPts val="0"/>
                        </a:spcAft>
                        <a:buFont typeface="Arial"/>
                        <a:buChar char="•"/>
                      </a:pPr>
                      <a:r>
                        <a:rPr lang="en-GB" sz="1200" b="0" i="0" u="none" strike="noStrike" noProof="0" dirty="0">
                          <a:latin typeface="Times New Roman" panose="02020603050405020304" pitchFamily="18" charset="0"/>
                          <a:cs typeface="Times New Roman" panose="02020603050405020304" pitchFamily="18" charset="0"/>
                        </a:rPr>
                        <a:t> Applied feature engineering using Chi-square test to select top 8 features.</a:t>
                      </a:r>
                      <a:endParaRPr lang="en-GB" sz="1200" b="0" dirty="0">
                        <a:latin typeface="Times New Roman" panose="02020603050405020304" pitchFamily="18" charset="0"/>
                        <a:cs typeface="Times New Roman" panose="02020603050405020304" pitchFamily="18" charset="0"/>
                      </a:endParaRPr>
                    </a:p>
                  </a:txBody>
                  <a:tcPr/>
                </a:tc>
                <a:tc>
                  <a:txBody>
                    <a:bodyPr/>
                    <a:lstStyle/>
                    <a:p>
                      <a:pPr marL="171450" lvl="0" indent="-171450">
                        <a:buFont typeface="Arial"/>
                        <a:buChar char="•"/>
                      </a:pPr>
                      <a:r>
                        <a:rPr lang="en-GB" sz="1200" b="0" i="0" u="none" strike="noStrike" noProof="0" dirty="0">
                          <a:latin typeface="Times New Roman" panose="02020603050405020304" pitchFamily="18" charset="0"/>
                          <a:cs typeface="Times New Roman" panose="02020603050405020304" pitchFamily="18" charset="0"/>
                        </a:rPr>
                        <a:t>KNN gave the best results with 92.1% accuracy and 92.2% ROC AUC on balanced data.</a:t>
                      </a:r>
                    </a:p>
                    <a:p>
                      <a:pPr marL="171450" lvl="0" indent="-171450">
                        <a:buFont typeface="Arial"/>
                        <a:buChar char="•"/>
                      </a:pPr>
                      <a:r>
                        <a:rPr lang="en-GB" sz="1200" b="0" i="0" u="none" strike="noStrike" noProof="0" dirty="0">
                          <a:latin typeface="Times New Roman" panose="02020603050405020304" pitchFamily="18" charset="0"/>
                          <a:cs typeface="Times New Roman" panose="02020603050405020304" pitchFamily="18" charset="0"/>
                        </a:rPr>
                        <a:t> Naïve Bayes showed ~99% accuracy but only 60.9% ROC AUC, indicating poor detection of minority class.</a:t>
                      </a:r>
                    </a:p>
                  </a:txBody>
                  <a:tcPr/>
                </a:tc>
                <a:extLst>
                  <a:ext uri="{0D108BD9-81ED-4DB2-BD59-A6C34878D82A}">
                    <a16:rowId xmlns:a16="http://schemas.microsoft.com/office/drawing/2014/main" val="744016209"/>
                  </a:ext>
                </a:extLst>
              </a:tr>
            </a:tbl>
          </a:graphicData>
        </a:graphic>
      </p:graphicFrame>
    </p:spTree>
    <p:extLst>
      <p:ext uri="{BB962C8B-B14F-4D97-AF65-F5344CB8AC3E}">
        <p14:creationId xmlns:p14="http://schemas.microsoft.com/office/powerpoint/2010/main" val="38790254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46E1B4ED-EFFC-17B3-0612-B9A7A6B4A2F3}"/>
              </a:ext>
            </a:extLst>
          </p:cNvPr>
          <p:cNvGraphicFramePr>
            <a:graphicFrameLocks noGrp="1"/>
          </p:cNvGraphicFramePr>
          <p:nvPr/>
        </p:nvGraphicFramePr>
        <p:xfrm>
          <a:off x="285749" y="1552575"/>
          <a:ext cx="11610977" cy="4181476"/>
        </p:xfrm>
        <a:graphic>
          <a:graphicData uri="http://schemas.openxmlformats.org/drawingml/2006/table">
            <a:tbl>
              <a:tblPr firstRow="1" bandRow="1">
                <a:tableStyleId>{5940675A-B579-460E-94D1-54222C63F5DA}</a:tableStyleId>
              </a:tblPr>
              <a:tblGrid>
                <a:gridCol w="1935163">
                  <a:extLst>
                    <a:ext uri="{9D8B030D-6E8A-4147-A177-3AD203B41FA5}">
                      <a16:colId xmlns:a16="http://schemas.microsoft.com/office/drawing/2014/main" val="2292645265"/>
                    </a:ext>
                  </a:extLst>
                </a:gridCol>
                <a:gridCol w="1935163">
                  <a:extLst>
                    <a:ext uri="{9D8B030D-6E8A-4147-A177-3AD203B41FA5}">
                      <a16:colId xmlns:a16="http://schemas.microsoft.com/office/drawing/2014/main" val="846223099"/>
                    </a:ext>
                  </a:extLst>
                </a:gridCol>
                <a:gridCol w="1892548">
                  <a:extLst>
                    <a:ext uri="{9D8B030D-6E8A-4147-A177-3AD203B41FA5}">
                      <a16:colId xmlns:a16="http://schemas.microsoft.com/office/drawing/2014/main" val="719000492"/>
                    </a:ext>
                  </a:extLst>
                </a:gridCol>
                <a:gridCol w="1977777">
                  <a:extLst>
                    <a:ext uri="{9D8B030D-6E8A-4147-A177-3AD203B41FA5}">
                      <a16:colId xmlns:a16="http://schemas.microsoft.com/office/drawing/2014/main" val="1257845919"/>
                    </a:ext>
                  </a:extLst>
                </a:gridCol>
                <a:gridCol w="1935163">
                  <a:extLst>
                    <a:ext uri="{9D8B030D-6E8A-4147-A177-3AD203B41FA5}">
                      <a16:colId xmlns:a16="http://schemas.microsoft.com/office/drawing/2014/main" val="3617162021"/>
                    </a:ext>
                  </a:extLst>
                </a:gridCol>
                <a:gridCol w="1935163">
                  <a:extLst>
                    <a:ext uri="{9D8B030D-6E8A-4147-A177-3AD203B41FA5}">
                      <a16:colId xmlns:a16="http://schemas.microsoft.com/office/drawing/2014/main" val="4036149471"/>
                    </a:ext>
                  </a:extLst>
                </a:gridCol>
              </a:tblGrid>
              <a:tr h="351034">
                <a:tc>
                  <a:txBody>
                    <a:bodyPr/>
                    <a:lstStyle/>
                    <a:p>
                      <a:r>
                        <a:rPr lang="en-GB" dirty="0">
                          <a:solidFill>
                            <a:srgbClr val="FF0000"/>
                          </a:solidFill>
                          <a:latin typeface="Times New Roman" panose="02020603050405020304" pitchFamily="18" charset="0"/>
                          <a:cs typeface="Times New Roman" panose="02020603050405020304" pitchFamily="18" charset="0"/>
                        </a:rPr>
                        <a:t>Title</a:t>
                      </a:r>
                    </a:p>
                  </a:txBody>
                  <a:tcPr/>
                </a:tc>
                <a:tc>
                  <a:txBody>
                    <a:bodyPr/>
                    <a:lstStyle/>
                    <a:p>
                      <a:r>
                        <a:rPr lang="en-GB" dirty="0">
                          <a:latin typeface="Times New Roman" panose="02020603050405020304" pitchFamily="18" charset="0"/>
                          <a:cs typeface="Times New Roman" panose="02020603050405020304" pitchFamily="18" charset="0"/>
                        </a:rPr>
                        <a:t>Authors</a:t>
                      </a:r>
                    </a:p>
                  </a:txBody>
                  <a:tcPr/>
                </a:tc>
                <a:tc>
                  <a:txBody>
                    <a:bodyPr/>
                    <a:lstStyle/>
                    <a:p>
                      <a:r>
                        <a:rPr lang="en-GB" dirty="0">
                          <a:latin typeface="Times New Roman" panose="02020603050405020304" pitchFamily="18" charset="0"/>
                          <a:cs typeface="Times New Roman" panose="02020603050405020304" pitchFamily="18" charset="0"/>
                        </a:rPr>
                        <a:t>Publication details </a:t>
                      </a:r>
                    </a:p>
                  </a:txBody>
                  <a:tcPr/>
                </a:tc>
                <a:tc>
                  <a:txBody>
                    <a:bodyPr/>
                    <a:lstStyle/>
                    <a:p>
                      <a:r>
                        <a:rPr lang="en-GB" dirty="0">
                          <a:latin typeface="Times New Roman" panose="02020603050405020304" pitchFamily="18" charset="0"/>
                          <a:cs typeface="Times New Roman" panose="02020603050405020304" pitchFamily="18" charset="0"/>
                        </a:rPr>
                        <a:t>Gaps identified</a:t>
                      </a:r>
                    </a:p>
                  </a:txBody>
                  <a:tcPr/>
                </a:tc>
                <a:tc>
                  <a:txBody>
                    <a:bodyPr/>
                    <a:lstStyle/>
                    <a:p>
                      <a:r>
                        <a:rPr lang="en-GB" dirty="0">
                          <a:latin typeface="Times New Roman" panose="02020603050405020304" pitchFamily="18" charset="0"/>
                          <a:cs typeface="Times New Roman" panose="02020603050405020304" pitchFamily="18" charset="0"/>
                        </a:rPr>
                        <a:t>Methodology used</a:t>
                      </a:r>
                    </a:p>
                  </a:txBody>
                  <a:tcPr/>
                </a:tc>
                <a:tc>
                  <a:txBody>
                    <a:bodyPr/>
                    <a:lstStyle/>
                    <a:p>
                      <a:r>
                        <a:rPr lang="en-GB" dirty="0">
                          <a:latin typeface="Times New Roman" panose="02020603050405020304" pitchFamily="18" charset="0"/>
                          <a:cs typeface="Times New Roman" panose="02020603050405020304" pitchFamily="18" charset="0"/>
                        </a:rPr>
                        <a:t>Results</a:t>
                      </a:r>
                    </a:p>
                  </a:txBody>
                  <a:tcPr/>
                </a:tc>
                <a:extLst>
                  <a:ext uri="{0D108BD9-81ED-4DB2-BD59-A6C34878D82A}">
                    <a16:rowId xmlns:a16="http://schemas.microsoft.com/office/drawing/2014/main" val="2013818929"/>
                  </a:ext>
                </a:extLst>
              </a:tr>
              <a:tr h="2055198">
                <a:tc>
                  <a:txBody>
                    <a:bodyPr/>
                    <a:lstStyle/>
                    <a:p>
                      <a:pPr lvl="0" algn="just">
                        <a:buNone/>
                      </a:pPr>
                      <a:r>
                        <a:rPr lang="en-GB" sz="1200" b="0" i="0" u="none" strike="noStrike" noProof="0" dirty="0">
                          <a:latin typeface="Times New Roman" panose="02020603050405020304" pitchFamily="18" charset="0"/>
                          <a:cs typeface="Times New Roman" panose="02020603050405020304" pitchFamily="18" charset="0"/>
                        </a:rPr>
                        <a:t>A Survey of Machine and Deep Learning Methods for Internet of Things (IoT) Security</a:t>
                      </a:r>
                      <a:endParaRPr lang="en-US" sz="1200" dirty="0">
                        <a:latin typeface="Times New Roman" panose="02020603050405020304" pitchFamily="18" charset="0"/>
                        <a:cs typeface="Times New Roman" panose="02020603050405020304" pitchFamily="18" charset="0"/>
                      </a:endParaRPr>
                    </a:p>
                  </a:txBody>
                  <a:tcPr/>
                </a:tc>
                <a:tc>
                  <a:txBody>
                    <a:bodyPr/>
                    <a:lstStyle/>
                    <a:p>
                      <a:pPr lvl="0" algn="just">
                        <a:buNone/>
                      </a:pPr>
                      <a:r>
                        <a:rPr lang="en-GB" sz="1200" b="0" i="0" u="none" strike="noStrike" noProof="0" dirty="0">
                          <a:latin typeface="Times New Roman" panose="02020603050405020304" pitchFamily="18" charset="0"/>
                          <a:cs typeface="Times New Roman" panose="02020603050405020304" pitchFamily="18" charset="0"/>
                        </a:rPr>
                        <a:t>Mohammed Ali Al-</a:t>
                      </a:r>
                      <a:r>
                        <a:rPr lang="en-GB" sz="1200" b="0" i="0" u="none" strike="noStrike" noProof="0" dirty="0" err="1">
                          <a:latin typeface="Times New Roman" panose="02020603050405020304" pitchFamily="18" charset="0"/>
                          <a:cs typeface="Times New Roman" panose="02020603050405020304" pitchFamily="18" charset="0"/>
                        </a:rPr>
                        <a:t>Garadi</a:t>
                      </a:r>
                      <a:r>
                        <a:rPr lang="en-GB" sz="1200" b="0" i="0" u="none" strike="noStrike" noProof="0" dirty="0">
                          <a:latin typeface="Times New Roman" panose="02020603050405020304" pitchFamily="18" charset="0"/>
                          <a:cs typeface="Times New Roman" panose="02020603050405020304" pitchFamily="18" charset="0"/>
                        </a:rPr>
                        <a:t>, Amr Mohamed, Abdulla Al-Ali, Xiaojiang Du, Mohsen </a:t>
                      </a:r>
                      <a:r>
                        <a:rPr lang="en-GB" sz="1200" b="0" i="0" u="none" strike="noStrike" noProof="0" dirty="0" err="1">
                          <a:latin typeface="Times New Roman" panose="02020603050405020304" pitchFamily="18" charset="0"/>
                          <a:cs typeface="Times New Roman" panose="02020603050405020304" pitchFamily="18" charset="0"/>
                        </a:rPr>
                        <a:t>Guizani</a:t>
                      </a:r>
                      <a:endParaRPr lang="en-US" sz="1200" dirty="0">
                        <a:latin typeface="Times New Roman" panose="02020603050405020304" pitchFamily="18" charset="0"/>
                        <a:cs typeface="Times New Roman" panose="02020603050405020304" pitchFamily="18" charset="0"/>
                      </a:endParaRPr>
                    </a:p>
                  </a:txBody>
                  <a:tcPr/>
                </a:tc>
                <a:tc>
                  <a:txBody>
                    <a:bodyPr/>
                    <a:lstStyle/>
                    <a:p>
                      <a:pPr marL="171450" lvl="0" indent="-171450">
                        <a:buFont typeface="Arial"/>
                        <a:buChar char="•"/>
                      </a:pPr>
                      <a:r>
                        <a:rPr lang="en-GB" sz="1200" b="0" i="0" u="none" strike="noStrike" noProof="0" err="1">
                          <a:latin typeface="Times New Roman" panose="02020603050405020304" pitchFamily="18" charset="0"/>
                          <a:cs typeface="Times New Roman" panose="02020603050405020304" pitchFamily="18" charset="0"/>
                        </a:rPr>
                        <a:t>ArXiv</a:t>
                      </a:r>
                    </a:p>
                    <a:p>
                      <a:pPr marL="171450" lvl="0" indent="-171450">
                        <a:buFont typeface="Arial"/>
                        <a:buChar char="•"/>
                      </a:pPr>
                      <a:r>
                        <a:rPr lang="en-GB" sz="1200" b="1" i="0" u="none" strike="noStrike" noProof="0" dirty="0">
                          <a:solidFill>
                            <a:srgbClr val="000000"/>
                          </a:solidFill>
                          <a:latin typeface="Times New Roman" panose="02020603050405020304" pitchFamily="18" charset="0"/>
                          <a:cs typeface="Times New Roman" panose="02020603050405020304" pitchFamily="18" charset="0"/>
                        </a:rPr>
                        <a:t>Date of Publication: </a:t>
                      </a:r>
                      <a:r>
                        <a:rPr lang="en-GB" sz="1200" b="0" i="0" u="none" strike="noStrike" noProof="0" dirty="0">
                          <a:latin typeface="Times New Roman" panose="02020603050405020304" pitchFamily="18" charset="0"/>
                          <a:cs typeface="Times New Roman" panose="02020603050405020304" pitchFamily="18" charset="0"/>
                        </a:rPr>
                        <a:t>July 29, 2018</a:t>
                      </a:r>
                      <a:endParaRPr lang="en-GB" dirty="0">
                        <a:latin typeface="Times New Roman" panose="02020603050405020304" pitchFamily="18" charset="0"/>
                        <a:cs typeface="Times New Roman" panose="02020603050405020304" pitchFamily="18" charset="0"/>
                      </a:endParaRPr>
                    </a:p>
                  </a:txBody>
                  <a:tcPr/>
                </a:tc>
                <a:tc>
                  <a:txBody>
                    <a:bodyPr/>
                    <a:lstStyle/>
                    <a:p>
                      <a:pPr marL="171450" lvl="0" indent="-171450" algn="l">
                        <a:buFont typeface="Arial"/>
                        <a:buChar char="•"/>
                      </a:pPr>
                      <a:r>
                        <a:rPr lang="en-GB" sz="1200" b="0" i="0" u="none" strike="noStrike" noProof="0" dirty="0">
                          <a:latin typeface="Times New Roman" panose="02020603050405020304" pitchFamily="18" charset="0"/>
                          <a:cs typeface="Times New Roman" panose="02020603050405020304" pitchFamily="18" charset="0"/>
                        </a:rPr>
                        <a:t>Traditional security is weak for IoT’s complexity.</a:t>
                      </a:r>
                      <a:endParaRPr lang="en-US" sz="1200" dirty="0">
                        <a:latin typeface="Times New Roman" panose="02020603050405020304" pitchFamily="18" charset="0"/>
                        <a:cs typeface="Times New Roman" panose="02020603050405020304" pitchFamily="18" charset="0"/>
                      </a:endParaRPr>
                    </a:p>
                    <a:p>
                      <a:pPr marL="171450" lvl="0" indent="-171450" algn="l">
                        <a:buFont typeface="Arial"/>
                        <a:buChar char="•"/>
                      </a:pPr>
                      <a:r>
                        <a:rPr lang="en-GB" sz="1200" b="0" i="0" u="none" strike="noStrike" noProof="0" dirty="0">
                          <a:latin typeface="Times New Roman" panose="02020603050405020304" pitchFamily="18" charset="0"/>
                          <a:cs typeface="Times New Roman" panose="02020603050405020304" pitchFamily="18" charset="0"/>
                        </a:rPr>
                        <a:t> ML/DL not deeply explored in prior IoT security surveys.</a:t>
                      </a:r>
                      <a:endParaRPr lang="en-US" sz="1200" dirty="0">
                        <a:latin typeface="Times New Roman" panose="02020603050405020304" pitchFamily="18" charset="0"/>
                        <a:cs typeface="Times New Roman" panose="02020603050405020304" pitchFamily="18" charset="0"/>
                      </a:endParaRPr>
                    </a:p>
                    <a:p>
                      <a:pPr marL="171450" lvl="0" indent="-171450" algn="l">
                        <a:buFont typeface="Arial"/>
                        <a:buChar char="•"/>
                      </a:pPr>
                      <a:r>
                        <a:rPr lang="en-GB" sz="1200" b="0" i="0" u="none" strike="noStrike" noProof="0" dirty="0">
                          <a:latin typeface="Times New Roman" panose="02020603050405020304" pitchFamily="18" charset="0"/>
                          <a:cs typeface="Times New Roman" panose="02020603050405020304" pitchFamily="18" charset="0"/>
                        </a:rPr>
                        <a:t>Zero-day threats and dynamic attacks need better detection.</a:t>
                      </a:r>
                      <a:endParaRPr lang="en-US" sz="1200" dirty="0">
                        <a:latin typeface="Times New Roman" panose="02020603050405020304" pitchFamily="18" charset="0"/>
                        <a:cs typeface="Times New Roman" panose="02020603050405020304" pitchFamily="18" charset="0"/>
                      </a:endParaRPr>
                    </a:p>
                  </a:txBody>
                  <a:tcPr/>
                </a:tc>
                <a:tc>
                  <a:txBody>
                    <a:bodyPr/>
                    <a:lstStyle/>
                    <a:p>
                      <a:pPr marL="171450" lvl="0" indent="-171450" algn="l">
                        <a:lnSpc>
                          <a:spcPct val="100000"/>
                        </a:lnSpc>
                        <a:spcBef>
                          <a:spcPts val="0"/>
                        </a:spcBef>
                        <a:spcAft>
                          <a:spcPts val="0"/>
                        </a:spcAft>
                        <a:buFont typeface="Arial"/>
                        <a:buChar char="•"/>
                      </a:pPr>
                      <a:r>
                        <a:rPr lang="en-GB" sz="1200" b="0" i="0" u="none" strike="noStrike" noProof="0" dirty="0">
                          <a:latin typeface="Times New Roman" panose="02020603050405020304" pitchFamily="18" charset="0"/>
                          <a:cs typeface="Times New Roman" panose="02020603050405020304" pitchFamily="18" charset="0"/>
                        </a:rPr>
                        <a:t>DL techniques like CNN, RNN, AE, GAN applied.</a:t>
                      </a:r>
                      <a:endParaRPr lang="en-US" sz="1200" dirty="0">
                        <a:latin typeface="Times New Roman" panose="02020603050405020304" pitchFamily="18" charset="0"/>
                        <a:cs typeface="Times New Roman" panose="02020603050405020304" pitchFamily="18" charset="0"/>
                      </a:endParaRPr>
                    </a:p>
                    <a:p>
                      <a:pPr marL="171450" lvl="0" indent="-171450" algn="l">
                        <a:lnSpc>
                          <a:spcPct val="100000"/>
                        </a:lnSpc>
                        <a:spcBef>
                          <a:spcPts val="0"/>
                        </a:spcBef>
                        <a:spcAft>
                          <a:spcPts val="0"/>
                        </a:spcAft>
                        <a:buFont typeface="Arial"/>
                        <a:buChar char="•"/>
                      </a:pPr>
                      <a:r>
                        <a:rPr lang="en-GB" sz="1200" b="0" i="0" u="none" strike="noStrike" noProof="0" dirty="0">
                          <a:latin typeface="Times New Roman" panose="02020603050405020304" pitchFamily="18" charset="0"/>
                          <a:cs typeface="Times New Roman" panose="02020603050405020304" pitchFamily="18" charset="0"/>
                        </a:rPr>
                        <a:t>Mapped models to IoT layers (device, network, application).</a:t>
                      </a:r>
                      <a:endParaRPr lang="en-US" sz="1200" dirty="0">
                        <a:latin typeface="Times New Roman" panose="02020603050405020304" pitchFamily="18" charset="0"/>
                        <a:cs typeface="Times New Roman" panose="02020603050405020304" pitchFamily="18" charset="0"/>
                      </a:endParaRPr>
                    </a:p>
                    <a:p>
                      <a:pPr marL="171450" lvl="0" indent="-171450" algn="l">
                        <a:lnSpc>
                          <a:spcPct val="100000"/>
                        </a:lnSpc>
                        <a:spcBef>
                          <a:spcPts val="0"/>
                        </a:spcBef>
                        <a:spcAft>
                          <a:spcPts val="0"/>
                        </a:spcAft>
                        <a:buFont typeface="Arial"/>
                        <a:buChar char="•"/>
                      </a:pPr>
                      <a:r>
                        <a:rPr lang="en-GB" sz="1200" b="0" i="0" u="none" strike="noStrike" noProof="0" dirty="0">
                          <a:latin typeface="Times New Roman" panose="02020603050405020304" pitchFamily="18" charset="0"/>
                          <a:cs typeface="Times New Roman" panose="02020603050405020304" pitchFamily="18" charset="0"/>
                        </a:rPr>
                        <a:t>Also discussed RL for adaptive IoT security.</a:t>
                      </a:r>
                      <a:endParaRPr lang="en-US" sz="1200" dirty="0">
                        <a:latin typeface="Times New Roman" panose="02020603050405020304" pitchFamily="18" charset="0"/>
                        <a:cs typeface="Times New Roman" panose="02020603050405020304" pitchFamily="18" charset="0"/>
                      </a:endParaRPr>
                    </a:p>
                    <a:p>
                      <a:pPr lvl="0">
                        <a:buNone/>
                      </a:pPr>
                      <a:endParaRPr lang="en-GB" dirty="0">
                        <a:latin typeface="Times New Roman" panose="02020603050405020304" pitchFamily="18" charset="0"/>
                        <a:cs typeface="Times New Roman" panose="02020603050405020304" pitchFamily="18" charset="0"/>
                      </a:endParaRPr>
                    </a:p>
                  </a:txBody>
                  <a:tcPr/>
                </a:tc>
                <a:tc>
                  <a:txBody>
                    <a:bodyPr/>
                    <a:lstStyle/>
                    <a:p>
                      <a:pPr marL="171450" lvl="0" indent="-171450">
                        <a:buFont typeface="Arial"/>
                        <a:buChar char="•"/>
                      </a:pPr>
                      <a:r>
                        <a:rPr lang="en-GB" sz="1200" b="0" i="0" u="none" strike="noStrike" noProof="0" dirty="0">
                          <a:latin typeface="Times New Roman" panose="02020603050405020304" pitchFamily="18" charset="0"/>
                          <a:cs typeface="Times New Roman" panose="02020603050405020304" pitchFamily="18" charset="0"/>
                        </a:rPr>
                        <a:t>ML/DL detect anomalies and predict attacks effectively.</a:t>
                      </a:r>
                      <a:endParaRPr lang="en-US" sz="1200" dirty="0">
                        <a:latin typeface="Times New Roman" panose="02020603050405020304" pitchFamily="18" charset="0"/>
                        <a:cs typeface="Times New Roman" panose="02020603050405020304" pitchFamily="18" charset="0"/>
                      </a:endParaRPr>
                    </a:p>
                    <a:p>
                      <a:pPr marL="171450" lvl="0" indent="-171450">
                        <a:buFont typeface="Arial"/>
                        <a:buChar char="•"/>
                      </a:pPr>
                      <a:r>
                        <a:rPr lang="en-GB" sz="1200" b="0" i="0" u="none" strike="noStrike" noProof="0" dirty="0">
                          <a:latin typeface="Times New Roman" panose="02020603050405020304" pitchFamily="18" charset="0"/>
                          <a:cs typeface="Times New Roman" panose="02020603050405020304" pitchFamily="18" charset="0"/>
                        </a:rPr>
                        <a:t>DL outperforms traditional ML in complex scenarios.</a:t>
                      </a:r>
                      <a:endParaRPr lang="en-US" sz="1200" dirty="0">
                        <a:latin typeface="Times New Roman" panose="02020603050405020304" pitchFamily="18" charset="0"/>
                        <a:cs typeface="Times New Roman" panose="02020603050405020304" pitchFamily="18" charset="0"/>
                      </a:endParaRPr>
                    </a:p>
                    <a:p>
                      <a:pPr marL="171450" lvl="0" indent="-171450">
                        <a:buFont typeface="Arial"/>
                        <a:buChar char="•"/>
                      </a:pPr>
                      <a:r>
                        <a:rPr lang="en-GB" sz="1200" b="0" i="0" u="none" strike="noStrike" noProof="0" dirty="0">
                          <a:latin typeface="Times New Roman" panose="02020603050405020304" pitchFamily="18" charset="0"/>
                          <a:cs typeface="Times New Roman" panose="02020603050405020304" pitchFamily="18" charset="0"/>
                        </a:rPr>
                        <a:t>Models improve accuracy and scalability of IoT security.</a:t>
                      </a:r>
                      <a:endParaRPr lang="en-US"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74601183"/>
                  </a:ext>
                </a:extLst>
              </a:tr>
              <a:tr h="1775244">
                <a:tc>
                  <a:txBody>
                    <a:bodyPr/>
                    <a:lstStyle/>
                    <a:p>
                      <a:pPr lvl="0">
                        <a:buNone/>
                      </a:pPr>
                      <a:r>
                        <a:rPr lang="en-GB" sz="1200" b="0" i="0" u="none" strike="noStrike" noProof="0" dirty="0">
                          <a:latin typeface="Times New Roman" panose="02020603050405020304" pitchFamily="18" charset="0"/>
                          <a:cs typeface="Times New Roman" panose="02020603050405020304" pitchFamily="18" charset="0"/>
                        </a:rPr>
                        <a:t>A Machine Learning Security Framework for IoT Systems</a:t>
                      </a:r>
                      <a:endParaRPr lang="en-US" sz="1200" dirty="0">
                        <a:latin typeface="Times New Roman" panose="02020603050405020304" pitchFamily="18" charset="0"/>
                        <a:cs typeface="Times New Roman" panose="02020603050405020304" pitchFamily="18" charset="0"/>
                      </a:endParaRPr>
                    </a:p>
                  </a:txBody>
                  <a:tcPr/>
                </a:tc>
                <a:tc>
                  <a:txBody>
                    <a:bodyPr/>
                    <a:lstStyle/>
                    <a:p>
                      <a:pPr lvl="0">
                        <a:buNone/>
                      </a:pPr>
                      <a:r>
                        <a:rPr lang="en-GB" sz="1200" b="0" i="0" u="none" strike="noStrike" noProof="0" dirty="0">
                          <a:latin typeface="Times New Roman" panose="02020603050405020304" pitchFamily="18" charset="0"/>
                          <a:cs typeface="Times New Roman" panose="02020603050405020304" pitchFamily="18" charset="0"/>
                        </a:rPr>
                        <a:t>Miloud </a:t>
                      </a:r>
                      <a:r>
                        <a:rPr lang="en-GB" sz="1200" b="0" i="0" u="none" strike="noStrike" noProof="0" err="1">
                          <a:latin typeface="Times New Roman" panose="02020603050405020304" pitchFamily="18" charset="0"/>
                          <a:cs typeface="Times New Roman" panose="02020603050405020304" pitchFamily="18" charset="0"/>
                        </a:rPr>
                        <a:t>Bagaa</a:t>
                      </a:r>
                      <a:r>
                        <a:rPr lang="en-GB" sz="1200" b="0" i="0" u="none" strike="noStrike" noProof="0" dirty="0">
                          <a:latin typeface="Times New Roman" panose="02020603050405020304" pitchFamily="18" charset="0"/>
                          <a:cs typeface="Times New Roman" panose="02020603050405020304" pitchFamily="18" charset="0"/>
                        </a:rPr>
                        <a:t>, Tarik Taleb, Jorge Bernal Bernabe, Antonio </a:t>
                      </a:r>
                      <a:r>
                        <a:rPr lang="en-GB" sz="1200" b="0" i="0" u="none" strike="noStrike" noProof="0" err="1">
                          <a:latin typeface="Times New Roman" panose="02020603050405020304" pitchFamily="18" charset="0"/>
                          <a:cs typeface="Times New Roman" panose="02020603050405020304" pitchFamily="18" charset="0"/>
                        </a:rPr>
                        <a:t>Skarmeta</a:t>
                      </a:r>
                      <a:endParaRPr lang="en-US" err="1">
                        <a:latin typeface="Times New Roman" panose="02020603050405020304" pitchFamily="18" charset="0"/>
                        <a:cs typeface="Times New Roman" panose="02020603050405020304" pitchFamily="18" charset="0"/>
                      </a:endParaRPr>
                    </a:p>
                  </a:txBody>
                  <a:tcPr/>
                </a:tc>
                <a:tc>
                  <a:txBody>
                    <a:bodyPr/>
                    <a:lstStyle/>
                    <a:p>
                      <a:pPr marL="285750" lvl="0" indent="-285750" algn="l">
                        <a:lnSpc>
                          <a:spcPct val="100000"/>
                        </a:lnSpc>
                        <a:spcBef>
                          <a:spcPts val="0"/>
                        </a:spcBef>
                        <a:spcAft>
                          <a:spcPts val="0"/>
                        </a:spcAft>
                        <a:buFont typeface="Arial"/>
                        <a:buChar char="•"/>
                      </a:pPr>
                      <a:r>
                        <a:rPr lang="en-GB" sz="1200" b="0" i="0" u="none" strike="noStrike" noProof="0" dirty="0">
                          <a:latin typeface="Times New Roman" panose="02020603050405020304" pitchFamily="18" charset="0"/>
                          <a:cs typeface="Times New Roman" panose="02020603050405020304" pitchFamily="18" charset="0"/>
                        </a:rPr>
                        <a:t>IEEE Access</a:t>
                      </a:r>
                      <a:endParaRPr lang="en-US" sz="1200" dirty="0">
                        <a:latin typeface="Times New Roman" panose="02020603050405020304" pitchFamily="18" charset="0"/>
                        <a:cs typeface="Times New Roman" panose="02020603050405020304" pitchFamily="18" charset="0"/>
                      </a:endParaRPr>
                    </a:p>
                    <a:p>
                      <a:pPr marL="285750" lvl="0" indent="-285750" algn="l">
                        <a:lnSpc>
                          <a:spcPct val="100000"/>
                        </a:lnSpc>
                        <a:spcBef>
                          <a:spcPts val="0"/>
                        </a:spcBef>
                        <a:spcAft>
                          <a:spcPts val="0"/>
                        </a:spcAft>
                        <a:buFont typeface="Arial"/>
                        <a:buChar char="•"/>
                      </a:pPr>
                      <a:r>
                        <a:rPr lang="en-GB" sz="1200" b="1" i="0" u="none" strike="noStrike" noProof="0" dirty="0">
                          <a:latin typeface="Times New Roman" panose="02020603050405020304" pitchFamily="18" charset="0"/>
                          <a:cs typeface="Times New Roman" panose="02020603050405020304" pitchFamily="18" charset="0"/>
                        </a:rPr>
                        <a:t>Date of Publication:</a:t>
                      </a:r>
                      <a:r>
                        <a:rPr lang="en-GB" sz="1200" b="0" i="0" u="none" strike="noStrike" noProof="0" dirty="0">
                          <a:latin typeface="Times New Roman" panose="02020603050405020304" pitchFamily="18" charset="0"/>
                          <a:cs typeface="Times New Roman" panose="02020603050405020304" pitchFamily="18" charset="0"/>
                        </a:rPr>
                        <a:t> May 21, 2020</a:t>
                      </a:r>
                      <a:endParaRPr lang="en-GB" sz="1200" dirty="0">
                        <a:latin typeface="Times New Roman" panose="02020603050405020304" pitchFamily="18" charset="0"/>
                        <a:cs typeface="Times New Roman" panose="02020603050405020304" pitchFamily="18" charset="0"/>
                      </a:endParaRPr>
                    </a:p>
                    <a:p>
                      <a:pPr lvl="0">
                        <a:buNone/>
                      </a:pPr>
                      <a:endParaRPr lang="en-GB" dirty="0">
                        <a:latin typeface="Times New Roman" panose="02020603050405020304" pitchFamily="18" charset="0"/>
                        <a:cs typeface="Times New Roman" panose="02020603050405020304" pitchFamily="18" charset="0"/>
                      </a:endParaRPr>
                    </a:p>
                  </a:txBody>
                  <a:tcPr/>
                </a:tc>
                <a:tc>
                  <a:txBody>
                    <a:bodyPr/>
                    <a:lstStyle/>
                    <a:p>
                      <a:pPr marL="171450" lvl="0" indent="-171450">
                        <a:buFont typeface="Arial"/>
                        <a:buChar char="•"/>
                      </a:pPr>
                      <a:r>
                        <a:rPr lang="en-GB" sz="1200" b="0" i="0" u="none" strike="noStrike" noProof="0" dirty="0">
                          <a:latin typeface="Times New Roman" panose="02020603050405020304" pitchFamily="18" charset="0"/>
                          <a:cs typeface="Times New Roman" panose="02020603050405020304" pitchFamily="18" charset="0"/>
                        </a:rPr>
                        <a:t>Current IoT security lacks adaptive, end-to-end solutions.</a:t>
                      </a:r>
                      <a:endParaRPr lang="en-US" sz="1200" dirty="0">
                        <a:latin typeface="Times New Roman" panose="02020603050405020304" pitchFamily="18" charset="0"/>
                        <a:cs typeface="Times New Roman" panose="02020603050405020304" pitchFamily="18" charset="0"/>
                      </a:endParaRPr>
                    </a:p>
                    <a:p>
                      <a:pPr marL="171450" lvl="0" indent="-171450">
                        <a:buFont typeface="Arial"/>
                        <a:buChar char="•"/>
                      </a:pPr>
                      <a:r>
                        <a:rPr lang="en-GB" sz="1200" b="0" i="0" u="none" strike="noStrike" noProof="0" dirty="0">
                          <a:latin typeface="Times New Roman" panose="02020603050405020304" pitchFamily="18" charset="0"/>
                          <a:cs typeface="Times New Roman" panose="02020603050405020304" pitchFamily="18" charset="0"/>
                        </a:rPr>
                        <a:t>Limited integration of SDN/NFV with AI in real-time </a:t>
                      </a:r>
                      <a:r>
                        <a:rPr lang="en-GB" sz="1200" b="0" i="0" u="none" strike="noStrike" noProof="0" dirty="0" err="1">
                          <a:latin typeface="Times New Roman" panose="02020603050405020304" pitchFamily="18" charset="0"/>
                          <a:cs typeface="Times New Roman" panose="02020603050405020304" pitchFamily="18" charset="0"/>
                        </a:rPr>
                        <a:t>defenses</a:t>
                      </a:r>
                      <a:r>
                        <a:rPr lang="en-GB" sz="1200" b="0" i="0" u="none" strike="noStrike" noProof="0" dirty="0">
                          <a:latin typeface="Times New Roman" panose="02020603050405020304" pitchFamily="18" charset="0"/>
                          <a:cs typeface="Times New Roman" panose="02020603050405020304" pitchFamily="18" charset="0"/>
                        </a:rPr>
                        <a:t>.</a:t>
                      </a:r>
                      <a:endParaRPr lang="en-US" sz="1200">
                        <a:latin typeface="Times New Roman" panose="02020603050405020304" pitchFamily="18" charset="0"/>
                        <a:cs typeface="Times New Roman" panose="02020603050405020304" pitchFamily="18" charset="0"/>
                      </a:endParaRPr>
                    </a:p>
                    <a:p>
                      <a:pPr marL="171450" lvl="0" indent="-171450">
                        <a:buFont typeface="Arial"/>
                        <a:buChar char="•"/>
                      </a:pPr>
                      <a:r>
                        <a:rPr lang="en-GB" sz="1200" b="0" i="0" u="none" strike="noStrike" noProof="0" dirty="0">
                          <a:latin typeface="Times New Roman" panose="02020603050405020304" pitchFamily="18" charset="0"/>
                          <a:cs typeface="Times New Roman" panose="02020603050405020304" pitchFamily="18" charset="0"/>
                        </a:rPr>
                        <a:t> Difficulty handling emerging, unknown attack types.</a:t>
                      </a:r>
                      <a:endParaRPr lang="en-US" sz="1200">
                        <a:latin typeface="Times New Roman" panose="02020603050405020304" pitchFamily="18" charset="0"/>
                        <a:cs typeface="Times New Roman" panose="02020603050405020304" pitchFamily="18" charset="0"/>
                      </a:endParaRPr>
                    </a:p>
                  </a:txBody>
                  <a:tcPr/>
                </a:tc>
                <a:tc>
                  <a:txBody>
                    <a:bodyPr/>
                    <a:lstStyle/>
                    <a:p>
                      <a:pPr marL="171450" lvl="0" indent="-171450">
                        <a:buFont typeface="Arial"/>
                        <a:buChar char="•"/>
                      </a:pPr>
                      <a:r>
                        <a:rPr lang="en-GB" sz="1200" b="0" i="0" u="none" strike="noStrike" noProof="0" dirty="0">
                          <a:latin typeface="Times New Roman" panose="02020603050405020304" pitchFamily="18" charset="0"/>
                          <a:cs typeface="Times New Roman" panose="02020603050405020304" pitchFamily="18" charset="0"/>
                        </a:rPr>
                        <a:t>Framework combines ML, SDN, and NFV for threat </a:t>
                      </a:r>
                      <a:r>
                        <a:rPr lang="en-GB" sz="1200" b="0" i="0" u="none" strike="noStrike" noProof="0" dirty="0" err="1">
                          <a:latin typeface="Times New Roman" panose="02020603050405020304" pitchFamily="18" charset="0"/>
                          <a:cs typeface="Times New Roman" panose="02020603050405020304" pitchFamily="18" charset="0"/>
                        </a:rPr>
                        <a:t>defense</a:t>
                      </a:r>
                      <a:r>
                        <a:rPr lang="en-GB" sz="1200" b="0" i="0" u="none" strike="noStrike" noProof="0" dirty="0">
                          <a:latin typeface="Times New Roman" panose="02020603050405020304" pitchFamily="18" charset="0"/>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a:p>
                      <a:pPr marL="171450" lvl="0" indent="-171450">
                        <a:buFont typeface="Arial"/>
                        <a:buChar char="•"/>
                      </a:pPr>
                      <a:r>
                        <a:rPr lang="en-GB" sz="1200" b="0" i="0" u="none" strike="noStrike" noProof="0" dirty="0">
                          <a:latin typeface="Times New Roman" panose="02020603050405020304" pitchFamily="18" charset="0"/>
                          <a:cs typeface="Times New Roman" panose="02020603050405020304" pitchFamily="18" charset="0"/>
                        </a:rPr>
                        <a:t>Uses supervised ML (e.g., SVM, J48, RF) for attack detection.</a:t>
                      </a:r>
                      <a:endParaRPr lang="en-US" sz="1200" dirty="0">
                        <a:latin typeface="Times New Roman" panose="02020603050405020304" pitchFamily="18" charset="0"/>
                        <a:cs typeface="Times New Roman" panose="02020603050405020304" pitchFamily="18" charset="0"/>
                      </a:endParaRPr>
                    </a:p>
                  </a:txBody>
                  <a:tcPr/>
                </a:tc>
                <a:tc>
                  <a:txBody>
                    <a:bodyPr/>
                    <a:lstStyle/>
                    <a:p>
                      <a:pPr marL="171450" lvl="0" indent="-171450">
                        <a:buFont typeface="Arial"/>
                        <a:buChar char="•"/>
                      </a:pPr>
                      <a:r>
                        <a:rPr lang="en-GB" sz="1200" b="0" i="0" u="none" strike="noStrike" noProof="0" dirty="0">
                          <a:latin typeface="Times New Roman" panose="02020603050405020304" pitchFamily="18" charset="0"/>
                          <a:cs typeface="Times New Roman" panose="02020603050405020304" pitchFamily="18" charset="0"/>
                        </a:rPr>
                        <a:t>Achieved up to 99.71% accuracy using anomaly-based detection.</a:t>
                      </a:r>
                      <a:endParaRPr lang="en-US" sz="1200" dirty="0">
                        <a:latin typeface="Times New Roman" panose="02020603050405020304" pitchFamily="18" charset="0"/>
                        <a:cs typeface="Times New Roman" panose="02020603050405020304" pitchFamily="18" charset="0"/>
                      </a:endParaRPr>
                    </a:p>
                    <a:p>
                      <a:pPr marL="171450" lvl="0" indent="-171450">
                        <a:buFont typeface="Arial"/>
                        <a:buChar char="•"/>
                      </a:pPr>
                      <a:r>
                        <a:rPr lang="en-GB" sz="1200" b="0" i="0" u="none" strike="noStrike" noProof="0" dirty="0">
                          <a:latin typeface="Times New Roman" panose="02020603050405020304" pitchFamily="18" charset="0"/>
                          <a:cs typeface="Times New Roman" panose="02020603050405020304" pitchFamily="18" charset="0"/>
                        </a:rPr>
                        <a:t>Random Forest and AdaBoost performed best in attack detection.</a:t>
                      </a:r>
                      <a:endParaRPr lang="en-US"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44016209"/>
                  </a:ext>
                </a:extLst>
              </a:tr>
            </a:tbl>
          </a:graphicData>
        </a:graphic>
      </p:graphicFrame>
    </p:spTree>
    <p:extLst>
      <p:ext uri="{BB962C8B-B14F-4D97-AF65-F5344CB8AC3E}">
        <p14:creationId xmlns:p14="http://schemas.microsoft.com/office/powerpoint/2010/main" val="1098572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0CA69-D5A1-F247-BB34-EC177CD63153}"/>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4EBF40D8-D24A-E815-6288-58E32FBFC295}"/>
              </a:ext>
            </a:extLst>
          </p:cNvPr>
          <p:cNvGraphicFramePr>
            <a:graphicFrameLocks noGrp="1"/>
          </p:cNvGraphicFramePr>
          <p:nvPr>
            <p:extLst>
              <p:ext uri="{D42A27DB-BD31-4B8C-83A1-F6EECF244321}">
                <p14:modId xmlns:p14="http://schemas.microsoft.com/office/powerpoint/2010/main" val="3676129629"/>
              </p:ext>
            </p:extLst>
          </p:nvPr>
        </p:nvGraphicFramePr>
        <p:xfrm>
          <a:off x="204836" y="1447898"/>
          <a:ext cx="11782327" cy="4428771"/>
        </p:xfrm>
        <a:graphic>
          <a:graphicData uri="http://schemas.openxmlformats.org/drawingml/2006/table">
            <a:tbl>
              <a:tblPr firstRow="1" bandRow="1">
                <a:tableStyleId>{5940675A-B579-460E-94D1-54222C63F5DA}</a:tableStyleId>
              </a:tblPr>
              <a:tblGrid>
                <a:gridCol w="2372439">
                  <a:extLst>
                    <a:ext uri="{9D8B030D-6E8A-4147-A177-3AD203B41FA5}">
                      <a16:colId xmlns:a16="http://schemas.microsoft.com/office/drawing/2014/main" val="2292645265"/>
                    </a:ext>
                  </a:extLst>
                </a:gridCol>
                <a:gridCol w="2177034">
                  <a:extLst>
                    <a:ext uri="{9D8B030D-6E8A-4147-A177-3AD203B41FA5}">
                      <a16:colId xmlns:a16="http://schemas.microsoft.com/office/drawing/2014/main" val="846223099"/>
                    </a:ext>
                  </a:extLst>
                </a:gridCol>
                <a:gridCol w="1635907">
                  <a:extLst>
                    <a:ext uri="{9D8B030D-6E8A-4147-A177-3AD203B41FA5}">
                      <a16:colId xmlns:a16="http://schemas.microsoft.com/office/drawing/2014/main" val="719000492"/>
                    </a:ext>
                  </a:extLst>
                </a:gridCol>
                <a:gridCol w="1411446">
                  <a:extLst>
                    <a:ext uri="{9D8B030D-6E8A-4147-A177-3AD203B41FA5}">
                      <a16:colId xmlns:a16="http://schemas.microsoft.com/office/drawing/2014/main" val="1257845919"/>
                    </a:ext>
                  </a:extLst>
                </a:gridCol>
                <a:gridCol w="2309567">
                  <a:extLst>
                    <a:ext uri="{9D8B030D-6E8A-4147-A177-3AD203B41FA5}">
                      <a16:colId xmlns:a16="http://schemas.microsoft.com/office/drawing/2014/main" val="3617162021"/>
                    </a:ext>
                  </a:extLst>
                </a:gridCol>
                <a:gridCol w="1875934">
                  <a:extLst>
                    <a:ext uri="{9D8B030D-6E8A-4147-A177-3AD203B41FA5}">
                      <a16:colId xmlns:a16="http://schemas.microsoft.com/office/drawing/2014/main" val="4036149471"/>
                    </a:ext>
                  </a:extLst>
                </a:gridCol>
              </a:tblGrid>
              <a:tr h="309978">
                <a:tc>
                  <a:txBody>
                    <a:bodyPr/>
                    <a:lstStyle/>
                    <a:p>
                      <a:pPr lvl="0">
                        <a:buNone/>
                      </a:pPr>
                      <a:r>
                        <a:rPr lang="en-GB" dirty="0">
                          <a:solidFill>
                            <a:srgbClr val="FF0000"/>
                          </a:solidFill>
                          <a:latin typeface="Times New Roman" panose="02020603050405020304" pitchFamily="18" charset="0"/>
                          <a:cs typeface="Times New Roman" panose="02020603050405020304" pitchFamily="18" charset="0"/>
                        </a:rPr>
                        <a:t>Title</a:t>
                      </a:r>
                      <a:endParaRPr lang="en-US" dirty="0">
                        <a:latin typeface="Times New Roman" panose="02020603050405020304" pitchFamily="18" charset="0"/>
                        <a:cs typeface="Times New Roman" panose="02020603050405020304" pitchFamily="18" charset="0"/>
                      </a:endParaRPr>
                    </a:p>
                  </a:txBody>
                  <a:tcPr/>
                </a:tc>
                <a:tc>
                  <a:txBody>
                    <a:bodyPr/>
                    <a:lstStyle/>
                    <a:p>
                      <a:r>
                        <a:rPr lang="en-GB" dirty="0">
                          <a:latin typeface="Times New Roman" panose="02020603050405020304" pitchFamily="18" charset="0"/>
                          <a:cs typeface="Times New Roman" panose="02020603050405020304" pitchFamily="18" charset="0"/>
                        </a:rPr>
                        <a:t>Authors</a:t>
                      </a:r>
                      <a:endParaRPr lang="en-US" dirty="0">
                        <a:latin typeface="Times New Roman" panose="02020603050405020304" pitchFamily="18" charset="0"/>
                        <a:cs typeface="Times New Roman" panose="02020603050405020304" pitchFamily="18" charset="0"/>
                      </a:endParaRPr>
                    </a:p>
                  </a:txBody>
                  <a:tcPr/>
                </a:tc>
                <a:tc>
                  <a:txBody>
                    <a:bodyPr/>
                    <a:lstStyle/>
                    <a:p>
                      <a:r>
                        <a:rPr lang="en-GB" dirty="0">
                          <a:latin typeface="Times New Roman" panose="02020603050405020304" pitchFamily="18" charset="0"/>
                          <a:cs typeface="Times New Roman" panose="02020603050405020304" pitchFamily="18" charset="0"/>
                        </a:rPr>
                        <a:t>Publication details </a:t>
                      </a:r>
                      <a:endParaRPr lang="en-US" dirty="0">
                        <a:latin typeface="Times New Roman" panose="02020603050405020304" pitchFamily="18" charset="0"/>
                        <a:cs typeface="Times New Roman" panose="02020603050405020304" pitchFamily="18" charset="0"/>
                      </a:endParaRPr>
                    </a:p>
                  </a:txBody>
                  <a:tcPr/>
                </a:tc>
                <a:tc>
                  <a:txBody>
                    <a:bodyPr/>
                    <a:lstStyle/>
                    <a:p>
                      <a:r>
                        <a:rPr lang="en-GB" dirty="0">
                          <a:latin typeface="Times New Roman" panose="02020603050405020304" pitchFamily="18" charset="0"/>
                          <a:cs typeface="Times New Roman" panose="02020603050405020304" pitchFamily="18" charset="0"/>
                        </a:rPr>
                        <a:t>Gaps  identified</a:t>
                      </a:r>
                    </a:p>
                  </a:txBody>
                  <a:tcPr/>
                </a:tc>
                <a:tc>
                  <a:txBody>
                    <a:bodyPr/>
                    <a:lstStyle/>
                    <a:p>
                      <a:r>
                        <a:rPr lang="en-GB" dirty="0">
                          <a:latin typeface="Times New Roman" panose="02020603050405020304" pitchFamily="18" charset="0"/>
                          <a:cs typeface="Times New Roman" panose="02020603050405020304" pitchFamily="18" charset="0"/>
                        </a:rPr>
                        <a:t>Methodology used</a:t>
                      </a:r>
                      <a:endParaRPr lang="en-US" dirty="0">
                        <a:latin typeface="Times New Roman" panose="02020603050405020304" pitchFamily="18" charset="0"/>
                        <a:cs typeface="Times New Roman" panose="02020603050405020304" pitchFamily="18" charset="0"/>
                      </a:endParaRPr>
                    </a:p>
                  </a:txBody>
                  <a:tcPr/>
                </a:tc>
                <a:tc>
                  <a:txBody>
                    <a:bodyPr/>
                    <a:lstStyle/>
                    <a:p>
                      <a:r>
                        <a:rPr lang="en-GB" dirty="0">
                          <a:latin typeface="Times New Roman" panose="02020603050405020304" pitchFamily="18" charset="0"/>
                          <a:cs typeface="Times New Roman" panose="02020603050405020304" pitchFamily="18" charset="0"/>
                        </a:rPr>
                        <a:t>Results</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13818929"/>
                  </a:ext>
                </a:extLst>
              </a:tr>
              <a:tr h="1192713">
                <a:tc>
                  <a:txBody>
                    <a:bodyPr/>
                    <a:lstStyle/>
                    <a:p>
                      <a:pPr lvl="0" algn="just">
                        <a:buNone/>
                      </a:pPr>
                      <a:r>
                        <a:rPr lang="en-GB" sz="1200" dirty="0">
                          <a:latin typeface="Times New Roman" panose="02020603050405020304" pitchFamily="18" charset="0"/>
                          <a:cs typeface="Times New Roman" panose="02020603050405020304" pitchFamily="18" charset="0"/>
                        </a:rPr>
                        <a:t>An Efficient DDoS TCP Flood Attack Detection and Prevention System in a Cloud Environment</a:t>
                      </a:r>
                      <a:endParaRPr lang="en-GB" sz="1200" b="0" i="0" u="none" strike="noStrike" noProof="0" dirty="0">
                        <a:latin typeface="Times New Roman" panose="02020603050405020304" pitchFamily="18" charset="0"/>
                        <a:cs typeface="Times New Roman" panose="02020603050405020304" pitchFamily="18" charset="0"/>
                      </a:endParaRPr>
                    </a:p>
                  </a:txBody>
                  <a:tcPr/>
                </a:tc>
                <a:tc>
                  <a:txBody>
                    <a:bodyPr/>
                    <a:lstStyle/>
                    <a:p>
                      <a:pPr lvl="0" algn="just">
                        <a:buNone/>
                      </a:pPr>
                      <a:r>
                        <a:rPr lang="nb-NO" sz="1200" dirty="0">
                          <a:latin typeface="Times New Roman" panose="02020603050405020304" pitchFamily="18" charset="0"/>
                          <a:cs typeface="Times New Roman" panose="02020603050405020304" pitchFamily="18" charset="0"/>
                        </a:rPr>
                        <a:t>A. Aqeel Sahi, David Lai, Yan Li, Mohammed Diykh.</a:t>
                      </a:r>
                      <a:endParaRPr lang="en-US" sz="1200" dirty="0">
                        <a:latin typeface="Times New Roman" panose="02020603050405020304" pitchFamily="18" charset="0"/>
                        <a:cs typeface="Times New Roman" panose="02020603050405020304" pitchFamily="18" charset="0"/>
                      </a:endParaRPr>
                    </a:p>
                  </a:txBody>
                  <a:tcPr/>
                </a:tc>
                <a:tc>
                  <a:txBody>
                    <a:bodyPr/>
                    <a:lstStyle/>
                    <a:p>
                      <a:pPr marL="0" lvl="0" indent="0">
                        <a:buFont typeface="Arial"/>
                        <a:buNone/>
                      </a:pPr>
                      <a:r>
                        <a:rPr lang="en-US" sz="1200" b="1" dirty="0">
                          <a:latin typeface="Times New Roman" panose="02020603050405020304" pitchFamily="18" charset="0"/>
                          <a:cs typeface="Times New Roman" panose="02020603050405020304" pitchFamily="18" charset="0"/>
                        </a:rPr>
                        <a:t>Publication:</a:t>
                      </a:r>
                    </a:p>
                    <a:p>
                      <a:pPr marL="0" lvl="0" indent="0">
                        <a:buFont typeface="Arial"/>
                        <a:buNone/>
                      </a:pPr>
                      <a:r>
                        <a:rPr lang="en-IN" sz="1200" b="0" dirty="0">
                          <a:latin typeface="Times New Roman" panose="02020603050405020304" pitchFamily="18" charset="0"/>
                          <a:cs typeface="Times New Roman" panose="02020603050405020304" pitchFamily="18" charset="0"/>
                        </a:rPr>
                        <a:t>IEEE Access</a:t>
                      </a:r>
                      <a:br>
                        <a:rPr lang="en-US" sz="1200" dirty="0">
                          <a:latin typeface="Times New Roman" panose="02020603050405020304" pitchFamily="18" charset="0"/>
                          <a:cs typeface="Times New Roman" panose="02020603050405020304" pitchFamily="18" charset="0"/>
                        </a:rPr>
                      </a:br>
                      <a:r>
                        <a:rPr lang="en-US" sz="1200" b="1" dirty="0">
                          <a:latin typeface="Times New Roman" panose="02020603050405020304" pitchFamily="18" charset="0"/>
                          <a:cs typeface="Times New Roman" panose="02020603050405020304" pitchFamily="18" charset="0"/>
                        </a:rPr>
                        <a:t>Year</a:t>
                      </a:r>
                      <a:r>
                        <a:rPr lang="en-US" sz="1200" dirty="0">
                          <a:latin typeface="Times New Roman" panose="02020603050405020304" pitchFamily="18" charset="0"/>
                          <a:cs typeface="Times New Roman" panose="02020603050405020304" pitchFamily="18" charset="0"/>
                        </a:rPr>
                        <a:t>: 2017</a:t>
                      </a:r>
                      <a:endParaRPr lang="en-GB" sz="1200" b="0" i="0" u="none" strike="noStrike" noProof="0" dirty="0">
                        <a:latin typeface="Times New Roman" panose="02020603050405020304" pitchFamily="18" charset="0"/>
                        <a:cs typeface="Times New Roman" panose="02020603050405020304" pitchFamily="18" charset="0"/>
                      </a:endParaRPr>
                    </a:p>
                  </a:txBody>
                  <a:tcPr/>
                </a:tc>
                <a:tc>
                  <a:txBody>
                    <a:bodyPr/>
                    <a:lstStyle/>
                    <a:p>
                      <a:pPr marL="0" lvl="0" indent="0" algn="just">
                        <a:buFont typeface="Arial"/>
                        <a:buNone/>
                      </a:pPr>
                      <a:r>
                        <a:rPr lang="en-GB" sz="1200" dirty="0">
                          <a:latin typeface="Times New Roman" panose="02020603050405020304" pitchFamily="18" charset="0"/>
                          <a:cs typeface="Times New Roman" panose="02020603050405020304" pitchFamily="18" charset="0"/>
                        </a:rPr>
                        <a:t>Lack of accuracy–speed balance and cloud-specific validation in DDoS detection.</a:t>
                      </a:r>
                      <a:endParaRPr lang="en-GB" sz="1200" b="0" i="0" u="none" strike="noStrike" noProof="0" dirty="0">
                        <a:latin typeface="Times New Roman" panose="02020603050405020304" pitchFamily="18" charset="0"/>
                        <a:cs typeface="Times New Roman" panose="02020603050405020304" pitchFamily="18" charset="0"/>
                      </a:endParaRPr>
                    </a:p>
                  </a:txBody>
                  <a:tcPr/>
                </a:tc>
                <a:tc>
                  <a:txBody>
                    <a:bodyPr/>
                    <a:lstStyle/>
                    <a:p>
                      <a:pPr lvl="0" algn="just">
                        <a:buNone/>
                      </a:pPr>
                      <a:r>
                        <a:rPr lang="en-GB" sz="1200" dirty="0">
                          <a:latin typeface="Times New Roman" panose="02020603050405020304" pitchFamily="18" charset="0"/>
                          <a:cs typeface="Times New Roman" panose="02020603050405020304" pitchFamily="18" charset="0"/>
                        </a:rPr>
                        <a:t>Proposed </a:t>
                      </a:r>
                      <a:r>
                        <a:rPr lang="en-GB" sz="1200" dirty="0" err="1">
                          <a:latin typeface="Times New Roman" panose="02020603050405020304" pitchFamily="18" charset="0"/>
                          <a:cs typeface="Times New Roman" panose="02020603050405020304" pitchFamily="18" charset="0"/>
                        </a:rPr>
                        <a:t>CS_DDoS</a:t>
                      </a:r>
                      <a:r>
                        <a:rPr lang="en-GB" sz="1200" dirty="0">
                          <a:latin typeface="Times New Roman" panose="02020603050405020304" pitchFamily="18" charset="0"/>
                          <a:cs typeface="Times New Roman" panose="02020603050405020304" pitchFamily="18" charset="0"/>
                        </a:rPr>
                        <a:t> with two phases: detection using classifiers (LS-SVM, NB, KNN, MLP) and prevention via IP blacklisting.</a:t>
                      </a:r>
                    </a:p>
                  </a:txBody>
                  <a:tcPr/>
                </a:tc>
                <a:tc>
                  <a:txBody>
                    <a:bodyPr/>
                    <a:lstStyle/>
                    <a:p>
                      <a:pPr marL="0" lvl="0" indent="0" algn="just">
                        <a:buFont typeface="Arial"/>
                        <a:buNone/>
                      </a:pPr>
                      <a:r>
                        <a:rPr lang="en-GB" sz="1200" dirty="0">
                          <a:latin typeface="Times New Roman" panose="02020603050405020304" pitchFamily="18" charset="0"/>
                          <a:cs typeface="Times New Roman" panose="02020603050405020304" pitchFamily="18" charset="0"/>
                        </a:rPr>
                        <a:t>LS-SVM gave best performance with ~97% accuracy (single-source) and ~94% (multi-source), outperforming existing methods.</a:t>
                      </a:r>
                      <a:endParaRPr lang="en-GB" sz="1200" b="0" i="0" u="none" strike="noStrike" noProof="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74601183"/>
                  </a:ext>
                </a:extLst>
              </a:tr>
              <a:tr h="841175">
                <a:tc>
                  <a:txBody>
                    <a:bodyPr/>
                    <a:lstStyle/>
                    <a:p>
                      <a:pPr lvl="0" algn="just">
                        <a:buNone/>
                      </a:pPr>
                      <a:r>
                        <a:rPr lang="en-GB" sz="1200" dirty="0">
                          <a:latin typeface="Times New Roman" panose="02020603050405020304" pitchFamily="18" charset="0"/>
                          <a:cs typeface="Times New Roman" panose="02020603050405020304" pitchFamily="18" charset="0"/>
                        </a:rPr>
                        <a:t>Detection and Prevention of DDoS Attacks on the IoT</a:t>
                      </a:r>
                      <a:endParaRPr lang="en-GB" sz="1200" b="0" i="0" u="none" strike="noStrike" noProof="0" dirty="0">
                        <a:latin typeface="Times New Roman" panose="02020603050405020304" pitchFamily="18" charset="0"/>
                        <a:cs typeface="Times New Roman" panose="02020603050405020304" pitchFamily="18" charset="0"/>
                      </a:endParaRPr>
                    </a:p>
                  </a:txBody>
                  <a:tcPr/>
                </a:tc>
                <a:tc>
                  <a:txBody>
                    <a:bodyPr/>
                    <a:lstStyle/>
                    <a:p>
                      <a:pPr lvl="0" algn="just">
                        <a:buNone/>
                      </a:pPr>
                      <a:r>
                        <a:rPr lang="en-IN" sz="1200" dirty="0">
                          <a:latin typeface="Times New Roman" panose="02020603050405020304" pitchFamily="18" charset="0"/>
                          <a:cs typeface="Times New Roman" panose="02020603050405020304" pitchFamily="18" charset="0"/>
                        </a:rPr>
                        <a:t>Shu-Hung Lee, Yeong-Long Shiue, Chia-Hsin Cheng, Yi-Hong Li, Yung-Fa Huang;</a:t>
                      </a:r>
                      <a:endParaRPr lang="en-US" sz="1200" b="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latin typeface="Times New Roman" panose="02020603050405020304" pitchFamily="18" charset="0"/>
                          <a:cs typeface="Times New Roman" panose="02020603050405020304" pitchFamily="18" charset="0"/>
                        </a:rPr>
                        <a:t>Publication</a:t>
                      </a:r>
                      <a:r>
                        <a:rPr lang="en-US" sz="1200" dirty="0">
                          <a:latin typeface="Times New Roman" panose="02020603050405020304" pitchFamily="18" charset="0"/>
                          <a:cs typeface="Times New Roman" panose="02020603050405020304" pitchFamily="18" charset="0"/>
                        </a:rPr>
                        <a:t>: MDPI</a:t>
                      </a:r>
                      <a:br>
                        <a:rPr lang="en-US" sz="1200" dirty="0">
                          <a:latin typeface="Times New Roman" panose="02020603050405020304" pitchFamily="18" charset="0"/>
                          <a:cs typeface="Times New Roman" panose="02020603050405020304" pitchFamily="18" charset="0"/>
                        </a:rPr>
                      </a:br>
                      <a:r>
                        <a:rPr lang="en-US" sz="1200" b="1" dirty="0">
                          <a:latin typeface="Times New Roman" panose="02020603050405020304" pitchFamily="18" charset="0"/>
                          <a:cs typeface="Times New Roman" panose="02020603050405020304" pitchFamily="18" charset="0"/>
                        </a:rPr>
                        <a:t>Year</a:t>
                      </a:r>
                      <a:r>
                        <a:rPr lang="en-US" sz="1200" dirty="0">
                          <a:latin typeface="Times New Roman" panose="02020603050405020304" pitchFamily="18" charset="0"/>
                          <a:cs typeface="Times New Roman" panose="02020603050405020304" pitchFamily="18" charset="0"/>
                        </a:rPr>
                        <a:t>: 2022</a:t>
                      </a:r>
                      <a:endParaRPr lang="en-GB" sz="1200" b="0" i="0" u="none" strike="noStrike" noProof="0" dirty="0">
                        <a:latin typeface="Times New Roman" panose="02020603050405020304" pitchFamily="18" charset="0"/>
                        <a:cs typeface="Times New Roman" panose="02020603050405020304" pitchFamily="18" charset="0"/>
                      </a:endParaRPr>
                    </a:p>
                    <a:p>
                      <a:pPr lvl="0">
                        <a:buNone/>
                      </a:pPr>
                      <a:endParaRPr lang="en-GB" dirty="0"/>
                    </a:p>
                  </a:txBody>
                  <a:tcPr/>
                </a:tc>
                <a:tc>
                  <a:txBody>
                    <a:bodyPr/>
                    <a:lstStyle/>
                    <a:p>
                      <a:pPr marL="0" lvl="0" indent="0" algn="just">
                        <a:buFont typeface="Arial"/>
                        <a:buNone/>
                      </a:pPr>
                      <a:r>
                        <a:rPr lang="en-GB" sz="1200" dirty="0">
                          <a:latin typeface="Times New Roman" panose="02020603050405020304" pitchFamily="18" charset="0"/>
                          <a:cs typeface="Times New Roman" panose="02020603050405020304" pitchFamily="18" charset="0"/>
                        </a:rPr>
                        <a:t>Prior IoT DDoS methods used single models, limited accuracy, and lacked edge deployment.</a:t>
                      </a:r>
                      <a:endParaRPr lang="en-GB" sz="1200" b="0" i="0" u="none" strike="noStrike" noProof="0" dirty="0">
                        <a:latin typeface="Times New Roman" panose="02020603050405020304" pitchFamily="18" charset="0"/>
                        <a:cs typeface="Times New Roman" panose="02020603050405020304" pitchFamily="18" charset="0"/>
                      </a:endParaRPr>
                    </a:p>
                  </a:txBody>
                  <a:tcPr/>
                </a:tc>
                <a:tc>
                  <a:txBody>
                    <a:bodyPr/>
                    <a:lstStyle/>
                    <a:p>
                      <a:pPr marL="0" lvl="0" indent="0" algn="just">
                        <a:lnSpc>
                          <a:spcPct val="100000"/>
                        </a:lnSpc>
                        <a:spcBef>
                          <a:spcPts val="0"/>
                        </a:spcBef>
                        <a:spcAft>
                          <a:spcPts val="0"/>
                        </a:spcAft>
                        <a:buFont typeface="Arial"/>
                        <a:buNone/>
                      </a:pPr>
                      <a:r>
                        <a:rPr lang="en-GB" sz="1200" dirty="0">
                          <a:latin typeface="Times New Roman" panose="02020603050405020304" pitchFamily="18" charset="0"/>
                          <a:cs typeface="Times New Roman" panose="02020603050405020304" pitchFamily="18" charset="0"/>
                        </a:rPr>
                        <a:t>Built an autonomous </a:t>
                      </a:r>
                      <a:r>
                        <a:rPr lang="en-GB" sz="1200" dirty="0" err="1">
                          <a:latin typeface="Times New Roman" panose="02020603050405020304" pitchFamily="18" charset="0"/>
                          <a:cs typeface="Times New Roman" panose="02020603050405020304" pitchFamily="18" charset="0"/>
                        </a:rPr>
                        <a:t>defense</a:t>
                      </a:r>
                      <a:r>
                        <a:rPr lang="en-GB" sz="1200" dirty="0">
                          <a:latin typeface="Times New Roman" panose="02020603050405020304" pitchFamily="18" charset="0"/>
                          <a:cs typeface="Times New Roman" panose="02020603050405020304" pitchFamily="18" charset="0"/>
                        </a:rPr>
                        <a:t> system combining edge computing + two independent 2D CNN models trained on packet traffic and packet feature datasets, then weighted their outputs to detect and classify SYN, UDP, ICMP, and mixed flood attacks.</a:t>
                      </a:r>
                      <a:endParaRPr lang="en-GB" sz="1200" b="0" dirty="0">
                        <a:latin typeface="Times New Roman" panose="02020603050405020304" pitchFamily="18" charset="0"/>
                        <a:cs typeface="Times New Roman" panose="02020603050405020304" pitchFamily="18" charset="0"/>
                      </a:endParaRPr>
                    </a:p>
                  </a:txBody>
                  <a:tcPr/>
                </a:tc>
                <a:tc>
                  <a:txBody>
                    <a:bodyPr/>
                    <a:lstStyle/>
                    <a:p>
                      <a:pPr marL="0" lvl="0" indent="0" algn="just">
                        <a:buFont typeface="Arial" panose="020B0604020202020204" pitchFamily="34" charset="0"/>
                        <a:buNone/>
                      </a:pPr>
                      <a:r>
                        <a:rPr lang="en-GB" sz="1200" dirty="0">
                          <a:latin typeface="Times New Roman" panose="02020603050405020304" pitchFamily="18" charset="0"/>
                          <a:cs typeface="Times New Roman" panose="02020603050405020304" pitchFamily="18" charset="0"/>
                        </a:rPr>
                        <a:t>The 2D CNN models achieved very high accuracy (~99.5% on packet traffic dataset, ~99.8% on packet feature dataset)</a:t>
                      </a:r>
                      <a:endParaRPr lang="en-GB" sz="1200" b="0" i="0" u="none" strike="noStrike" noProof="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44016209"/>
                  </a:ext>
                </a:extLst>
              </a:tr>
              <a:tr h="1104456">
                <a:tc>
                  <a:txBody>
                    <a:bodyPr/>
                    <a:lstStyle/>
                    <a:p>
                      <a:pPr lvl="0" algn="just">
                        <a:buNone/>
                      </a:pPr>
                      <a:r>
                        <a:rPr lang="en-GB" sz="1200" dirty="0">
                          <a:latin typeface="Times New Roman" panose="02020603050405020304" pitchFamily="18" charset="0"/>
                          <a:cs typeface="Times New Roman" panose="02020603050405020304" pitchFamily="18" charset="0"/>
                        </a:rPr>
                        <a:t>SDN-Based Architecture for Transport and Application Layer DDoS Attack Detection by Using Machine and Deep Learning</a:t>
                      </a:r>
                      <a:endParaRPr lang="en-GB" sz="1200" b="0" i="0" u="none" strike="noStrike" noProof="0" dirty="0">
                        <a:latin typeface="Times New Roman" panose="02020603050405020304" pitchFamily="18" charset="0"/>
                        <a:cs typeface="Times New Roman" panose="02020603050405020304" pitchFamily="18" charset="0"/>
                      </a:endParaRPr>
                    </a:p>
                  </a:txBody>
                  <a:tcPr/>
                </a:tc>
                <a:tc>
                  <a:txBody>
                    <a:bodyPr/>
                    <a:lstStyle/>
                    <a:p>
                      <a:pPr lvl="0">
                        <a:buNone/>
                      </a:pPr>
                      <a:r>
                        <a:rPr lang="en-IN" sz="1200" dirty="0">
                          <a:latin typeface="Times New Roman" panose="02020603050405020304" pitchFamily="18" charset="0"/>
                          <a:cs typeface="Times New Roman" panose="02020603050405020304" pitchFamily="18" charset="0"/>
                        </a:rPr>
                        <a:t>Noe Marcelo </a:t>
                      </a:r>
                      <a:r>
                        <a:rPr lang="en-IN" sz="1200" dirty="0" err="1">
                          <a:latin typeface="Times New Roman" panose="02020603050405020304" pitchFamily="18" charset="0"/>
                          <a:cs typeface="Times New Roman" panose="02020603050405020304" pitchFamily="18" charset="0"/>
                        </a:rPr>
                        <a:t>Yungaicela</a:t>
                      </a:r>
                      <a:r>
                        <a:rPr lang="en-IN" sz="1200" dirty="0">
                          <a:latin typeface="Times New Roman" panose="02020603050405020304" pitchFamily="18" charset="0"/>
                          <a:cs typeface="Times New Roman" panose="02020603050405020304" pitchFamily="18" charset="0"/>
                        </a:rPr>
                        <a:t>-Naula, Cesar Vargas-Rosales, Jesús Arturo Pérez-Díaz;</a:t>
                      </a:r>
                      <a:endParaRPr lang="en-US" sz="12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latin typeface="Times New Roman" panose="02020603050405020304" pitchFamily="18" charset="0"/>
                          <a:cs typeface="Times New Roman" panose="02020603050405020304" pitchFamily="18" charset="0"/>
                        </a:rPr>
                        <a:t>Publication</a:t>
                      </a:r>
                      <a:r>
                        <a:rPr lang="en-US" sz="1200" dirty="0">
                          <a:latin typeface="Times New Roman" panose="02020603050405020304" pitchFamily="18" charset="0"/>
                          <a:cs typeface="Times New Roman" panose="02020603050405020304" pitchFamily="18" charset="0"/>
                        </a:rPr>
                        <a:t>:</a:t>
                      </a:r>
                      <a:r>
                        <a:rPr lang="en-IN" sz="1200" dirty="0">
                          <a:latin typeface="Times New Roman" panose="02020603050405020304" pitchFamily="18" charset="0"/>
                          <a:cs typeface="Times New Roman" panose="02020603050405020304" pitchFamily="18" charset="0"/>
                        </a:rPr>
                        <a:t>IEEE Access</a:t>
                      </a:r>
                      <a:br>
                        <a:rPr lang="en-US" sz="1200" dirty="0">
                          <a:latin typeface="Times New Roman" panose="02020603050405020304" pitchFamily="18" charset="0"/>
                          <a:cs typeface="Times New Roman" panose="02020603050405020304" pitchFamily="18" charset="0"/>
                        </a:rPr>
                      </a:br>
                      <a:r>
                        <a:rPr lang="en-US" sz="1200" b="1" dirty="0">
                          <a:latin typeface="Times New Roman" panose="02020603050405020304" pitchFamily="18" charset="0"/>
                          <a:cs typeface="Times New Roman" panose="02020603050405020304" pitchFamily="18" charset="0"/>
                        </a:rPr>
                        <a:t>Year</a:t>
                      </a:r>
                      <a:r>
                        <a:rPr lang="en-US" sz="1200" dirty="0">
                          <a:latin typeface="Times New Roman" panose="02020603050405020304" pitchFamily="18" charset="0"/>
                          <a:cs typeface="Times New Roman" panose="02020603050405020304" pitchFamily="18" charset="0"/>
                        </a:rPr>
                        <a:t>: 2021</a:t>
                      </a:r>
                      <a:endParaRPr lang="en-GB" sz="1200" b="0" i="0" u="none" strike="noStrike" noProof="0" dirty="0">
                        <a:latin typeface="Times New Roman" panose="02020603050405020304" pitchFamily="18" charset="0"/>
                        <a:cs typeface="Times New Roman" panose="02020603050405020304" pitchFamily="18" charset="0"/>
                      </a:endParaRPr>
                    </a:p>
                    <a:p>
                      <a:pPr lvl="0">
                        <a:buNone/>
                      </a:pPr>
                      <a:endParaRPr lang="en-GB" dirty="0"/>
                    </a:p>
                  </a:txBody>
                  <a:tcPr/>
                </a:tc>
                <a:tc>
                  <a:txBody>
                    <a:bodyPr/>
                    <a:lstStyle/>
                    <a:p>
                      <a:pPr marL="0" lvl="0" indent="0" algn="just">
                        <a:buFont typeface="Arial"/>
                        <a:buNone/>
                      </a:pPr>
                      <a:r>
                        <a:rPr lang="en-GB" sz="1200" dirty="0">
                          <a:latin typeface="Times New Roman" panose="02020603050405020304" pitchFamily="18" charset="0"/>
                          <a:cs typeface="Times New Roman" panose="02020603050405020304" pitchFamily="18" charset="0"/>
                        </a:rPr>
                        <a:t>Lack of up-to-date datasets and limited simulated or testbed assessment in prior SDN-based DDoS detection work.</a:t>
                      </a:r>
                      <a:endParaRPr lang="en-GB" sz="1200" b="0" i="0" u="none" strike="noStrike" noProof="0" dirty="0">
                        <a:latin typeface="Times New Roman" panose="02020603050405020304" pitchFamily="18" charset="0"/>
                        <a:cs typeface="Times New Roman" panose="02020603050405020304" pitchFamily="18" charset="0"/>
                      </a:endParaRPr>
                    </a:p>
                  </a:txBody>
                  <a:tcPr/>
                </a:tc>
                <a:tc>
                  <a:txBody>
                    <a:bodyPr/>
                    <a:lstStyle/>
                    <a:p>
                      <a:pPr marL="0" lvl="0" indent="0" algn="just">
                        <a:lnSpc>
                          <a:spcPct val="100000"/>
                        </a:lnSpc>
                        <a:spcBef>
                          <a:spcPts val="0"/>
                        </a:spcBef>
                        <a:spcAft>
                          <a:spcPts val="0"/>
                        </a:spcAft>
                        <a:buFont typeface="Arial"/>
                        <a:buNone/>
                      </a:pPr>
                      <a:r>
                        <a:rPr lang="en-IN" sz="1200" dirty="0">
                          <a:latin typeface="Times New Roman" panose="02020603050405020304" pitchFamily="18" charset="0"/>
                          <a:cs typeface="Times New Roman" panose="02020603050405020304" pitchFamily="18" charset="0"/>
                        </a:rPr>
                        <a:t>Designed an SDN-based framework using ML/DL models (SVM, RF, MLP, CNN, LSTM, GRU) with </a:t>
                      </a:r>
                      <a:r>
                        <a:rPr lang="en-IN" sz="1200" dirty="0" err="1">
                          <a:latin typeface="Times New Roman" panose="02020603050405020304" pitchFamily="18" charset="0"/>
                          <a:cs typeface="Times New Roman" panose="02020603050405020304" pitchFamily="18" charset="0"/>
                        </a:rPr>
                        <a:t>CICDoS</a:t>
                      </a:r>
                      <a:r>
                        <a:rPr lang="en-IN" sz="1200" dirty="0">
                          <a:latin typeface="Times New Roman" panose="02020603050405020304" pitchFamily="18" charset="0"/>
                          <a:cs typeface="Times New Roman" panose="02020603050405020304" pitchFamily="18" charset="0"/>
                        </a:rPr>
                        <a:t> datasets and </a:t>
                      </a:r>
                      <a:r>
                        <a:rPr lang="en-IN" sz="1200" dirty="0" err="1">
                          <a:latin typeface="Times New Roman" panose="02020603050405020304" pitchFamily="18" charset="0"/>
                          <a:cs typeface="Times New Roman" panose="02020603050405020304" pitchFamily="18" charset="0"/>
                        </a:rPr>
                        <a:t>Mininet+ONOS</a:t>
                      </a:r>
                      <a:r>
                        <a:rPr lang="en-IN" sz="1200" dirty="0">
                          <a:latin typeface="Times New Roman" panose="02020603050405020304" pitchFamily="18" charset="0"/>
                          <a:cs typeface="Times New Roman" panose="02020603050405020304" pitchFamily="18" charset="0"/>
                        </a:rPr>
                        <a:t> testbed for transport/application-layer DDoS detection.</a:t>
                      </a:r>
                      <a:endParaRPr lang="en-GB" sz="1200" b="0" dirty="0">
                        <a:latin typeface="Times New Roman" panose="02020603050405020304" pitchFamily="18" charset="0"/>
                        <a:cs typeface="Times New Roman" panose="02020603050405020304" pitchFamily="18" charset="0"/>
                      </a:endParaRPr>
                    </a:p>
                  </a:txBody>
                  <a:tcPr/>
                </a:tc>
                <a:tc>
                  <a:txBody>
                    <a:bodyPr/>
                    <a:lstStyle/>
                    <a:p>
                      <a:pPr marL="0" lvl="0" indent="0" algn="just">
                        <a:buFont typeface="Arial" panose="020B0604020202020204" pitchFamily="34" charset="0"/>
                        <a:buNone/>
                      </a:pPr>
                      <a:r>
                        <a:rPr lang="en-GB" sz="1200" dirty="0">
                          <a:latin typeface="Times New Roman" panose="02020603050405020304" pitchFamily="18" charset="0"/>
                          <a:cs typeface="Times New Roman" panose="02020603050405020304" pitchFamily="18" charset="0"/>
                        </a:rPr>
                        <a:t>Achieved &gt;99% accuracy on classifying unseen traffic; detection rates over ~98% for transport-layer attacks and ~95% for application-layer attacks in simulated SDN setup.</a:t>
                      </a:r>
                      <a:endParaRPr lang="en-GB" sz="1200" b="0" i="0" u="none" strike="noStrike" noProof="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67775079"/>
                  </a:ext>
                </a:extLst>
              </a:tr>
            </a:tbl>
          </a:graphicData>
        </a:graphic>
      </p:graphicFrame>
    </p:spTree>
    <p:extLst>
      <p:ext uri="{BB962C8B-B14F-4D97-AF65-F5344CB8AC3E}">
        <p14:creationId xmlns:p14="http://schemas.microsoft.com/office/powerpoint/2010/main" val="31818024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BDE0F-1478-6197-1FB4-0E4A2EC7ED27}"/>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CICDDOS2019 DATASET</a:t>
            </a:r>
          </a:p>
        </p:txBody>
      </p:sp>
      <p:sp>
        <p:nvSpPr>
          <p:cNvPr id="3" name="Text Placeholder 2">
            <a:extLst>
              <a:ext uri="{FF2B5EF4-FFF2-40B4-BE49-F238E27FC236}">
                <a16:creationId xmlns:a16="http://schemas.microsoft.com/office/drawing/2014/main" id="{71F0D9CD-FD04-B66D-AB50-9D8B4BD7E761}"/>
              </a:ext>
            </a:extLst>
          </p:cNvPr>
          <p:cNvSpPr>
            <a:spLocks noGrp="1"/>
          </p:cNvSpPr>
          <p:nvPr>
            <p:ph type="body" idx="1"/>
          </p:nvPr>
        </p:nvSpPr>
        <p:spPr/>
        <p:txBody>
          <a:bodyPr/>
          <a:lstStyle/>
          <a:p>
            <a:pPr algn="just"/>
            <a:r>
              <a:rPr lang="en-US" sz="2000" dirty="0">
                <a:latin typeface="Times New Roman" panose="02020603050405020304" pitchFamily="18" charset="0"/>
                <a:cs typeface="Times New Roman" panose="02020603050405020304" pitchFamily="18" charset="0"/>
              </a:rPr>
              <a:t>Developed by the </a:t>
            </a:r>
            <a:r>
              <a:rPr lang="en-US" sz="2000" b="1" dirty="0">
                <a:latin typeface="Times New Roman" panose="02020603050405020304" pitchFamily="18" charset="0"/>
                <a:cs typeface="Times New Roman" panose="02020603050405020304" pitchFamily="18" charset="0"/>
              </a:rPr>
              <a:t>Canadian Institute for Cybersecurity (CIC)</a:t>
            </a:r>
            <a:r>
              <a:rPr lang="en-US" sz="2000" dirty="0">
                <a:latin typeface="Times New Roman" panose="02020603050405020304" pitchFamily="18" charset="0"/>
                <a:cs typeface="Times New Roman" panose="02020603050405020304" pitchFamily="18" charset="0"/>
              </a:rPr>
              <a:t> in 2019</a:t>
            </a:r>
          </a:p>
          <a:p>
            <a:pPr algn="just"/>
            <a:r>
              <a:rPr lang="en-IN" sz="2000" dirty="0">
                <a:latin typeface="Times New Roman" panose="02020603050405020304" pitchFamily="18" charset="0"/>
                <a:cs typeface="Times New Roman" panose="02020603050405020304" pitchFamily="18" charset="0"/>
              </a:rPr>
              <a:t>Contains </a:t>
            </a:r>
            <a:r>
              <a:rPr lang="en-IN" sz="2000" b="1" dirty="0">
                <a:latin typeface="Times New Roman" panose="02020603050405020304" pitchFamily="18" charset="0"/>
                <a:cs typeface="Times New Roman" panose="02020603050405020304" pitchFamily="18" charset="0"/>
              </a:rPr>
              <a:t>benign traffic</a:t>
            </a:r>
            <a:r>
              <a:rPr lang="en-IN" sz="2000" dirty="0">
                <a:latin typeface="Times New Roman" panose="02020603050405020304" pitchFamily="18" charset="0"/>
                <a:cs typeface="Times New Roman" panose="02020603050405020304" pitchFamily="18" charset="0"/>
              </a:rPr>
              <a:t> and </a:t>
            </a:r>
            <a:r>
              <a:rPr lang="en-IN" sz="2000" b="1" dirty="0">
                <a:latin typeface="Times New Roman" panose="02020603050405020304" pitchFamily="18" charset="0"/>
                <a:cs typeface="Times New Roman" panose="02020603050405020304" pitchFamily="18" charset="0"/>
              </a:rPr>
              <a:t>12 types of DDoS attacks</a:t>
            </a:r>
            <a:r>
              <a:rPr lang="en-IN" sz="2000" dirty="0">
                <a:latin typeface="Times New Roman" panose="02020603050405020304" pitchFamily="18" charset="0"/>
                <a:cs typeface="Times New Roman" panose="02020603050405020304" pitchFamily="18" charset="0"/>
              </a:rPr>
              <a:t> (UDP Flood, TCP SYN Flood, HTTP Flood, ICMP Flood, DNS Flood, etc.)</a:t>
            </a:r>
          </a:p>
          <a:p>
            <a:pPr algn="just"/>
            <a:r>
              <a:rPr lang="en-US" sz="2000" dirty="0">
                <a:latin typeface="Times New Roman" panose="02020603050405020304" pitchFamily="18" charset="0"/>
                <a:cs typeface="Times New Roman" panose="02020603050405020304" pitchFamily="18" charset="0"/>
              </a:rPr>
              <a:t>Includes approximately </a:t>
            </a:r>
            <a:r>
              <a:rPr lang="en-US" sz="2000" b="1" dirty="0">
                <a:latin typeface="Times New Roman" panose="02020603050405020304" pitchFamily="18" charset="0"/>
                <a:cs typeface="Times New Roman" panose="02020603050405020304" pitchFamily="18" charset="0"/>
              </a:rPr>
              <a:t>0.43 million flow records</a:t>
            </a:r>
          </a:p>
          <a:p>
            <a:pPr algn="just"/>
            <a:r>
              <a:rPr lang="en-US" sz="2000" dirty="0">
                <a:latin typeface="Times New Roman" panose="02020603050405020304" pitchFamily="18" charset="0"/>
                <a:cs typeface="Times New Roman" panose="02020603050405020304" pitchFamily="18" charset="0"/>
              </a:rPr>
              <a:t>Each flow is characterized by </a:t>
            </a:r>
            <a:r>
              <a:rPr lang="en-US" sz="2000" b="1" dirty="0">
                <a:latin typeface="Times New Roman" panose="02020603050405020304" pitchFamily="18" charset="0"/>
                <a:cs typeface="Times New Roman" panose="02020603050405020304" pitchFamily="18" charset="0"/>
              </a:rPr>
              <a:t>over eighty statistical and header-based features</a:t>
            </a:r>
          </a:p>
          <a:p>
            <a:pPr algn="just"/>
            <a:r>
              <a:rPr lang="en-US" sz="2000" dirty="0">
                <a:latin typeface="Times New Roman" panose="02020603050405020304" pitchFamily="18" charset="0"/>
                <a:cs typeface="Times New Roman" panose="02020603050405020304" pitchFamily="18" charset="0"/>
              </a:rPr>
              <a:t>Widely recognized as a </a:t>
            </a:r>
            <a:r>
              <a:rPr lang="en-US" sz="2000" b="1" dirty="0">
                <a:latin typeface="Times New Roman" panose="02020603050405020304" pitchFamily="18" charset="0"/>
                <a:cs typeface="Times New Roman" panose="02020603050405020304" pitchFamily="18" charset="0"/>
              </a:rPr>
              <a:t>benchmark dataset</a:t>
            </a:r>
            <a:r>
              <a:rPr lang="en-US" sz="2000" dirty="0">
                <a:latin typeface="Times New Roman" panose="02020603050405020304" pitchFamily="18" charset="0"/>
                <a:cs typeface="Times New Roman" panose="02020603050405020304" pitchFamily="18" charset="0"/>
              </a:rPr>
              <a:t> for machine learning and deep learning-based DDoS detection research</a:t>
            </a:r>
          </a:p>
          <a:p>
            <a:pPr algn="just"/>
            <a:r>
              <a:rPr lang="en-US" sz="2000" dirty="0">
                <a:latin typeface="Times New Roman" panose="02020603050405020304" pitchFamily="18" charset="0"/>
                <a:cs typeface="Times New Roman" panose="02020603050405020304" pitchFamily="18" charset="0"/>
              </a:rPr>
              <a:t>We used CICDDoS2019 because it is a standard benchmark dataset with twelve types of DDoS attacks and over four hundred thirty-one thousand records. It is well-validated, widely used in research, and ensures our results are comparable with existing studies. Newer datasets are not as standardized or extensively validated.</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53169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26A44-B6BF-5632-9082-0C1368597936}"/>
            </a:ext>
          </a:extLst>
        </p:cNvPr>
        <p:cNvGrpSpPr/>
        <p:nvPr/>
      </p:nvGrpSpPr>
      <p:grpSpPr>
        <a:xfrm>
          <a:off x="0" y="0"/>
          <a:ext cx="0" cy="0"/>
          <a:chOff x="0" y="0"/>
          <a:chExt cx="0" cy="0"/>
        </a:xfrm>
      </p:grpSpPr>
      <p:pic>
        <p:nvPicPr>
          <p:cNvPr id="61" name="Picture 60">
            <a:extLst>
              <a:ext uri="{FF2B5EF4-FFF2-40B4-BE49-F238E27FC236}">
                <a16:creationId xmlns:a16="http://schemas.microsoft.com/office/drawing/2014/main" id="{9D7EC429-8476-192F-6C44-8618955FFA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699"/>
            <a:ext cx="12192000" cy="552527"/>
          </a:xfrm>
          <a:prstGeom prst="rect">
            <a:avLst/>
          </a:prstGeom>
        </p:spPr>
      </p:pic>
      <p:pic>
        <p:nvPicPr>
          <p:cNvPr id="63" name="Picture 62">
            <a:extLst>
              <a:ext uri="{FF2B5EF4-FFF2-40B4-BE49-F238E27FC236}">
                <a16:creationId xmlns:a16="http://schemas.microsoft.com/office/drawing/2014/main" id="{A92F0C3B-2F91-4060-37E9-C20BDFBA740E}"/>
              </a:ext>
            </a:extLst>
          </p:cNvPr>
          <p:cNvPicPr>
            <a:picLocks noChangeAspect="1"/>
          </p:cNvPicPr>
          <p:nvPr/>
        </p:nvPicPr>
        <p:blipFill>
          <a:blip r:embed="rId3"/>
          <a:stretch>
            <a:fillRect/>
          </a:stretch>
        </p:blipFill>
        <p:spPr>
          <a:xfrm>
            <a:off x="0" y="6391210"/>
            <a:ext cx="12191999" cy="466790"/>
          </a:xfrm>
          <a:prstGeom prst="rect">
            <a:avLst/>
          </a:prstGeom>
        </p:spPr>
      </p:pic>
      <p:sp>
        <p:nvSpPr>
          <p:cNvPr id="16" name="Rectangle: Rounded Corners 15">
            <a:extLst>
              <a:ext uri="{FF2B5EF4-FFF2-40B4-BE49-F238E27FC236}">
                <a16:creationId xmlns:a16="http://schemas.microsoft.com/office/drawing/2014/main" id="{611FFB19-10A7-C5D8-0005-AE49125D03CD}"/>
              </a:ext>
            </a:extLst>
          </p:cNvPr>
          <p:cNvSpPr/>
          <p:nvPr/>
        </p:nvSpPr>
        <p:spPr>
          <a:xfrm>
            <a:off x="4327452" y="815469"/>
            <a:ext cx="1967022" cy="994485"/>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Rectangle: Rounded Corners 16">
            <a:extLst>
              <a:ext uri="{FF2B5EF4-FFF2-40B4-BE49-F238E27FC236}">
                <a16:creationId xmlns:a16="http://schemas.microsoft.com/office/drawing/2014/main" id="{F0DEEB1C-D82A-A375-87A8-7D0EEF5526E3}"/>
              </a:ext>
            </a:extLst>
          </p:cNvPr>
          <p:cNvSpPr/>
          <p:nvPr/>
        </p:nvSpPr>
        <p:spPr>
          <a:xfrm>
            <a:off x="8371374" y="2353691"/>
            <a:ext cx="2449023" cy="1455472"/>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8" name="Rectangle: Rounded Corners 17">
            <a:extLst>
              <a:ext uri="{FF2B5EF4-FFF2-40B4-BE49-F238E27FC236}">
                <a16:creationId xmlns:a16="http://schemas.microsoft.com/office/drawing/2014/main" id="{D023DE6D-7DCA-C8C1-1F70-01BEBC2288FF}"/>
              </a:ext>
            </a:extLst>
          </p:cNvPr>
          <p:cNvSpPr/>
          <p:nvPr/>
        </p:nvSpPr>
        <p:spPr>
          <a:xfrm>
            <a:off x="8353646" y="804491"/>
            <a:ext cx="2408359" cy="994485"/>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Rounded Corners 18">
            <a:extLst>
              <a:ext uri="{FF2B5EF4-FFF2-40B4-BE49-F238E27FC236}">
                <a16:creationId xmlns:a16="http://schemas.microsoft.com/office/drawing/2014/main" id="{4EC34D26-5329-ED35-D53A-D63F21716620}"/>
              </a:ext>
            </a:extLst>
          </p:cNvPr>
          <p:cNvSpPr/>
          <p:nvPr/>
        </p:nvSpPr>
        <p:spPr>
          <a:xfrm>
            <a:off x="8261497" y="4435903"/>
            <a:ext cx="2314353" cy="1710208"/>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Rounded Corners 19">
            <a:extLst>
              <a:ext uri="{FF2B5EF4-FFF2-40B4-BE49-F238E27FC236}">
                <a16:creationId xmlns:a16="http://schemas.microsoft.com/office/drawing/2014/main" id="{613FE6CC-B882-3154-F21B-0B9FF260474D}"/>
              </a:ext>
            </a:extLst>
          </p:cNvPr>
          <p:cNvSpPr/>
          <p:nvPr/>
        </p:nvSpPr>
        <p:spPr>
          <a:xfrm>
            <a:off x="3653782" y="2198371"/>
            <a:ext cx="2574417" cy="1710209"/>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1" name="Rectangle: Rounded Corners 20">
            <a:extLst>
              <a:ext uri="{FF2B5EF4-FFF2-40B4-BE49-F238E27FC236}">
                <a16:creationId xmlns:a16="http://schemas.microsoft.com/office/drawing/2014/main" id="{C7A21AAD-DF07-999D-4624-DDC3E1F37F7B}"/>
              </a:ext>
            </a:extLst>
          </p:cNvPr>
          <p:cNvSpPr/>
          <p:nvPr/>
        </p:nvSpPr>
        <p:spPr>
          <a:xfrm>
            <a:off x="1429993" y="4415258"/>
            <a:ext cx="1967022" cy="1710209"/>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2" name="AutoShape 2" descr="Cheetah PNG transparent image download, size: 580x401px">
            <a:extLst>
              <a:ext uri="{FF2B5EF4-FFF2-40B4-BE49-F238E27FC236}">
                <a16:creationId xmlns:a16="http://schemas.microsoft.com/office/drawing/2014/main" id="{25CF1E3D-C53F-8253-6DBA-60985E95CEA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cxnSp>
        <p:nvCxnSpPr>
          <p:cNvPr id="29" name="Straight Connector 28">
            <a:extLst>
              <a:ext uri="{FF2B5EF4-FFF2-40B4-BE49-F238E27FC236}">
                <a16:creationId xmlns:a16="http://schemas.microsoft.com/office/drawing/2014/main" id="{061E442F-2CB4-850E-7D75-DCDD07DEE1AF}"/>
              </a:ext>
            </a:extLst>
          </p:cNvPr>
          <p:cNvCxnSpPr/>
          <p:nvPr/>
        </p:nvCxnSpPr>
        <p:spPr>
          <a:xfrm>
            <a:off x="2042160" y="1849120"/>
            <a:ext cx="0" cy="52832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61D125B2-5129-A0C3-B04E-126BE4440FF3}"/>
              </a:ext>
            </a:extLst>
          </p:cNvPr>
          <p:cNvCxnSpPr/>
          <p:nvPr/>
        </p:nvCxnSpPr>
        <p:spPr>
          <a:xfrm>
            <a:off x="2556502" y="1930913"/>
            <a:ext cx="0" cy="52832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C595576-1AED-785D-4609-75F5F1DD052D}"/>
              </a:ext>
            </a:extLst>
          </p:cNvPr>
          <p:cNvCxnSpPr/>
          <p:nvPr/>
        </p:nvCxnSpPr>
        <p:spPr>
          <a:xfrm>
            <a:off x="3139440" y="1756026"/>
            <a:ext cx="0" cy="52832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2" name="Flowchart: Connector 31">
            <a:extLst>
              <a:ext uri="{FF2B5EF4-FFF2-40B4-BE49-F238E27FC236}">
                <a16:creationId xmlns:a16="http://schemas.microsoft.com/office/drawing/2014/main" id="{B08DEA0D-81FF-17C5-6B28-EB51F4901178}"/>
              </a:ext>
            </a:extLst>
          </p:cNvPr>
          <p:cNvSpPr/>
          <p:nvPr/>
        </p:nvSpPr>
        <p:spPr>
          <a:xfrm>
            <a:off x="1960880" y="2377440"/>
            <a:ext cx="162556" cy="160786"/>
          </a:xfrm>
          <a:prstGeom prst="flowChartConnector">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Flowchart: Connector 32">
            <a:extLst>
              <a:ext uri="{FF2B5EF4-FFF2-40B4-BE49-F238E27FC236}">
                <a16:creationId xmlns:a16="http://schemas.microsoft.com/office/drawing/2014/main" id="{62D07500-F4C1-3A27-4A0F-70F24C3C945B}"/>
              </a:ext>
            </a:extLst>
          </p:cNvPr>
          <p:cNvSpPr/>
          <p:nvPr/>
        </p:nvSpPr>
        <p:spPr>
          <a:xfrm>
            <a:off x="3058160" y="2265680"/>
            <a:ext cx="162556" cy="160786"/>
          </a:xfrm>
          <a:prstGeom prst="flowChartConnector">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Flowchart: Connector 33">
            <a:extLst>
              <a:ext uri="{FF2B5EF4-FFF2-40B4-BE49-F238E27FC236}">
                <a16:creationId xmlns:a16="http://schemas.microsoft.com/office/drawing/2014/main" id="{78C79A3F-8033-2282-42E1-EE3840F8BDB6}"/>
              </a:ext>
            </a:extLst>
          </p:cNvPr>
          <p:cNvSpPr/>
          <p:nvPr/>
        </p:nvSpPr>
        <p:spPr>
          <a:xfrm>
            <a:off x="2479040" y="2458720"/>
            <a:ext cx="162556" cy="160786"/>
          </a:xfrm>
          <a:prstGeom prst="flowChartConnector">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3" name="Straight Arrow Connector 42">
            <a:extLst>
              <a:ext uri="{FF2B5EF4-FFF2-40B4-BE49-F238E27FC236}">
                <a16:creationId xmlns:a16="http://schemas.microsoft.com/office/drawing/2014/main" id="{04DD99BF-E4AA-A2BE-3294-634351562DFD}"/>
              </a:ext>
            </a:extLst>
          </p:cNvPr>
          <p:cNvCxnSpPr>
            <a:cxnSpLocks/>
            <a:stCxn id="26" idx="0"/>
          </p:cNvCxnSpPr>
          <p:nvPr/>
        </p:nvCxnSpPr>
        <p:spPr>
          <a:xfrm flipV="1">
            <a:off x="3551664" y="1301733"/>
            <a:ext cx="775788"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9C6C28CB-9922-A91E-33E3-BE09311219F2}"/>
              </a:ext>
            </a:extLst>
          </p:cNvPr>
          <p:cNvCxnSpPr>
            <a:cxnSpLocks/>
            <a:stCxn id="17" idx="1"/>
            <a:endCxn id="20" idx="3"/>
          </p:cNvCxnSpPr>
          <p:nvPr/>
        </p:nvCxnSpPr>
        <p:spPr>
          <a:xfrm flipH="1" flipV="1">
            <a:off x="6228199" y="3053476"/>
            <a:ext cx="2143175" cy="2795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13DB9039-DD1A-2FA5-5EA7-983145D4D281}"/>
              </a:ext>
            </a:extLst>
          </p:cNvPr>
          <p:cNvCxnSpPr>
            <a:cxnSpLocks/>
            <a:stCxn id="16" idx="3"/>
            <a:endCxn id="18" idx="1"/>
          </p:cNvCxnSpPr>
          <p:nvPr/>
        </p:nvCxnSpPr>
        <p:spPr>
          <a:xfrm flipV="1">
            <a:off x="6294474" y="1301734"/>
            <a:ext cx="2059172" cy="1097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B551D6E2-8FE8-FF8C-B1FA-6B231BCF973F}"/>
              </a:ext>
            </a:extLst>
          </p:cNvPr>
          <p:cNvCxnSpPr>
            <a:cxnSpLocks/>
          </p:cNvCxnSpPr>
          <p:nvPr/>
        </p:nvCxnSpPr>
        <p:spPr>
          <a:xfrm>
            <a:off x="9361778" y="1849120"/>
            <a:ext cx="0" cy="46670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B6AE6CA0-5E4F-DAA1-53A0-1106B8EB38E4}"/>
              </a:ext>
            </a:extLst>
          </p:cNvPr>
          <p:cNvCxnSpPr>
            <a:cxnSpLocks/>
          </p:cNvCxnSpPr>
          <p:nvPr/>
        </p:nvCxnSpPr>
        <p:spPr>
          <a:xfrm flipH="1">
            <a:off x="9379050" y="3816414"/>
            <a:ext cx="17728" cy="55471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Connector: Curved 77">
            <a:extLst>
              <a:ext uri="{FF2B5EF4-FFF2-40B4-BE49-F238E27FC236}">
                <a16:creationId xmlns:a16="http://schemas.microsoft.com/office/drawing/2014/main" id="{C1D17E2B-8AF1-0662-779E-AC4F79DC4578}"/>
              </a:ext>
            </a:extLst>
          </p:cNvPr>
          <p:cNvCxnSpPr>
            <a:cxnSpLocks/>
            <a:stCxn id="20" idx="1"/>
            <a:endCxn id="21" idx="0"/>
          </p:cNvCxnSpPr>
          <p:nvPr/>
        </p:nvCxnSpPr>
        <p:spPr>
          <a:xfrm rot="10800000" flipV="1">
            <a:off x="2413504" y="3053476"/>
            <a:ext cx="1240278" cy="1361782"/>
          </a:xfrm>
          <a:prstGeom prst="curved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23CCD0BB-A8EA-50DA-23B9-4755561216AC}"/>
              </a:ext>
            </a:extLst>
          </p:cNvPr>
          <p:cNvCxnSpPr>
            <a:cxnSpLocks/>
            <a:stCxn id="21" idx="3"/>
            <a:endCxn id="19" idx="1"/>
          </p:cNvCxnSpPr>
          <p:nvPr/>
        </p:nvCxnSpPr>
        <p:spPr>
          <a:xfrm>
            <a:off x="3397015" y="5270363"/>
            <a:ext cx="4864482" cy="2064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Cloud 25">
            <a:extLst>
              <a:ext uri="{FF2B5EF4-FFF2-40B4-BE49-F238E27FC236}">
                <a16:creationId xmlns:a16="http://schemas.microsoft.com/office/drawing/2014/main" id="{A1F424A0-3649-9866-5608-14A47ECD8B9F}"/>
              </a:ext>
            </a:extLst>
          </p:cNvPr>
          <p:cNvSpPr/>
          <p:nvPr/>
        </p:nvSpPr>
        <p:spPr>
          <a:xfrm>
            <a:off x="1429993" y="621841"/>
            <a:ext cx="2123441" cy="1359786"/>
          </a:xfrm>
          <a:prstGeom prst="cloud">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4" name="Picture 93">
            <a:extLst>
              <a:ext uri="{FF2B5EF4-FFF2-40B4-BE49-F238E27FC236}">
                <a16:creationId xmlns:a16="http://schemas.microsoft.com/office/drawing/2014/main" id="{3C5FEF10-9FF1-718A-6E4A-FBAE70C64C29}"/>
              </a:ext>
            </a:extLst>
          </p:cNvPr>
          <p:cNvPicPr>
            <a:picLocks noChangeAspect="1"/>
          </p:cNvPicPr>
          <p:nvPr/>
        </p:nvPicPr>
        <p:blipFill>
          <a:blip r:embed="rId4" cstate="print">
            <a:extLst>
              <a:ext uri="{BEBA8EAE-BF5A-486C-A8C5-ECC9F3942E4B}">
                <a14:imgProps xmlns:a14="http://schemas.microsoft.com/office/drawing/2010/main">
                  <a14:imgLayer r:embed="rId5">
                    <a14:imgEffect>
                      <a14:backgroundRemoval t="2857" b="97449" l="1406" r="98506">
                        <a14:foregroundMark x1="8963" y1="26633" x2="8963" y2="26633"/>
                        <a14:foregroundMark x1="8963" y1="26633" x2="8963" y2="26633"/>
                        <a14:foregroundMark x1="8963" y1="26633" x2="8963" y2="26633"/>
                        <a14:foregroundMark x1="8963" y1="26633" x2="8963" y2="26633"/>
                        <a14:foregroundMark x1="8963" y1="26633" x2="8963" y2="26633"/>
                        <a14:foregroundMark x1="8963" y1="26633" x2="4306" y2="28265"/>
                        <a14:foregroundMark x1="7381" y1="55102" x2="3603" y2="52041"/>
                        <a14:foregroundMark x1="5360" y1="80102" x2="3163" y2="75918"/>
                        <a14:foregroundMark x1="3603" y1="50612" x2="1406" y2="54286"/>
                        <a14:foregroundMark x1="1933" y1="27143" x2="1494" y2="28776"/>
                        <a14:foregroundMark x1="62478" y1="89388" x2="59227" y2="93061"/>
                        <a14:foregroundMark x1="76538" y1="97143" x2="83128" y2="97653"/>
                        <a14:foregroundMark x1="83128" y1="97653" x2="85149" y2="94490"/>
                        <a14:foregroundMark x1="93849" y1="74184" x2="92267" y2="77959"/>
                        <a14:foregroundMark x1="94991" y1="50102" x2="93937" y2="50102"/>
                        <a14:foregroundMark x1="80756" y1="34490" x2="81810" y2="40306"/>
                        <a14:foregroundMark x1="93234" y1="27143" x2="95870" y2="26429"/>
                        <a14:foregroundMark x1="95606" y1="7041" x2="94991" y2="8367"/>
                        <a14:foregroundMark x1="91388" y1="6531" x2="93409" y2="5510"/>
                        <a14:foregroundMark x1="95167" y1="2857" x2="98506" y2="8571"/>
                        <a14:backgroundMark x1="5185" y1="31531" x2="5185" y2="31531"/>
                        <a14:backgroundMark x1="5185" y1="31531" x2="5185" y2="31531"/>
                        <a14:backgroundMark x1="6942" y1="29796" x2="6942" y2="29796"/>
                        <a14:backgroundMark x1="6942" y1="29796" x2="6942" y2="29796"/>
                        <a14:backgroundMark x1="99385" y1="1939" x2="99385" y2="1939"/>
                      </a14:backgroundRemoval>
                    </a14:imgEffect>
                  </a14:imgLayer>
                </a14:imgProps>
              </a:ext>
              <a:ext uri="{28A0092B-C50C-407E-A947-70E740481C1C}">
                <a14:useLocalDpi xmlns:a14="http://schemas.microsoft.com/office/drawing/2010/main" val="0"/>
              </a:ext>
            </a:extLst>
          </a:blip>
          <a:stretch>
            <a:fillRect/>
          </a:stretch>
        </p:blipFill>
        <p:spPr>
          <a:xfrm>
            <a:off x="4180797" y="2265680"/>
            <a:ext cx="1604568" cy="956096"/>
          </a:xfrm>
          <a:prstGeom prst="rect">
            <a:avLst/>
          </a:prstGeom>
        </p:spPr>
      </p:pic>
      <p:sp>
        <p:nvSpPr>
          <p:cNvPr id="95" name="TextBox 94">
            <a:extLst>
              <a:ext uri="{FF2B5EF4-FFF2-40B4-BE49-F238E27FC236}">
                <a16:creationId xmlns:a16="http://schemas.microsoft.com/office/drawing/2014/main" id="{778DD037-116F-2D07-CFEF-6EBB6575E353}"/>
              </a:ext>
            </a:extLst>
          </p:cNvPr>
          <p:cNvSpPr txBox="1"/>
          <p:nvPr/>
        </p:nvSpPr>
        <p:spPr>
          <a:xfrm>
            <a:off x="3587403" y="3210619"/>
            <a:ext cx="2724977" cy="707886"/>
          </a:xfrm>
          <a:prstGeom prst="rect">
            <a:avLst/>
          </a:prstGeom>
          <a:noFill/>
        </p:spPr>
        <p:txBody>
          <a:bodyPr wrap="square" rtlCol="0">
            <a:spAutoFit/>
          </a:bodyPr>
          <a:lstStyle/>
          <a:p>
            <a:pPr algn="ctr"/>
            <a:r>
              <a:rPr lang="en-IN" sz="2000" b="1" dirty="0"/>
              <a:t>DEEP LEARNING</a:t>
            </a:r>
            <a:br>
              <a:rPr lang="en-IN" sz="2000" b="1" dirty="0"/>
            </a:br>
            <a:r>
              <a:rPr lang="en-IN" sz="2000" b="1" dirty="0"/>
              <a:t>CNN</a:t>
            </a:r>
          </a:p>
        </p:txBody>
      </p:sp>
      <p:pic>
        <p:nvPicPr>
          <p:cNvPr id="97" name="Picture 96">
            <a:extLst>
              <a:ext uri="{FF2B5EF4-FFF2-40B4-BE49-F238E27FC236}">
                <a16:creationId xmlns:a16="http://schemas.microsoft.com/office/drawing/2014/main" id="{77FCEB54-410B-B5BC-29E0-53106E6AB413}"/>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1575" b="98031" l="9877" r="89712">
                        <a14:foregroundMark x1="37860" y1="14567" x2="54321" y2="9843"/>
                        <a14:foregroundMark x1="37860" y1="16535" x2="60082" y2="16929"/>
                        <a14:foregroundMark x1="60082" y1="16929" x2="43210" y2="16929"/>
                        <a14:foregroundMark x1="48560" y1="11024" x2="51029" y2="6693"/>
                        <a14:foregroundMark x1="84774" y1="14173" x2="86831" y2="24409"/>
                        <a14:foregroundMark x1="86831" y1="24409" x2="84362" y2="89370"/>
                        <a14:foregroundMark x1="84362" y1="89370" x2="16461" y2="90551"/>
                        <a14:foregroundMark x1="16461" y1="90551" x2="15226" y2="85827"/>
                        <a14:foregroundMark x1="13580" y1="90551" x2="19542" y2="96888"/>
                        <a14:foregroundMark x1="57202" y1="7087" x2="52675" y2="1575"/>
                        <a14:backgroundMark x1="24691" y1="99606" x2="20165" y2="98031"/>
                      </a14:backgroundRemoval>
                    </a14:imgEffect>
                  </a14:imgLayer>
                </a14:imgProps>
              </a:ext>
              <a:ext uri="{28A0092B-C50C-407E-A947-70E740481C1C}">
                <a14:useLocalDpi xmlns:a14="http://schemas.microsoft.com/office/drawing/2010/main" val="0"/>
              </a:ext>
            </a:extLst>
          </a:blip>
          <a:stretch>
            <a:fillRect/>
          </a:stretch>
        </p:blipFill>
        <p:spPr>
          <a:xfrm>
            <a:off x="8773354" y="4405056"/>
            <a:ext cx="1211393" cy="1150880"/>
          </a:xfrm>
          <a:prstGeom prst="rect">
            <a:avLst/>
          </a:prstGeom>
        </p:spPr>
      </p:pic>
      <p:sp>
        <p:nvSpPr>
          <p:cNvPr id="98" name="TextBox 97">
            <a:extLst>
              <a:ext uri="{FF2B5EF4-FFF2-40B4-BE49-F238E27FC236}">
                <a16:creationId xmlns:a16="http://schemas.microsoft.com/office/drawing/2014/main" id="{8CB469DD-2802-EF3C-1648-642CDD560B12}"/>
              </a:ext>
            </a:extLst>
          </p:cNvPr>
          <p:cNvSpPr txBox="1"/>
          <p:nvPr/>
        </p:nvSpPr>
        <p:spPr>
          <a:xfrm>
            <a:off x="8529583" y="5607201"/>
            <a:ext cx="1698936" cy="369332"/>
          </a:xfrm>
          <a:prstGeom prst="rect">
            <a:avLst/>
          </a:prstGeom>
          <a:noFill/>
        </p:spPr>
        <p:txBody>
          <a:bodyPr wrap="square" rtlCol="0">
            <a:spAutoFit/>
          </a:bodyPr>
          <a:lstStyle/>
          <a:p>
            <a:pPr algn="ctr"/>
            <a:r>
              <a:rPr lang="en-IN" b="1" dirty="0"/>
              <a:t>EVALUATION</a:t>
            </a:r>
            <a:r>
              <a:rPr lang="en-IN" dirty="0"/>
              <a:t> </a:t>
            </a:r>
          </a:p>
        </p:txBody>
      </p:sp>
      <p:sp>
        <p:nvSpPr>
          <p:cNvPr id="118" name="TextBox 117">
            <a:extLst>
              <a:ext uri="{FF2B5EF4-FFF2-40B4-BE49-F238E27FC236}">
                <a16:creationId xmlns:a16="http://schemas.microsoft.com/office/drawing/2014/main" id="{1281FAA9-1313-70C9-5845-3B78AE6DDAFD}"/>
              </a:ext>
            </a:extLst>
          </p:cNvPr>
          <p:cNvSpPr txBox="1"/>
          <p:nvPr/>
        </p:nvSpPr>
        <p:spPr>
          <a:xfrm>
            <a:off x="8529583" y="2676357"/>
            <a:ext cx="2006644" cy="707886"/>
          </a:xfrm>
          <a:prstGeom prst="rect">
            <a:avLst/>
          </a:prstGeom>
          <a:noFill/>
        </p:spPr>
        <p:txBody>
          <a:bodyPr wrap="square" rtlCol="0">
            <a:spAutoFit/>
          </a:bodyPr>
          <a:lstStyle/>
          <a:p>
            <a:pPr algn="ctr"/>
            <a:r>
              <a:rPr lang="en-IN" sz="2000" b="1" dirty="0"/>
              <a:t>FEATURE ENGINEERING</a:t>
            </a:r>
          </a:p>
        </p:txBody>
      </p:sp>
      <p:sp>
        <p:nvSpPr>
          <p:cNvPr id="124" name="TextBox 123">
            <a:extLst>
              <a:ext uri="{FF2B5EF4-FFF2-40B4-BE49-F238E27FC236}">
                <a16:creationId xmlns:a16="http://schemas.microsoft.com/office/drawing/2014/main" id="{A2A5AD4E-246F-81BA-EA37-1C78DEAAA2D9}"/>
              </a:ext>
            </a:extLst>
          </p:cNvPr>
          <p:cNvSpPr txBox="1"/>
          <p:nvPr/>
        </p:nvSpPr>
        <p:spPr>
          <a:xfrm>
            <a:off x="4386757" y="913040"/>
            <a:ext cx="1851543" cy="707886"/>
          </a:xfrm>
          <a:prstGeom prst="rect">
            <a:avLst/>
          </a:prstGeom>
          <a:noFill/>
        </p:spPr>
        <p:txBody>
          <a:bodyPr wrap="square" rtlCol="0">
            <a:spAutoFit/>
          </a:bodyPr>
          <a:lstStyle/>
          <a:p>
            <a:pPr algn="ctr"/>
            <a:r>
              <a:rPr lang="en-IN" sz="2000" b="1" dirty="0"/>
              <a:t>DATA COLLECTION</a:t>
            </a:r>
          </a:p>
        </p:txBody>
      </p:sp>
      <p:sp>
        <p:nvSpPr>
          <p:cNvPr id="125" name="TextBox 124">
            <a:extLst>
              <a:ext uri="{FF2B5EF4-FFF2-40B4-BE49-F238E27FC236}">
                <a16:creationId xmlns:a16="http://schemas.microsoft.com/office/drawing/2014/main" id="{3E0DEF82-B311-0341-C96F-3FDECE69A0EB}"/>
              </a:ext>
            </a:extLst>
          </p:cNvPr>
          <p:cNvSpPr txBox="1"/>
          <p:nvPr/>
        </p:nvSpPr>
        <p:spPr>
          <a:xfrm>
            <a:off x="8261497" y="892537"/>
            <a:ext cx="2500508" cy="707886"/>
          </a:xfrm>
          <a:prstGeom prst="rect">
            <a:avLst/>
          </a:prstGeom>
          <a:noFill/>
        </p:spPr>
        <p:txBody>
          <a:bodyPr wrap="square" rtlCol="0">
            <a:spAutoFit/>
          </a:bodyPr>
          <a:lstStyle/>
          <a:p>
            <a:pPr algn="ctr"/>
            <a:r>
              <a:rPr lang="en-IN" sz="2000" b="1" dirty="0"/>
              <a:t>DATA PREPROCESSING</a:t>
            </a:r>
          </a:p>
        </p:txBody>
      </p:sp>
      <p:sp>
        <p:nvSpPr>
          <p:cNvPr id="126" name="TextBox 125">
            <a:extLst>
              <a:ext uri="{FF2B5EF4-FFF2-40B4-BE49-F238E27FC236}">
                <a16:creationId xmlns:a16="http://schemas.microsoft.com/office/drawing/2014/main" id="{D984FA03-DEB8-EC72-4A20-F29DAFEDA120}"/>
              </a:ext>
            </a:extLst>
          </p:cNvPr>
          <p:cNvSpPr txBox="1"/>
          <p:nvPr/>
        </p:nvSpPr>
        <p:spPr>
          <a:xfrm>
            <a:off x="1688527" y="1024466"/>
            <a:ext cx="1543710" cy="477054"/>
          </a:xfrm>
          <a:prstGeom prst="rect">
            <a:avLst/>
          </a:prstGeom>
          <a:noFill/>
        </p:spPr>
        <p:txBody>
          <a:bodyPr wrap="square" rtlCol="0">
            <a:spAutoFit/>
          </a:bodyPr>
          <a:lstStyle/>
          <a:p>
            <a:pPr algn="ctr"/>
            <a:r>
              <a:rPr lang="en-IN" sz="2500" b="1" dirty="0"/>
              <a:t>IoT</a:t>
            </a:r>
          </a:p>
        </p:txBody>
      </p:sp>
      <p:sp>
        <p:nvSpPr>
          <p:cNvPr id="128" name="TextBox 127">
            <a:extLst>
              <a:ext uri="{FF2B5EF4-FFF2-40B4-BE49-F238E27FC236}">
                <a16:creationId xmlns:a16="http://schemas.microsoft.com/office/drawing/2014/main" id="{D2C09D65-FD6D-F9A9-F54E-F16A990A82A9}"/>
              </a:ext>
            </a:extLst>
          </p:cNvPr>
          <p:cNvSpPr txBox="1"/>
          <p:nvPr/>
        </p:nvSpPr>
        <p:spPr>
          <a:xfrm>
            <a:off x="1549662" y="4971465"/>
            <a:ext cx="1780251" cy="1015663"/>
          </a:xfrm>
          <a:prstGeom prst="rect">
            <a:avLst/>
          </a:prstGeom>
          <a:noFill/>
        </p:spPr>
        <p:txBody>
          <a:bodyPr wrap="square" rtlCol="0">
            <a:spAutoFit/>
          </a:bodyPr>
          <a:lstStyle/>
          <a:p>
            <a:pPr algn="ctr"/>
            <a:r>
              <a:rPr lang="en-IN" sz="2000" b="1" dirty="0"/>
              <a:t>Cheetah Optimization Algorithm</a:t>
            </a:r>
          </a:p>
        </p:txBody>
      </p:sp>
      <p:sp>
        <p:nvSpPr>
          <p:cNvPr id="2" name="TextBox 1">
            <a:extLst>
              <a:ext uri="{FF2B5EF4-FFF2-40B4-BE49-F238E27FC236}">
                <a16:creationId xmlns:a16="http://schemas.microsoft.com/office/drawing/2014/main" id="{DFB35190-C27B-E76A-A220-6CC4687EADE0}"/>
              </a:ext>
            </a:extLst>
          </p:cNvPr>
          <p:cNvSpPr txBox="1"/>
          <p:nvPr/>
        </p:nvSpPr>
        <p:spPr>
          <a:xfrm>
            <a:off x="4627908" y="5725357"/>
            <a:ext cx="2479040"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METHODOLOGY</a:t>
            </a:r>
          </a:p>
        </p:txBody>
      </p:sp>
    </p:spTree>
    <p:extLst>
      <p:ext uri="{BB962C8B-B14F-4D97-AF65-F5344CB8AC3E}">
        <p14:creationId xmlns:p14="http://schemas.microsoft.com/office/powerpoint/2010/main" val="33216529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94F9137-5B93-66E3-1C8C-4636696387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552527"/>
          </a:xfrm>
          <a:prstGeom prst="rect">
            <a:avLst/>
          </a:prstGeom>
        </p:spPr>
      </p:pic>
      <p:pic>
        <p:nvPicPr>
          <p:cNvPr id="5" name="Picture 4">
            <a:extLst>
              <a:ext uri="{FF2B5EF4-FFF2-40B4-BE49-F238E27FC236}">
                <a16:creationId xmlns:a16="http://schemas.microsoft.com/office/drawing/2014/main" id="{1573721A-31DE-69C4-7A34-58D2FAA1AD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6394102"/>
            <a:ext cx="12192000" cy="466790"/>
          </a:xfrm>
          <a:prstGeom prst="rect">
            <a:avLst/>
          </a:prstGeom>
        </p:spPr>
      </p:pic>
      <p:sp>
        <p:nvSpPr>
          <p:cNvPr id="6" name="Rectangle: Rounded Corners 5">
            <a:extLst>
              <a:ext uri="{FF2B5EF4-FFF2-40B4-BE49-F238E27FC236}">
                <a16:creationId xmlns:a16="http://schemas.microsoft.com/office/drawing/2014/main" id="{66331BED-1596-7945-635C-FEEA50C22984}"/>
              </a:ext>
            </a:extLst>
          </p:cNvPr>
          <p:cNvSpPr/>
          <p:nvPr/>
        </p:nvSpPr>
        <p:spPr>
          <a:xfrm>
            <a:off x="4061797" y="661576"/>
            <a:ext cx="3983525" cy="5623477"/>
          </a:xfrm>
          <a:prstGeom prst="roundRect">
            <a:avLst/>
          </a:prstGeom>
          <a:solidFill>
            <a:schemeClr val="bg1">
              <a:lumMod val="95000"/>
            </a:schemeClr>
          </a:solidFill>
          <a:ln>
            <a:solidFill>
              <a:schemeClr val="bg1">
                <a:lumMod val="95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TextBox 6">
            <a:extLst>
              <a:ext uri="{FF2B5EF4-FFF2-40B4-BE49-F238E27FC236}">
                <a16:creationId xmlns:a16="http://schemas.microsoft.com/office/drawing/2014/main" id="{6B595048-81A4-D65E-8662-543521A0A455}"/>
              </a:ext>
            </a:extLst>
          </p:cNvPr>
          <p:cNvSpPr txBox="1"/>
          <p:nvPr/>
        </p:nvSpPr>
        <p:spPr>
          <a:xfrm>
            <a:off x="4782273" y="851649"/>
            <a:ext cx="2627453" cy="1200329"/>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PSO Logic for DDoS Classification</a:t>
            </a:r>
          </a:p>
        </p:txBody>
      </p:sp>
      <p:pic>
        <p:nvPicPr>
          <p:cNvPr id="9" name="Picture 8">
            <a:extLst>
              <a:ext uri="{FF2B5EF4-FFF2-40B4-BE49-F238E27FC236}">
                <a16:creationId xmlns:a16="http://schemas.microsoft.com/office/drawing/2014/main" id="{5CB624B4-B73C-01D2-1973-E73D2AEDE543}"/>
              </a:ext>
            </a:extLst>
          </p:cNvPr>
          <p:cNvPicPr>
            <a:picLocks noChangeAspect="1"/>
          </p:cNvPicPr>
          <p:nvPr/>
        </p:nvPicPr>
        <p:blipFill>
          <a:blip r:embed="rId4"/>
          <a:stretch>
            <a:fillRect/>
          </a:stretch>
        </p:blipFill>
        <p:spPr>
          <a:xfrm>
            <a:off x="6534662" y="2242051"/>
            <a:ext cx="1336124" cy="831669"/>
          </a:xfrm>
          <a:prstGeom prst="rect">
            <a:avLst/>
          </a:prstGeom>
        </p:spPr>
      </p:pic>
      <p:pic>
        <p:nvPicPr>
          <p:cNvPr id="11" name="Picture 10">
            <a:extLst>
              <a:ext uri="{FF2B5EF4-FFF2-40B4-BE49-F238E27FC236}">
                <a16:creationId xmlns:a16="http://schemas.microsoft.com/office/drawing/2014/main" id="{498B4DAB-BFB5-57CA-237C-0C20C0CC5A34}"/>
              </a:ext>
            </a:extLst>
          </p:cNvPr>
          <p:cNvPicPr>
            <a:picLocks noChangeAspect="1"/>
          </p:cNvPicPr>
          <p:nvPr/>
        </p:nvPicPr>
        <p:blipFill>
          <a:blip r:embed="rId5"/>
          <a:stretch>
            <a:fillRect/>
          </a:stretch>
        </p:blipFill>
        <p:spPr>
          <a:xfrm>
            <a:off x="4617754" y="2218901"/>
            <a:ext cx="1039585" cy="831668"/>
          </a:xfrm>
          <a:prstGeom prst="rect">
            <a:avLst/>
          </a:prstGeom>
        </p:spPr>
      </p:pic>
      <p:pic>
        <p:nvPicPr>
          <p:cNvPr id="13" name="Picture 12">
            <a:extLst>
              <a:ext uri="{FF2B5EF4-FFF2-40B4-BE49-F238E27FC236}">
                <a16:creationId xmlns:a16="http://schemas.microsoft.com/office/drawing/2014/main" id="{CF494991-D7BA-0FFD-F4F3-53601ED45028}"/>
              </a:ext>
            </a:extLst>
          </p:cNvPr>
          <p:cNvPicPr>
            <a:picLocks noChangeAspect="1"/>
          </p:cNvPicPr>
          <p:nvPr/>
        </p:nvPicPr>
        <p:blipFill>
          <a:blip r:embed="rId6"/>
          <a:stretch>
            <a:fillRect/>
          </a:stretch>
        </p:blipFill>
        <p:spPr>
          <a:xfrm>
            <a:off x="4904390" y="5040605"/>
            <a:ext cx="818721" cy="614041"/>
          </a:xfrm>
          <a:prstGeom prst="rect">
            <a:avLst/>
          </a:prstGeom>
        </p:spPr>
      </p:pic>
      <p:pic>
        <p:nvPicPr>
          <p:cNvPr id="15" name="Picture 14">
            <a:extLst>
              <a:ext uri="{FF2B5EF4-FFF2-40B4-BE49-F238E27FC236}">
                <a16:creationId xmlns:a16="http://schemas.microsoft.com/office/drawing/2014/main" id="{1370E283-09BD-3708-321D-1AC2FED6C3B3}"/>
              </a:ext>
            </a:extLst>
          </p:cNvPr>
          <p:cNvPicPr>
            <a:picLocks noChangeAspect="1"/>
          </p:cNvPicPr>
          <p:nvPr/>
        </p:nvPicPr>
        <p:blipFill>
          <a:blip r:embed="rId7"/>
          <a:stretch>
            <a:fillRect/>
          </a:stretch>
        </p:blipFill>
        <p:spPr>
          <a:xfrm>
            <a:off x="6468890" y="5040605"/>
            <a:ext cx="1039585" cy="598117"/>
          </a:xfrm>
          <a:prstGeom prst="rect">
            <a:avLst/>
          </a:prstGeom>
        </p:spPr>
      </p:pic>
      <p:sp>
        <p:nvSpPr>
          <p:cNvPr id="16" name="TextBox 15">
            <a:extLst>
              <a:ext uri="{FF2B5EF4-FFF2-40B4-BE49-F238E27FC236}">
                <a16:creationId xmlns:a16="http://schemas.microsoft.com/office/drawing/2014/main" id="{247E4741-456C-80D7-9492-037E463BE854}"/>
              </a:ext>
            </a:extLst>
          </p:cNvPr>
          <p:cNvSpPr txBox="1"/>
          <p:nvPr/>
        </p:nvSpPr>
        <p:spPr>
          <a:xfrm>
            <a:off x="4421529" y="3050569"/>
            <a:ext cx="1579192" cy="369332"/>
          </a:xfrm>
          <a:prstGeom prst="rect">
            <a:avLst/>
          </a:prstGeom>
          <a:noFill/>
        </p:spPr>
        <p:txBody>
          <a:bodyPr wrap="square" rtlCol="0">
            <a:spAutoFit/>
          </a:bodyPr>
          <a:lstStyle/>
          <a:p>
            <a:pPr algn="ctr"/>
            <a:r>
              <a:rPr lang="en-IN" b="1" dirty="0"/>
              <a:t>Initialization </a:t>
            </a:r>
          </a:p>
        </p:txBody>
      </p:sp>
      <p:cxnSp>
        <p:nvCxnSpPr>
          <p:cNvPr id="18" name="Straight Arrow Connector 17">
            <a:extLst>
              <a:ext uri="{FF2B5EF4-FFF2-40B4-BE49-F238E27FC236}">
                <a16:creationId xmlns:a16="http://schemas.microsoft.com/office/drawing/2014/main" id="{9022F709-1FBE-F472-CCD3-364E5FE39CD3}"/>
              </a:ext>
            </a:extLst>
          </p:cNvPr>
          <p:cNvCxnSpPr>
            <a:cxnSpLocks/>
          </p:cNvCxnSpPr>
          <p:nvPr/>
        </p:nvCxnSpPr>
        <p:spPr>
          <a:xfrm>
            <a:off x="5176400" y="3396751"/>
            <a:ext cx="0" cy="260848"/>
          </a:xfrm>
          <a:prstGeom prst="straightConnector1">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786B493F-EFC3-A5FB-C2AA-8A8C6C1CB35A}"/>
              </a:ext>
            </a:extLst>
          </p:cNvPr>
          <p:cNvSpPr txBox="1"/>
          <p:nvPr/>
        </p:nvSpPr>
        <p:spPr>
          <a:xfrm>
            <a:off x="4699322" y="5649506"/>
            <a:ext cx="1301399" cy="646331"/>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Fitness evaluation</a:t>
            </a:r>
          </a:p>
        </p:txBody>
      </p:sp>
      <p:sp>
        <p:nvSpPr>
          <p:cNvPr id="20" name="TextBox 19">
            <a:extLst>
              <a:ext uri="{FF2B5EF4-FFF2-40B4-BE49-F238E27FC236}">
                <a16:creationId xmlns:a16="http://schemas.microsoft.com/office/drawing/2014/main" id="{41EB7202-2C54-A767-5710-F37F2A9CE1DE}"/>
              </a:ext>
            </a:extLst>
          </p:cNvPr>
          <p:cNvSpPr txBox="1"/>
          <p:nvPr/>
        </p:nvSpPr>
        <p:spPr>
          <a:xfrm>
            <a:off x="6534662" y="5649506"/>
            <a:ext cx="1039585" cy="646331"/>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Global best</a:t>
            </a:r>
          </a:p>
        </p:txBody>
      </p:sp>
      <p:sp>
        <p:nvSpPr>
          <p:cNvPr id="21" name="TextBox 20">
            <a:extLst>
              <a:ext uri="{FF2B5EF4-FFF2-40B4-BE49-F238E27FC236}">
                <a16:creationId xmlns:a16="http://schemas.microsoft.com/office/drawing/2014/main" id="{E96B9BE0-7AD1-58E9-E7E7-2F06D3A696F6}"/>
              </a:ext>
            </a:extLst>
          </p:cNvPr>
          <p:cNvSpPr txBox="1"/>
          <p:nvPr/>
        </p:nvSpPr>
        <p:spPr>
          <a:xfrm>
            <a:off x="4514127" y="3657599"/>
            <a:ext cx="1759351" cy="646331"/>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Velocity and Position Update</a:t>
            </a:r>
          </a:p>
        </p:txBody>
      </p:sp>
      <p:pic>
        <p:nvPicPr>
          <p:cNvPr id="24" name="Picture 23">
            <a:extLst>
              <a:ext uri="{FF2B5EF4-FFF2-40B4-BE49-F238E27FC236}">
                <a16:creationId xmlns:a16="http://schemas.microsoft.com/office/drawing/2014/main" id="{48F06E39-7578-5C31-A8A7-E5D148A5608B}"/>
              </a:ext>
            </a:extLst>
          </p:cNvPr>
          <p:cNvPicPr>
            <a:picLocks noChangeAspect="1"/>
          </p:cNvPicPr>
          <p:nvPr/>
        </p:nvPicPr>
        <p:blipFill>
          <a:blip r:embed="rId8"/>
          <a:stretch>
            <a:fillRect/>
          </a:stretch>
        </p:blipFill>
        <p:spPr>
          <a:xfrm>
            <a:off x="4763116" y="4350636"/>
            <a:ext cx="3020724" cy="514516"/>
          </a:xfrm>
          <a:prstGeom prst="rect">
            <a:avLst/>
          </a:prstGeom>
        </p:spPr>
      </p:pic>
      <p:sp>
        <p:nvSpPr>
          <p:cNvPr id="4" name="TextBox 3">
            <a:extLst>
              <a:ext uri="{FF2B5EF4-FFF2-40B4-BE49-F238E27FC236}">
                <a16:creationId xmlns:a16="http://schemas.microsoft.com/office/drawing/2014/main" id="{8E9A1205-8E4F-920E-4E31-DE846821508A}"/>
              </a:ext>
            </a:extLst>
          </p:cNvPr>
          <p:cNvSpPr txBox="1"/>
          <p:nvPr/>
        </p:nvSpPr>
        <p:spPr>
          <a:xfrm>
            <a:off x="91440" y="661577"/>
            <a:ext cx="3795821" cy="5078823"/>
          </a:xfrm>
          <a:prstGeom prst="rect">
            <a:avLst/>
          </a:prstGeom>
          <a:noFill/>
        </p:spPr>
        <p:txBody>
          <a:bodyPr wrap="square" rtlCol="0">
            <a:spAutoFit/>
          </a:bodyPr>
          <a:lstStyle/>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Initialize swarm with CNN hyperparameters: </a:t>
            </a:r>
            <a:r>
              <a:rPr lang="en-US" b="1" dirty="0">
                <a:latin typeface="Times New Roman" panose="02020603050405020304" pitchFamily="18" charset="0"/>
                <a:cs typeface="Times New Roman" panose="02020603050405020304" pitchFamily="18" charset="0"/>
              </a:rPr>
              <a:t>{Learning rate, Filters, Kernel size, Dropout, Batch size}</a:t>
            </a: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For each particle:</a:t>
            </a:r>
          </a:p>
          <a:p>
            <a:pPr marL="400050" indent="-400050" algn="just">
              <a:buFont typeface="+mj-lt"/>
              <a:buAutoNum type="romanLcPeriod"/>
            </a:pPr>
            <a:r>
              <a:rPr lang="en-US" dirty="0">
                <a:latin typeface="Times New Roman" panose="02020603050405020304" pitchFamily="18" charset="0"/>
                <a:cs typeface="Times New Roman" panose="02020603050405020304" pitchFamily="18" charset="0"/>
              </a:rPr>
              <a:t>Build and train CNN with given parameters</a:t>
            </a:r>
          </a:p>
          <a:p>
            <a:pPr marL="400050" indent="-400050" algn="just">
              <a:buFont typeface="+mj-lt"/>
              <a:buAutoNum type="romanLcPeriod"/>
            </a:pPr>
            <a:r>
              <a:rPr lang="en-US" dirty="0">
                <a:latin typeface="Times New Roman" panose="02020603050405020304" pitchFamily="18" charset="0"/>
                <a:cs typeface="Times New Roman" panose="02020603050405020304" pitchFamily="18" charset="0"/>
              </a:rPr>
              <a:t>Evaluate fitness = </a:t>
            </a:r>
            <a:r>
              <a:rPr lang="en-US" b="1" dirty="0">
                <a:latin typeface="Times New Roman" panose="02020603050405020304" pitchFamily="18" charset="0"/>
                <a:cs typeface="Times New Roman" panose="02020603050405020304" pitchFamily="18" charset="0"/>
              </a:rPr>
              <a:t>Accuracy – False Positives</a:t>
            </a:r>
            <a:endParaRPr lang="en-US"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Update </a:t>
            </a:r>
            <a:r>
              <a:rPr lang="en-US" b="1" dirty="0" err="1">
                <a:latin typeface="Times New Roman" panose="02020603050405020304" pitchFamily="18" charset="0"/>
                <a:cs typeface="Times New Roman" panose="02020603050405020304" pitchFamily="18" charset="0"/>
              </a:rPr>
              <a:t>pBest</a:t>
            </a:r>
            <a:r>
              <a:rPr lang="en-US" dirty="0">
                <a:latin typeface="Times New Roman" panose="02020603050405020304" pitchFamily="18" charset="0"/>
                <a:cs typeface="Times New Roman" panose="02020603050405020304" pitchFamily="18" charset="0"/>
              </a:rPr>
              <a:t> (particle best) and </a:t>
            </a:r>
            <a:r>
              <a:rPr lang="en-US" b="1" dirty="0" err="1">
                <a:latin typeface="Times New Roman" panose="02020603050405020304" pitchFamily="18" charset="0"/>
                <a:cs typeface="Times New Roman" panose="02020603050405020304" pitchFamily="18" charset="0"/>
              </a:rPr>
              <a:t>gBest</a:t>
            </a:r>
            <a:r>
              <a:rPr lang="en-US" dirty="0">
                <a:latin typeface="Times New Roman" panose="02020603050405020304" pitchFamily="18" charset="0"/>
                <a:cs typeface="Times New Roman" panose="02020603050405020304" pitchFamily="18" charset="0"/>
              </a:rPr>
              <a:t> (global best)</a:t>
            </a: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Update velocity &amp; position of particles</a:t>
            </a: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Repeat until convergence or max iterations</a:t>
            </a: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Output </a:t>
            </a:r>
            <a:r>
              <a:rPr lang="en-US" b="1" dirty="0">
                <a:latin typeface="Times New Roman" panose="02020603050405020304" pitchFamily="18" charset="0"/>
                <a:cs typeface="Times New Roman" panose="02020603050405020304" pitchFamily="18" charset="0"/>
              </a:rPr>
              <a:t>optimal hyperparameters</a:t>
            </a:r>
            <a:r>
              <a:rPr lang="en-US" dirty="0">
                <a:latin typeface="Times New Roman" panose="02020603050405020304" pitchFamily="18" charset="0"/>
                <a:cs typeface="Times New Roman" panose="02020603050405020304" pitchFamily="18" charset="0"/>
              </a:rPr>
              <a:t> and retrain CNN for final DDoS detection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28047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C7E89EA-A876-4FD7-F986-8D1AD8D30673}"/>
              </a:ext>
            </a:extLst>
          </p:cNvPr>
          <p:cNvSpPr>
            <a:spLocks noGrp="1"/>
          </p:cNvSpPr>
          <p:nvPr>
            <p:ph type="body" idx="1"/>
          </p:nvPr>
        </p:nvSpPr>
        <p:spPr>
          <a:xfrm>
            <a:off x="415600" y="848412"/>
            <a:ext cx="11360800" cy="5177628"/>
          </a:xfrm>
        </p:spPr>
        <p:txBody>
          <a:bodyPr/>
          <a:lstStyle/>
          <a:p>
            <a:pPr marL="546100" indent="-457200">
              <a:buAutoNum type="arabicPeriod"/>
            </a:pPr>
            <a:r>
              <a:rPr lang="en-IN" sz="2000" dirty="0">
                <a:latin typeface="Times New Roman" panose="02020603050405020304" pitchFamily="18" charset="0"/>
                <a:cs typeface="Times New Roman" panose="02020603050405020304" pitchFamily="18" charset="0"/>
              </a:rPr>
              <a:t>Velocity Update Equation</a:t>
            </a:r>
          </a:p>
          <a:p>
            <a:pPr marL="88900" indent="0">
              <a:buNone/>
            </a:pPr>
            <a:r>
              <a:rPr lang="de-DE" sz="2000" dirty="0">
                <a:latin typeface="Times New Roman" panose="02020603050405020304" pitchFamily="18" charset="0"/>
                <a:cs typeface="Times New Roman" panose="02020603050405020304" pitchFamily="18" charset="0"/>
              </a:rPr>
              <a:t>                       vi​(t+1) = w⋅vi​(t) + c1​r1​(pBesti​−xi​(t)) + c2​r2​(gBest−xi​(t))</a:t>
            </a:r>
          </a:p>
          <a:p>
            <a:pPr marL="88900" indent="0">
              <a:buNone/>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w⋅vi</a:t>
            </a:r>
            <a:r>
              <a:rPr lang="en-IN" sz="2000" dirty="0">
                <a:latin typeface="Times New Roman" panose="02020603050405020304" pitchFamily="18" charset="0"/>
                <a:cs typeface="Times New Roman" panose="02020603050405020304" pitchFamily="18" charset="0"/>
              </a:rPr>
              <a:t>​(t) → </a:t>
            </a:r>
            <a:r>
              <a:rPr lang="en-IN" sz="2000" b="1" dirty="0">
                <a:latin typeface="Times New Roman" panose="02020603050405020304" pitchFamily="18" charset="0"/>
                <a:cs typeface="Times New Roman" panose="02020603050405020304" pitchFamily="18" charset="0"/>
              </a:rPr>
              <a:t>Inertia</a:t>
            </a:r>
          </a:p>
          <a:p>
            <a:pPr marL="88900" indent="0">
              <a:buNone/>
            </a:pPr>
            <a:r>
              <a:rPr lang="en-IN" sz="2000" dirty="0">
                <a:latin typeface="Times New Roman" panose="02020603050405020304" pitchFamily="18" charset="0"/>
                <a:cs typeface="Times New Roman" panose="02020603050405020304" pitchFamily="18" charset="0"/>
              </a:rPr>
              <a:t>                                     c1​r1​(</a:t>
            </a:r>
            <a:r>
              <a:rPr lang="en-IN" sz="2000" dirty="0" err="1">
                <a:latin typeface="Times New Roman" panose="02020603050405020304" pitchFamily="18" charset="0"/>
                <a:cs typeface="Times New Roman" panose="02020603050405020304" pitchFamily="18" charset="0"/>
              </a:rPr>
              <a:t>pBesti</a:t>
            </a:r>
            <a:r>
              <a:rPr lang="en-IN" sz="2000" dirty="0">
                <a:latin typeface="Times New Roman" panose="02020603050405020304" pitchFamily="18" charset="0"/>
                <a:cs typeface="Times New Roman" panose="02020603050405020304" pitchFamily="18" charset="0"/>
              </a:rPr>
              <a:t>​−xi​(t)) → </a:t>
            </a:r>
            <a:r>
              <a:rPr lang="en-IN" sz="2000" b="1" dirty="0">
                <a:latin typeface="Times New Roman" panose="02020603050405020304" pitchFamily="18" charset="0"/>
                <a:cs typeface="Times New Roman" panose="02020603050405020304" pitchFamily="18" charset="0"/>
              </a:rPr>
              <a:t>Cognitive term</a:t>
            </a:r>
          </a:p>
          <a:p>
            <a:pPr marL="88900" indent="0">
              <a:buNone/>
            </a:pPr>
            <a:r>
              <a:rPr lang="en-IN" sz="2000" dirty="0">
                <a:latin typeface="Times New Roman" panose="02020603050405020304" pitchFamily="18" charset="0"/>
                <a:cs typeface="Times New Roman" panose="02020603050405020304" pitchFamily="18" charset="0"/>
              </a:rPr>
              <a:t>                                     c2​r2​(</a:t>
            </a:r>
            <a:r>
              <a:rPr lang="en-IN" sz="2000" dirty="0" err="1">
                <a:latin typeface="Times New Roman" panose="02020603050405020304" pitchFamily="18" charset="0"/>
                <a:cs typeface="Times New Roman" panose="02020603050405020304" pitchFamily="18" charset="0"/>
              </a:rPr>
              <a:t>gBest</a:t>
            </a:r>
            <a:r>
              <a:rPr lang="en-IN" sz="2000" dirty="0">
                <a:latin typeface="Times New Roman" panose="02020603050405020304" pitchFamily="18" charset="0"/>
                <a:cs typeface="Times New Roman" panose="02020603050405020304" pitchFamily="18" charset="0"/>
              </a:rPr>
              <a:t>−xi​(t)) → </a:t>
            </a:r>
            <a:r>
              <a:rPr lang="en-IN" sz="2000" b="1" dirty="0">
                <a:latin typeface="Times New Roman" panose="02020603050405020304" pitchFamily="18" charset="0"/>
                <a:cs typeface="Times New Roman" panose="02020603050405020304" pitchFamily="18" charset="0"/>
              </a:rPr>
              <a:t>Social term</a:t>
            </a:r>
          </a:p>
          <a:p>
            <a:pPr marL="88900" indent="0">
              <a:buNone/>
            </a:pPr>
            <a:endParaRPr lang="en-IN" sz="2000" b="1" dirty="0">
              <a:latin typeface="Times New Roman" panose="02020603050405020304" pitchFamily="18" charset="0"/>
              <a:cs typeface="Times New Roman" panose="02020603050405020304" pitchFamily="18" charset="0"/>
            </a:endParaRPr>
          </a:p>
          <a:p>
            <a:pPr marL="88900" indent="0">
              <a:buNone/>
            </a:pPr>
            <a:r>
              <a:rPr lang="en-IN" sz="2000" dirty="0">
                <a:latin typeface="Times New Roman" panose="02020603050405020304" pitchFamily="18" charset="0"/>
                <a:cs typeface="Times New Roman" panose="02020603050405020304" pitchFamily="18" charset="0"/>
              </a:rPr>
              <a:t>2. Position Update Equation</a:t>
            </a:r>
          </a:p>
          <a:p>
            <a:pPr marL="88900" indent="0">
              <a:buNone/>
            </a:pPr>
            <a:r>
              <a:rPr lang="en-IN" sz="2000" dirty="0">
                <a:latin typeface="Times New Roman" panose="02020603050405020304" pitchFamily="18" charset="0"/>
                <a:cs typeface="Times New Roman" panose="02020603050405020304" pitchFamily="18" charset="0"/>
              </a:rPr>
              <a:t>                             </a:t>
            </a:r>
          </a:p>
          <a:p>
            <a:pPr marL="88900" indent="0">
              <a:buNone/>
            </a:pPr>
            <a:r>
              <a:rPr lang="en-IN" sz="2000" dirty="0">
                <a:latin typeface="Times New Roman" panose="02020603050405020304" pitchFamily="18" charset="0"/>
                <a:cs typeface="Times New Roman" panose="02020603050405020304" pitchFamily="18" charset="0"/>
              </a:rPr>
              <a:t>                        xi​(t+1) = xi​(t) + vi​(t+1)</a:t>
            </a:r>
            <a:endParaRPr lang="de-DE" sz="2000" dirty="0">
              <a:latin typeface="Times New Roman" panose="02020603050405020304" pitchFamily="18" charset="0"/>
              <a:cs typeface="Times New Roman" panose="02020603050405020304" pitchFamily="18" charset="0"/>
            </a:endParaRPr>
          </a:p>
          <a:p>
            <a:pPr marL="88900" indent="0">
              <a:buNone/>
            </a:pPr>
            <a:r>
              <a:rPr lang="de-DE" dirty="0"/>
              <a:t>                     </a:t>
            </a:r>
            <a:endParaRPr lang="en-IN" dirty="0"/>
          </a:p>
        </p:txBody>
      </p:sp>
      <p:sp>
        <p:nvSpPr>
          <p:cNvPr id="2" name="TextBox 1">
            <a:extLst>
              <a:ext uri="{FF2B5EF4-FFF2-40B4-BE49-F238E27FC236}">
                <a16:creationId xmlns:a16="http://schemas.microsoft.com/office/drawing/2014/main" id="{EBE83EE3-A79A-6A10-17E4-8CA1FB2FB9A0}"/>
              </a:ext>
            </a:extLst>
          </p:cNvPr>
          <p:cNvSpPr txBox="1"/>
          <p:nvPr/>
        </p:nvSpPr>
        <p:spPr>
          <a:xfrm>
            <a:off x="575035" y="405353"/>
            <a:ext cx="6325386"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PSO LOGIC EQUATIONS</a:t>
            </a:r>
          </a:p>
        </p:txBody>
      </p:sp>
    </p:spTree>
    <p:extLst>
      <p:ext uri="{BB962C8B-B14F-4D97-AF65-F5344CB8AC3E}">
        <p14:creationId xmlns:p14="http://schemas.microsoft.com/office/powerpoint/2010/main" val="38675884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CE861-64F7-E30F-B3EE-6150A432DD3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B9CADAB-448D-9A19-274D-A73D62A82FBB}"/>
              </a:ext>
            </a:extLst>
          </p:cNvPr>
          <p:cNvPicPr>
            <a:picLocks noChangeAspect="1"/>
          </p:cNvPicPr>
          <p:nvPr/>
        </p:nvPicPr>
        <p:blipFill>
          <a:blip r:embed="rId2">
            <a:extLst>
              <a:ext uri="{28A0092B-C50C-407E-A947-70E740481C1C}">
                <a14:useLocalDpi xmlns:a14="http://schemas.microsoft.com/office/drawing/2010/main" val="0"/>
              </a:ext>
            </a:extLst>
          </a:blip>
          <a:srcRect t="18289"/>
          <a:stretch>
            <a:fillRect/>
          </a:stretch>
        </p:blipFill>
        <p:spPr>
          <a:xfrm>
            <a:off x="604099" y="2071785"/>
            <a:ext cx="10983803" cy="2714430"/>
          </a:xfrm>
          <a:prstGeom prst="rect">
            <a:avLst/>
          </a:prstGeom>
        </p:spPr>
      </p:pic>
      <p:sp>
        <p:nvSpPr>
          <p:cNvPr id="5" name="TextBox 4">
            <a:extLst>
              <a:ext uri="{FF2B5EF4-FFF2-40B4-BE49-F238E27FC236}">
                <a16:creationId xmlns:a16="http://schemas.microsoft.com/office/drawing/2014/main" id="{85E5333F-F758-083C-474A-F8B1C8E3C4F6}"/>
              </a:ext>
            </a:extLst>
          </p:cNvPr>
          <p:cNvSpPr txBox="1"/>
          <p:nvPr/>
        </p:nvSpPr>
        <p:spPr>
          <a:xfrm>
            <a:off x="604099" y="1087120"/>
            <a:ext cx="3226221"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PSO LOGIC CODE </a:t>
            </a:r>
          </a:p>
        </p:txBody>
      </p:sp>
    </p:spTree>
    <p:extLst>
      <p:ext uri="{BB962C8B-B14F-4D97-AF65-F5344CB8AC3E}">
        <p14:creationId xmlns:p14="http://schemas.microsoft.com/office/powerpoint/2010/main" val="32856258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DB3371-6502-684E-5342-BDF14D137F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136"/>
            <a:ext cx="12191999" cy="552527"/>
          </a:xfrm>
          <a:prstGeom prst="rect">
            <a:avLst/>
          </a:prstGeom>
        </p:spPr>
      </p:pic>
      <p:pic>
        <p:nvPicPr>
          <p:cNvPr id="5" name="Picture 4">
            <a:extLst>
              <a:ext uri="{FF2B5EF4-FFF2-40B4-BE49-F238E27FC236}">
                <a16:creationId xmlns:a16="http://schemas.microsoft.com/office/drawing/2014/main" id="{C96E1D63-D929-9E12-109F-5E983C6507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426679"/>
            <a:ext cx="12191999" cy="465779"/>
          </a:xfrm>
          <a:prstGeom prst="rect">
            <a:avLst/>
          </a:prstGeom>
        </p:spPr>
      </p:pic>
      <p:sp>
        <p:nvSpPr>
          <p:cNvPr id="8" name="TextBox 7">
            <a:extLst>
              <a:ext uri="{FF2B5EF4-FFF2-40B4-BE49-F238E27FC236}">
                <a16:creationId xmlns:a16="http://schemas.microsoft.com/office/drawing/2014/main" id="{714FD01A-B940-FC39-1DAE-B45A70924B8B}"/>
              </a:ext>
            </a:extLst>
          </p:cNvPr>
          <p:cNvSpPr txBox="1"/>
          <p:nvPr/>
        </p:nvSpPr>
        <p:spPr>
          <a:xfrm>
            <a:off x="394119" y="593793"/>
            <a:ext cx="11236012"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Cheetah Optimization Algorithm - Overview</a:t>
            </a:r>
          </a:p>
        </p:txBody>
      </p:sp>
      <p:sp>
        <p:nvSpPr>
          <p:cNvPr id="10" name="TextBox 9">
            <a:extLst>
              <a:ext uri="{FF2B5EF4-FFF2-40B4-BE49-F238E27FC236}">
                <a16:creationId xmlns:a16="http://schemas.microsoft.com/office/drawing/2014/main" id="{3677BB60-8D93-F7DA-CE73-66FCC9FF27FA}"/>
              </a:ext>
            </a:extLst>
          </p:cNvPr>
          <p:cNvSpPr txBox="1"/>
          <p:nvPr/>
        </p:nvSpPr>
        <p:spPr>
          <a:xfrm>
            <a:off x="5506122" y="1345335"/>
            <a:ext cx="6136289" cy="4646826"/>
          </a:xfrm>
          <a:prstGeom prst="rect">
            <a:avLst/>
          </a:prstGeom>
          <a:solidFill>
            <a:schemeClr val="accent4">
              <a:lumMod val="40000"/>
              <a:lumOff val="60000"/>
            </a:schemeClr>
          </a:solidFill>
        </p:spPr>
        <p:txBody>
          <a:bodyPr wrap="square" rtlCol="0">
            <a:spAutoFit/>
          </a:bodyPr>
          <a:lstStyle/>
          <a:p>
            <a:endParaRPr lang="en-IN" dirty="0"/>
          </a:p>
        </p:txBody>
      </p:sp>
      <p:sp>
        <p:nvSpPr>
          <p:cNvPr id="11" name="TextBox 10">
            <a:extLst>
              <a:ext uri="{FF2B5EF4-FFF2-40B4-BE49-F238E27FC236}">
                <a16:creationId xmlns:a16="http://schemas.microsoft.com/office/drawing/2014/main" id="{43CC6BBF-AF2D-F707-0FEC-755CFA5BA653}"/>
              </a:ext>
            </a:extLst>
          </p:cNvPr>
          <p:cNvSpPr txBox="1"/>
          <p:nvPr/>
        </p:nvSpPr>
        <p:spPr>
          <a:xfrm>
            <a:off x="6012125" y="1428114"/>
            <a:ext cx="4729019" cy="400110"/>
          </a:xfrm>
          <a:prstGeom prst="rect">
            <a:avLst/>
          </a:prstGeom>
          <a:noFill/>
        </p:spPr>
        <p:txBody>
          <a:bodyPr wrap="square" rtlCol="0">
            <a:spAutoFit/>
          </a:bodyPr>
          <a:lstStyle/>
          <a:p>
            <a:pPr algn="ctr"/>
            <a:r>
              <a:rPr lang="en-IN" sz="2000" dirty="0">
                <a:latin typeface="Times New Roman" panose="02020603050405020304" pitchFamily="18" charset="0"/>
                <a:cs typeface="Times New Roman" panose="02020603050405020304" pitchFamily="18" charset="0"/>
              </a:rPr>
              <a:t>Cheetah optimization algorithm </a:t>
            </a:r>
          </a:p>
        </p:txBody>
      </p:sp>
      <p:pic>
        <p:nvPicPr>
          <p:cNvPr id="15" name="Picture 14">
            <a:extLst>
              <a:ext uri="{FF2B5EF4-FFF2-40B4-BE49-F238E27FC236}">
                <a16:creationId xmlns:a16="http://schemas.microsoft.com/office/drawing/2014/main" id="{A36271C9-3454-F130-B117-4F7A5584D28A}"/>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9524" b="93651" l="10000" r="90000">
                        <a14:foregroundMark x1="30769" y1="31746" x2="30769" y2="31746"/>
                        <a14:foregroundMark x1="53077" y1="19841" x2="53077" y2="19841"/>
                        <a14:foregroundMark x1="69231" y1="32540" x2="69231" y2="32540"/>
                        <a14:foregroundMark x1="83846" y1="54762" x2="83846" y2="54762"/>
                        <a14:foregroundMark x1="76923" y1="79365" x2="76923" y2="79365"/>
                        <a14:foregroundMark x1="60769" y1="88095" x2="60769" y2="88095"/>
                        <a14:foregroundMark x1="39231" y1="88889" x2="39231" y2="88889"/>
                        <a14:foregroundMark x1="62308" y1="93651" x2="62308" y2="93651"/>
                        <a14:foregroundMark x1="62308" y1="93651" x2="62308" y2="93651"/>
                        <a14:foregroundMark x1="26154" y1="77778" x2="26154" y2="77778"/>
                        <a14:foregroundMark x1="18462" y1="54762" x2="18462" y2="54762"/>
                        <a14:foregroundMark x1="44615" y1="56349" x2="44615" y2="56349"/>
                        <a14:foregroundMark x1="44615" y1="56349" x2="44615" y2="56349"/>
                      </a14:backgroundRemoval>
                    </a14:imgEffect>
                  </a14:imgLayer>
                </a14:imgProps>
              </a:ext>
            </a:extLst>
          </a:blip>
          <a:stretch>
            <a:fillRect/>
          </a:stretch>
        </p:blipFill>
        <p:spPr>
          <a:xfrm>
            <a:off x="7704789" y="2396952"/>
            <a:ext cx="869478" cy="842725"/>
          </a:xfrm>
          <a:prstGeom prst="rect">
            <a:avLst/>
          </a:prstGeom>
        </p:spPr>
      </p:pic>
      <p:pic>
        <p:nvPicPr>
          <p:cNvPr id="17" name="Picture 16">
            <a:extLst>
              <a:ext uri="{FF2B5EF4-FFF2-40B4-BE49-F238E27FC236}">
                <a16:creationId xmlns:a16="http://schemas.microsoft.com/office/drawing/2014/main" id="{1022EDB5-268D-82DF-0D6E-5769CFFCC0B6}"/>
              </a:ext>
            </a:extLst>
          </p:cNvPr>
          <p:cNvPicPr>
            <a:picLocks noChangeAspect="1"/>
          </p:cNvPicPr>
          <p:nvPr/>
        </p:nvPicPr>
        <p:blipFill>
          <a:blip r:embed="rId6"/>
          <a:srcRect r="11909"/>
          <a:stretch>
            <a:fillRect/>
          </a:stretch>
        </p:blipFill>
        <p:spPr>
          <a:xfrm>
            <a:off x="9879387" y="2478720"/>
            <a:ext cx="855029" cy="727964"/>
          </a:xfrm>
          <a:prstGeom prst="rect">
            <a:avLst/>
          </a:prstGeom>
        </p:spPr>
      </p:pic>
      <p:pic>
        <p:nvPicPr>
          <p:cNvPr id="19" name="Picture 18">
            <a:extLst>
              <a:ext uri="{FF2B5EF4-FFF2-40B4-BE49-F238E27FC236}">
                <a16:creationId xmlns:a16="http://schemas.microsoft.com/office/drawing/2014/main" id="{133D7176-4013-9532-AA74-5753CF1561F2}"/>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10000" b="90000" l="10000" r="90000">
                        <a14:foregroundMark x1="61688" y1="18000" x2="61688" y2="18000"/>
                        <a14:foregroundMark x1="61039" y1="10000" x2="61039" y2="10000"/>
                        <a14:foregroundMark x1="61039" y1="10000" x2="61039" y2="10000"/>
                      </a14:backgroundRemoval>
                    </a14:imgEffect>
                  </a14:imgLayer>
                </a14:imgProps>
              </a:ext>
            </a:extLst>
          </a:blip>
          <a:stretch>
            <a:fillRect/>
          </a:stretch>
        </p:blipFill>
        <p:spPr>
          <a:xfrm>
            <a:off x="8376634" y="4207132"/>
            <a:ext cx="1165193" cy="842725"/>
          </a:xfrm>
          <a:prstGeom prst="rect">
            <a:avLst/>
          </a:prstGeom>
        </p:spPr>
      </p:pic>
      <p:cxnSp>
        <p:nvCxnSpPr>
          <p:cNvPr id="21" name="Straight Arrow Connector 20">
            <a:extLst>
              <a:ext uri="{FF2B5EF4-FFF2-40B4-BE49-F238E27FC236}">
                <a16:creationId xmlns:a16="http://schemas.microsoft.com/office/drawing/2014/main" id="{46EA52FF-A150-2573-A2D0-64E22BBF5E1E}"/>
              </a:ext>
            </a:extLst>
          </p:cNvPr>
          <p:cNvCxnSpPr>
            <a:cxnSpLocks/>
          </p:cNvCxnSpPr>
          <p:nvPr/>
        </p:nvCxnSpPr>
        <p:spPr>
          <a:xfrm>
            <a:off x="8574267" y="2838819"/>
            <a:ext cx="1209813" cy="0"/>
          </a:xfrm>
          <a:prstGeom prst="straightConnector1">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85832B9D-472E-AF9A-5386-B9182F5BCCCE}"/>
              </a:ext>
            </a:extLst>
          </p:cNvPr>
          <p:cNvSpPr txBox="1"/>
          <p:nvPr/>
        </p:nvSpPr>
        <p:spPr>
          <a:xfrm>
            <a:off x="6807200" y="2004787"/>
            <a:ext cx="2563739" cy="369332"/>
          </a:xfrm>
          <a:prstGeom prst="rect">
            <a:avLst/>
          </a:prstGeom>
          <a:noFill/>
        </p:spPr>
        <p:txBody>
          <a:bodyPr wrap="square" rtlCol="0">
            <a:spAutoFit/>
          </a:bodyPr>
          <a:lstStyle/>
          <a:p>
            <a:r>
              <a:rPr lang="en-IN" dirty="0"/>
              <a:t>Random installation </a:t>
            </a:r>
          </a:p>
        </p:txBody>
      </p:sp>
      <p:sp>
        <p:nvSpPr>
          <p:cNvPr id="29" name="TextBox 28">
            <a:extLst>
              <a:ext uri="{FF2B5EF4-FFF2-40B4-BE49-F238E27FC236}">
                <a16:creationId xmlns:a16="http://schemas.microsoft.com/office/drawing/2014/main" id="{CA72C006-A8DF-E06D-9F99-0160259BA482}"/>
              </a:ext>
            </a:extLst>
          </p:cNvPr>
          <p:cNvSpPr txBox="1"/>
          <p:nvPr/>
        </p:nvSpPr>
        <p:spPr>
          <a:xfrm>
            <a:off x="9370939" y="1828224"/>
            <a:ext cx="1866320" cy="707886"/>
          </a:xfrm>
          <a:prstGeom prst="rect">
            <a:avLst/>
          </a:prstGeom>
          <a:noFill/>
        </p:spPr>
        <p:txBody>
          <a:bodyPr wrap="square" rtlCol="0">
            <a:spAutoFit/>
          </a:bodyPr>
          <a:lstStyle/>
          <a:p>
            <a:pPr algn="ctr"/>
            <a:r>
              <a:rPr lang="en-IN" sz="2000" dirty="0">
                <a:latin typeface="Times New Roman" panose="02020603050405020304" pitchFamily="18" charset="0"/>
                <a:cs typeface="Times New Roman" panose="02020603050405020304" pitchFamily="18" charset="0"/>
              </a:rPr>
              <a:t>Surrounding strategy </a:t>
            </a:r>
          </a:p>
        </p:txBody>
      </p:sp>
      <p:sp>
        <p:nvSpPr>
          <p:cNvPr id="30" name="TextBox 29">
            <a:extLst>
              <a:ext uri="{FF2B5EF4-FFF2-40B4-BE49-F238E27FC236}">
                <a16:creationId xmlns:a16="http://schemas.microsoft.com/office/drawing/2014/main" id="{DCD17060-56C5-7B26-B3B1-6C3F0CA0F4C3}"/>
              </a:ext>
            </a:extLst>
          </p:cNvPr>
          <p:cNvSpPr txBox="1"/>
          <p:nvPr/>
        </p:nvSpPr>
        <p:spPr>
          <a:xfrm>
            <a:off x="7027146" y="3297622"/>
            <a:ext cx="2343793" cy="646331"/>
          </a:xfrm>
          <a:prstGeom prst="rect">
            <a:avLst/>
          </a:prstGeom>
          <a:noFill/>
        </p:spPr>
        <p:txBody>
          <a:bodyPr wrap="square" rtlCol="0">
            <a:spAutoFit/>
          </a:bodyPr>
          <a:lstStyle/>
          <a:p>
            <a:pPr algn="ctr"/>
            <a:r>
              <a:rPr lang="en-IN" dirty="0"/>
              <a:t>Population of candidate solutions</a:t>
            </a:r>
          </a:p>
        </p:txBody>
      </p:sp>
      <p:sp>
        <p:nvSpPr>
          <p:cNvPr id="31" name="TextBox 30">
            <a:extLst>
              <a:ext uri="{FF2B5EF4-FFF2-40B4-BE49-F238E27FC236}">
                <a16:creationId xmlns:a16="http://schemas.microsoft.com/office/drawing/2014/main" id="{00BF026D-B747-340D-22EA-E842F61AC45F}"/>
              </a:ext>
            </a:extLst>
          </p:cNvPr>
          <p:cNvSpPr txBox="1"/>
          <p:nvPr/>
        </p:nvSpPr>
        <p:spPr>
          <a:xfrm>
            <a:off x="9194800" y="3239677"/>
            <a:ext cx="2343793" cy="707886"/>
          </a:xfrm>
          <a:prstGeom prst="rect">
            <a:avLst/>
          </a:prstGeom>
          <a:noFill/>
        </p:spPr>
        <p:txBody>
          <a:bodyPr wrap="square" rtlCol="0">
            <a:spAutoFit/>
          </a:bodyPr>
          <a:lstStyle/>
          <a:p>
            <a:pPr algn="ctr"/>
            <a:r>
              <a:rPr lang="en-IN" sz="2000" dirty="0">
                <a:latin typeface="Times New Roman" panose="02020603050405020304" pitchFamily="18" charset="0"/>
                <a:cs typeface="Times New Roman" panose="02020603050405020304" pitchFamily="18" charset="0"/>
              </a:rPr>
              <a:t>Updating solution positions</a:t>
            </a:r>
          </a:p>
        </p:txBody>
      </p:sp>
      <p:sp>
        <p:nvSpPr>
          <p:cNvPr id="32" name="TextBox 31">
            <a:extLst>
              <a:ext uri="{FF2B5EF4-FFF2-40B4-BE49-F238E27FC236}">
                <a16:creationId xmlns:a16="http://schemas.microsoft.com/office/drawing/2014/main" id="{9820AAE6-2CAE-3C01-C221-10BD2657E1D5}"/>
              </a:ext>
            </a:extLst>
          </p:cNvPr>
          <p:cNvSpPr txBox="1"/>
          <p:nvPr/>
        </p:nvSpPr>
        <p:spPr>
          <a:xfrm>
            <a:off x="7521909" y="4973000"/>
            <a:ext cx="3278171" cy="707886"/>
          </a:xfrm>
          <a:prstGeom prst="rect">
            <a:avLst/>
          </a:prstGeom>
          <a:noFill/>
        </p:spPr>
        <p:txBody>
          <a:bodyPr wrap="square" rtlCol="0">
            <a:spAutoFit/>
          </a:bodyPr>
          <a:lstStyle/>
          <a:p>
            <a:pPr algn="ctr"/>
            <a:r>
              <a:rPr lang="en-IN" sz="2000" dirty="0">
                <a:latin typeface="Times New Roman" panose="02020603050405020304" pitchFamily="18" charset="0"/>
                <a:cs typeface="Times New Roman" panose="02020603050405020304" pitchFamily="18" charset="0"/>
              </a:rPr>
              <a:t>Leader selection </a:t>
            </a:r>
          </a:p>
          <a:p>
            <a:pPr algn="ctr"/>
            <a:r>
              <a:rPr lang="en-IN" sz="2000" dirty="0">
                <a:latin typeface="Times New Roman" panose="02020603050405020304" pitchFamily="18" charset="0"/>
                <a:cs typeface="Times New Roman" panose="02020603050405020304" pitchFamily="18" charset="0"/>
              </a:rPr>
              <a:t>Choosing the best solution</a:t>
            </a:r>
          </a:p>
        </p:txBody>
      </p:sp>
      <p:sp>
        <p:nvSpPr>
          <p:cNvPr id="39" name="TextBox 38">
            <a:extLst>
              <a:ext uri="{FF2B5EF4-FFF2-40B4-BE49-F238E27FC236}">
                <a16:creationId xmlns:a16="http://schemas.microsoft.com/office/drawing/2014/main" id="{69A78284-90E9-FC31-A640-35F75AAA2C8C}"/>
              </a:ext>
            </a:extLst>
          </p:cNvPr>
          <p:cNvSpPr txBox="1"/>
          <p:nvPr/>
        </p:nvSpPr>
        <p:spPr>
          <a:xfrm>
            <a:off x="312516" y="1428114"/>
            <a:ext cx="5060741" cy="2585323"/>
          </a:xfrm>
          <a:prstGeom prst="rect">
            <a:avLst/>
          </a:prstGeom>
          <a:noFill/>
        </p:spPr>
        <p:txBody>
          <a:bodyPr wrap="square" rtlCol="0">
            <a:spAutoFit/>
          </a:bodyPr>
          <a:lstStyle/>
          <a:p>
            <a:pPr marL="342900" indent="-342900">
              <a:buFont typeface="+mj-lt"/>
              <a:buAutoNum type="arabicPeriod"/>
            </a:pPr>
            <a:r>
              <a:rPr lang="en-IN" dirty="0">
                <a:latin typeface="Times New Roman" panose="02020603050405020304" pitchFamily="18" charset="0"/>
                <a:cs typeface="Times New Roman" panose="02020603050405020304" pitchFamily="18" charset="0"/>
              </a:rPr>
              <a:t>Inspired by cheetah hunting behaviour to balance exploration and exploitation.</a:t>
            </a:r>
          </a:p>
          <a:p>
            <a:pPr marL="342900" indent="-342900">
              <a:buFont typeface="+mj-lt"/>
              <a:buAutoNum type="arabicPeriod"/>
            </a:pPr>
            <a:r>
              <a:rPr lang="en-IN" dirty="0">
                <a:latin typeface="Times New Roman" panose="02020603050405020304" pitchFamily="18" charset="0"/>
                <a:cs typeface="Times New Roman" panose="02020603050405020304" pitchFamily="18" charset="0"/>
              </a:rPr>
              <a:t>Start with random solutions (cheetahs) searching the space.</a:t>
            </a:r>
          </a:p>
          <a:p>
            <a:pPr marL="342900" indent="-342900">
              <a:buFont typeface="+mj-lt"/>
              <a:buAutoNum type="arabicPeriod"/>
            </a:pPr>
            <a:r>
              <a:rPr lang="en-IN" dirty="0">
                <a:latin typeface="Times New Roman" panose="02020603050405020304" pitchFamily="18" charset="0"/>
                <a:cs typeface="Times New Roman" panose="02020603050405020304" pitchFamily="18" charset="0"/>
              </a:rPr>
              <a:t>Uses surrounding strategy to refine positions.</a:t>
            </a:r>
          </a:p>
          <a:p>
            <a:pPr marL="342900" indent="-342900">
              <a:buFont typeface="+mj-lt"/>
              <a:buAutoNum type="arabicPeriod"/>
            </a:pPr>
            <a:r>
              <a:rPr lang="en-IN" dirty="0">
                <a:latin typeface="Times New Roman" panose="02020603050405020304" pitchFamily="18" charset="0"/>
                <a:cs typeface="Times New Roman" panose="02020603050405020304" pitchFamily="18" charset="0"/>
              </a:rPr>
              <a:t>Best solution becomes the leader, guiding others to converge faster.</a:t>
            </a:r>
          </a:p>
          <a:p>
            <a:pPr marL="342900" indent="-342900">
              <a:buFont typeface="+mj-lt"/>
              <a:buAutoNum type="arabicPeriod"/>
            </a:pPr>
            <a:r>
              <a:rPr lang="en-IN" dirty="0">
                <a:latin typeface="Times New Roman" panose="02020603050405020304" pitchFamily="18" charset="0"/>
                <a:cs typeface="Times New Roman" panose="02020603050405020304" pitchFamily="18" charset="0"/>
              </a:rPr>
              <a:t>Applied to optimize deep learning hyperparameters for accurate DDoS detection.</a:t>
            </a:r>
          </a:p>
        </p:txBody>
      </p:sp>
      <p:cxnSp>
        <p:nvCxnSpPr>
          <p:cNvPr id="41" name="Connector: Curved 40">
            <a:extLst>
              <a:ext uri="{FF2B5EF4-FFF2-40B4-BE49-F238E27FC236}">
                <a16:creationId xmlns:a16="http://schemas.microsoft.com/office/drawing/2014/main" id="{D68F7B58-30CB-1DFD-95AF-2394BB495BD7}"/>
              </a:ext>
            </a:extLst>
          </p:cNvPr>
          <p:cNvCxnSpPr>
            <a:cxnSpLocks/>
          </p:cNvCxnSpPr>
          <p:nvPr/>
        </p:nvCxnSpPr>
        <p:spPr>
          <a:xfrm rot="10800000" flipV="1">
            <a:off x="9579385" y="4104534"/>
            <a:ext cx="742678" cy="478795"/>
          </a:xfrm>
          <a:prstGeom prst="curvedConnector3">
            <a:avLst>
              <a:gd name="adj1" fmla="val -2989"/>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30233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F4EC76EC-92A6-7268-EEA1-CA5E18E4326B}"/>
                  </a:ext>
                </a:extLst>
              </p:cNvPr>
              <p:cNvSpPr>
                <a:spLocks noGrp="1"/>
              </p:cNvSpPr>
              <p:nvPr>
                <p:ph type="body" idx="1"/>
              </p:nvPr>
            </p:nvSpPr>
            <p:spPr>
              <a:xfrm>
                <a:off x="415600" y="395925"/>
                <a:ext cx="11360800" cy="5901179"/>
              </a:xfrm>
            </p:spPr>
            <p:txBody>
              <a:bodyPr/>
              <a:lstStyle/>
              <a:p>
                <a:pPr marL="88900" indent="0">
                  <a:buNone/>
                </a:pPr>
                <a:r>
                  <a:rPr lang="en-IN" sz="1200" b="1" dirty="0">
                    <a:cs typeface="+mj-cs"/>
                  </a:rPr>
                  <a:t>Step 1: Initialization</a:t>
                </a:r>
              </a:p>
              <a:p>
                <a:pPr marL="88900" indent="0">
                  <a:buNone/>
                </a:pPr>
                <a:r>
                  <a:rPr lang="en-IN" sz="1200" dirty="0">
                    <a:cs typeface="+mj-cs"/>
                  </a:rPr>
                  <a:t>Generate a population of cheetahs (random solutions).</a:t>
                </a:r>
              </a:p>
              <a:p>
                <a:pPr marL="88900" indent="0">
                  <a:buNone/>
                </a:pPr>
                <a:r>
                  <a:rPr lang="en-IN" sz="1200" dirty="0">
                    <a:cs typeface="+mj-cs"/>
                  </a:rPr>
                  <a:t>Each cheetah’s position = one solution (e.g., CNN hyperparameters).</a:t>
                </a:r>
              </a:p>
              <a:p>
                <a:pPr marL="88900" indent="0">
                  <a:buNone/>
                </a:pPr>
                <a:r>
                  <a:rPr lang="en-IN" sz="1200" dirty="0">
                    <a:cs typeface="+mj-cs"/>
                  </a:rPr>
                  <a:t>Define maximum iterations </a:t>
                </a:r>
                <a14:m>
                  <m:oMath xmlns:m="http://schemas.openxmlformats.org/officeDocument/2006/math">
                    <m:r>
                      <a:rPr lang="en-IN" sz="1200" i="1">
                        <a:latin typeface="Cambria Math" panose="02040503050406030204" pitchFamily="18" charset="0"/>
                        <a:cs typeface="+mj-cs"/>
                      </a:rPr>
                      <m:t>𝑇</m:t>
                    </m:r>
                  </m:oMath>
                </a14:m>
                <a:r>
                  <a:rPr lang="en-IN" sz="1200" dirty="0">
                    <a:cs typeface="+mj-cs"/>
                  </a:rPr>
                  <a:t>.</a:t>
                </a:r>
              </a:p>
              <a:p>
                <a:pPr marL="88900" indent="0">
                  <a:buNone/>
                </a:pPr>
                <a:br>
                  <a:rPr lang="en-IN" sz="1200" dirty="0">
                    <a:cs typeface="+mj-cs"/>
                  </a:rPr>
                </a:br>
                <a:endParaRPr lang="en-IN" sz="1200" dirty="0">
                  <a:cs typeface="+mj-cs"/>
                </a:endParaRPr>
              </a:p>
              <a:p>
                <a:pPr marL="88900" indent="0">
                  <a:buNone/>
                </a:pPr>
                <a:r>
                  <a:rPr lang="en-IN" sz="1200" b="1" dirty="0">
                    <a:cs typeface="+mj-cs"/>
                  </a:rPr>
                  <a:t>Step 2: Fitness Evaluation</a:t>
                </a:r>
              </a:p>
              <a:p>
                <a:pPr marL="88900" indent="0">
                  <a:buNone/>
                </a:pPr>
                <a:r>
                  <a:rPr lang="en-IN" sz="1200" dirty="0">
                    <a:cs typeface="+mj-cs"/>
                  </a:rPr>
                  <a:t>For each cheetah, calculate </a:t>
                </a:r>
                <a:r>
                  <a:rPr lang="en-IN" sz="1200" b="1" dirty="0">
                    <a:cs typeface="+mj-cs"/>
                  </a:rPr>
                  <a:t>fitness</a:t>
                </a:r>
                <a:r>
                  <a:rPr lang="en-IN" sz="1200" dirty="0">
                    <a:cs typeface="+mj-cs"/>
                  </a:rPr>
                  <a:t> (e.g., Accuracy or F1-score of CNN).</a:t>
                </a:r>
              </a:p>
              <a:p>
                <a:pPr marL="88900" indent="0">
                  <a:buNone/>
                </a:pPr>
                <a:r>
                  <a:rPr lang="en-IN" sz="1200" dirty="0">
                    <a:cs typeface="+mj-cs"/>
                  </a:rPr>
                  <a:t>Identify the </a:t>
                </a:r>
                <a:r>
                  <a:rPr lang="en-IN" sz="1200" b="1" dirty="0">
                    <a:cs typeface="+mj-cs"/>
                  </a:rPr>
                  <a:t>prey (best solution)</a:t>
                </a:r>
                <a:r>
                  <a:rPr lang="en-IN" sz="1200" dirty="0">
                    <a:cs typeface="+mj-cs"/>
                  </a:rPr>
                  <a:t> with highest fitness.</a:t>
                </a:r>
              </a:p>
              <a:p>
                <a:pPr marL="88900" indent="0">
                  <a:buNone/>
                </a:pPr>
                <a:br>
                  <a:rPr lang="en-IN" sz="1200" dirty="0">
                    <a:cs typeface="+mj-cs"/>
                  </a:rPr>
                </a:br>
                <a:endParaRPr lang="en-IN" sz="1200" dirty="0">
                  <a:cs typeface="+mj-cs"/>
                </a:endParaRPr>
              </a:p>
              <a:p>
                <a:pPr marL="88900" indent="0">
                  <a:buNone/>
                </a:pPr>
                <a:r>
                  <a:rPr lang="en-IN" sz="1200" b="1" dirty="0">
                    <a:cs typeface="+mj-cs"/>
                  </a:rPr>
                  <a:t>Step 3: Exploration (Searching for prey)</a:t>
                </a:r>
              </a:p>
              <a:p>
                <a:pPr marL="88900" indent="0">
                  <a:buNone/>
                </a:pPr>
                <a:r>
                  <a:rPr lang="en-IN" sz="1200" dirty="0">
                    <a:cs typeface="+mj-cs"/>
                  </a:rPr>
                  <a:t>At the beginning, cheetahs explore widely.</a:t>
                </a:r>
              </a:p>
              <a:p>
                <a:pPr marL="88900" indent="0">
                  <a:buNone/>
                </a:pPr>
                <a14:m>
                  <m:oMathPara xmlns:m="http://schemas.openxmlformats.org/officeDocument/2006/math">
                    <m:oMathParaPr>
                      <m:jc m:val="centerGroup"/>
                    </m:oMathParaPr>
                    <m:oMath xmlns:m="http://schemas.openxmlformats.org/officeDocument/2006/math">
                      <m:r>
                        <a:rPr lang="en-IN" sz="1200" i="1">
                          <a:latin typeface="Cambria Math" panose="02040503050406030204" pitchFamily="18" charset="0"/>
                          <a:cs typeface="+mj-cs"/>
                        </a:rPr>
                        <m:t>𝐴</m:t>
                      </m:r>
                      <m:r>
                        <a:rPr lang="en-IN" sz="1200">
                          <a:latin typeface="Cambria Math" panose="02040503050406030204" pitchFamily="18" charset="0"/>
                          <a:cs typeface="+mj-cs"/>
                        </a:rPr>
                        <m:t>=</m:t>
                      </m:r>
                      <m:r>
                        <a:rPr lang="en-IN" sz="1200">
                          <a:latin typeface="Cambria Math" panose="02040503050406030204" pitchFamily="18" charset="0"/>
                          <a:cs typeface="+mj-cs"/>
                        </a:rPr>
                        <m:t>2</m:t>
                      </m:r>
                      <m:r>
                        <a:rPr lang="en-IN" sz="1200">
                          <a:latin typeface="Cambria Math" panose="02040503050406030204" pitchFamily="18" charset="0"/>
                          <a:cs typeface="+mj-cs"/>
                        </a:rPr>
                        <m:t>⋅(</m:t>
                      </m:r>
                      <m:r>
                        <a:rPr lang="en-IN" sz="1200">
                          <a:latin typeface="Cambria Math" panose="02040503050406030204" pitchFamily="18" charset="0"/>
                          <a:cs typeface="+mj-cs"/>
                        </a:rPr>
                        <m:t>1</m:t>
                      </m:r>
                      <m:r>
                        <a:rPr lang="en-IN" sz="1200">
                          <a:latin typeface="Cambria Math" panose="02040503050406030204" pitchFamily="18" charset="0"/>
                          <a:cs typeface="+mj-cs"/>
                        </a:rPr>
                        <m:t>−</m:t>
                      </m:r>
                      <m:f>
                        <m:fPr>
                          <m:ctrlPr>
                            <a:rPr lang="ar-SA" sz="1200" i="1">
                              <a:latin typeface="Cambria Math" panose="02040503050406030204" pitchFamily="18" charset="0"/>
                              <a:cs typeface="+mj-cs"/>
                            </a:rPr>
                          </m:ctrlPr>
                        </m:fPr>
                        <m:num>
                          <m:r>
                            <a:rPr lang="ar-SA" sz="1200" i="1">
                              <a:latin typeface="Cambria Math" panose="02040503050406030204" pitchFamily="18" charset="0"/>
                              <a:cs typeface="+mj-cs"/>
                            </a:rPr>
                            <m:t>𝑡</m:t>
                          </m:r>
                        </m:num>
                        <m:den>
                          <m:r>
                            <a:rPr lang="ar-SA" sz="1200" i="1">
                              <a:latin typeface="Cambria Math" panose="02040503050406030204" pitchFamily="18" charset="0"/>
                              <a:cs typeface="+mj-cs"/>
                            </a:rPr>
                            <m:t>𝑇</m:t>
                          </m:r>
                        </m:den>
                      </m:f>
                      <m:r>
                        <a:rPr lang="ar-SA" sz="1200">
                          <a:latin typeface="Cambria Math" panose="02040503050406030204" pitchFamily="18" charset="0"/>
                          <a:cs typeface="+mj-cs"/>
                        </a:rPr>
                        <m:t>)</m:t>
                      </m:r>
                    </m:oMath>
                  </m:oMathPara>
                </a14:m>
                <a:endParaRPr lang="ar-SA" sz="1200" dirty="0">
                  <a:cs typeface="+mj-cs"/>
                </a:endParaRPr>
              </a:p>
              <a:p>
                <a:pPr marL="88900" indent="0">
                  <a:buNone/>
                </a:pPr>
                <a:r>
                  <a:rPr lang="en-IN" sz="1200" dirty="0">
                    <a:cs typeface="+mj-cs"/>
                  </a:rPr>
                  <a:t>Where:</a:t>
                </a:r>
              </a:p>
              <a:p>
                <a:pPr marL="88900" indent="0">
                  <a:buNone/>
                </a:pPr>
                <a14:m>
                  <m:oMath xmlns:m="http://schemas.openxmlformats.org/officeDocument/2006/math">
                    <m:r>
                      <a:rPr lang="en-IN" sz="1200" i="1">
                        <a:latin typeface="Cambria Math" panose="02040503050406030204" pitchFamily="18" charset="0"/>
                        <a:cs typeface="+mj-cs"/>
                      </a:rPr>
                      <m:t>𝑡</m:t>
                    </m:r>
                  </m:oMath>
                </a14:m>
                <a:r>
                  <a:rPr lang="en-IN" sz="1200" dirty="0">
                    <a:cs typeface="+mj-cs"/>
                  </a:rPr>
                  <a:t>= current iteration</a:t>
                </a:r>
              </a:p>
              <a:p>
                <a:pPr marL="88900" indent="0">
                  <a:buNone/>
                </a:pPr>
                <a14:m>
                  <m:oMath xmlns:m="http://schemas.openxmlformats.org/officeDocument/2006/math">
                    <m:r>
                      <a:rPr lang="en-IN" sz="1200" i="1">
                        <a:latin typeface="Cambria Math" panose="02040503050406030204" pitchFamily="18" charset="0"/>
                        <a:cs typeface="+mj-cs"/>
                      </a:rPr>
                      <m:t>𝑇</m:t>
                    </m:r>
                  </m:oMath>
                </a14:m>
                <a:r>
                  <a:rPr lang="en-IN" sz="1200" dirty="0">
                    <a:cs typeface="+mj-cs"/>
                  </a:rPr>
                  <a:t>= max iterations</a:t>
                </a:r>
              </a:p>
              <a:p>
                <a:pPr marL="88900" indent="0">
                  <a:buNone/>
                </a:pPr>
                <a14:m>
                  <m:oMath xmlns:m="http://schemas.openxmlformats.org/officeDocument/2006/math">
                    <m:r>
                      <a:rPr lang="en-IN" sz="1200" i="1">
                        <a:latin typeface="Cambria Math" panose="02040503050406030204" pitchFamily="18" charset="0"/>
                        <a:cs typeface="+mj-cs"/>
                      </a:rPr>
                      <m:t>𝐴</m:t>
                    </m:r>
                  </m:oMath>
                </a14:m>
                <a:r>
                  <a:rPr lang="en-IN" sz="1200" dirty="0">
                    <a:cs typeface="+mj-cs"/>
                  </a:rPr>
                  <a:t> controls movement — starts large (exploration) and shrinks to small (exploitation).</a:t>
                </a:r>
              </a:p>
              <a:p>
                <a:pPr marL="88900" indent="0">
                  <a:buNone/>
                </a:pPr>
                <a:br>
                  <a:rPr lang="en-IN" sz="1200" dirty="0">
                    <a:cs typeface="+mj-cs"/>
                  </a:rPr>
                </a:br>
                <a:endParaRPr lang="en-IN" sz="1200" dirty="0">
                  <a:cs typeface="+mj-cs"/>
                </a:endParaRPr>
              </a:p>
              <a:p>
                <a:pPr marL="88900" indent="0">
                  <a:buNone/>
                </a:pPr>
                <a:r>
                  <a:rPr lang="en-IN" sz="1200" b="1" dirty="0">
                    <a:cs typeface="+mj-cs"/>
                  </a:rPr>
                  <a:t>Step 4: Position Update (Chasing prey)</a:t>
                </a:r>
              </a:p>
              <a:p>
                <a:pPr marL="88900" indent="0">
                  <a:buNone/>
                </a:pPr>
                <a:r>
                  <a:rPr lang="en-IN" sz="1200" dirty="0">
                    <a:cs typeface="+mj-cs"/>
                  </a:rPr>
                  <a:t>Cheetahs update their positions based on prey location:</a:t>
                </a:r>
              </a:p>
              <a:p>
                <a:pPr marL="88900" indent="0">
                  <a:buNone/>
                </a:pPr>
                <a14:m>
                  <m:oMathPara xmlns:m="http://schemas.openxmlformats.org/officeDocument/2006/math">
                    <m:oMathParaPr>
                      <m:jc m:val="centerGroup"/>
                    </m:oMathParaPr>
                    <m:oMath xmlns:m="http://schemas.openxmlformats.org/officeDocument/2006/math">
                      <m:r>
                        <a:rPr lang="en-IN" sz="1200" i="1">
                          <a:latin typeface="Cambria Math" panose="02040503050406030204" pitchFamily="18" charset="0"/>
                          <a:cs typeface="+mj-cs"/>
                        </a:rPr>
                        <m:t>𝑋</m:t>
                      </m:r>
                      <m:d>
                        <m:dPr>
                          <m:ctrlPr>
                            <a:rPr lang="ar-SA" sz="1200" i="1">
                              <a:latin typeface="Cambria Math" panose="02040503050406030204" pitchFamily="18" charset="0"/>
                              <a:cs typeface="+mj-cs"/>
                            </a:rPr>
                          </m:ctrlPr>
                        </m:dPr>
                        <m:e>
                          <m:r>
                            <a:rPr lang="ar-SA" sz="1200" i="1">
                              <a:latin typeface="Cambria Math" panose="02040503050406030204" pitchFamily="18" charset="0"/>
                              <a:cs typeface="+mj-cs"/>
                            </a:rPr>
                            <m:t>𝑡</m:t>
                          </m:r>
                          <m:r>
                            <a:rPr lang="ar-SA" sz="1200">
                              <a:latin typeface="Cambria Math" panose="02040503050406030204" pitchFamily="18" charset="0"/>
                              <a:cs typeface="+mj-cs"/>
                            </a:rPr>
                            <m:t>+</m:t>
                          </m:r>
                          <m:r>
                            <a:rPr lang="ar-SA" sz="1200">
                              <a:latin typeface="Cambria Math" panose="02040503050406030204" pitchFamily="18" charset="0"/>
                              <a:cs typeface="+mj-cs"/>
                            </a:rPr>
                            <m:t>1</m:t>
                          </m:r>
                        </m:e>
                      </m:d>
                      <m:r>
                        <a:rPr lang="ar-SA" sz="1200">
                          <a:latin typeface="Cambria Math" panose="02040503050406030204" pitchFamily="18" charset="0"/>
                          <a:cs typeface="+mj-cs"/>
                        </a:rPr>
                        <m:t>=</m:t>
                      </m:r>
                      <m:r>
                        <a:rPr lang="ar-SA" sz="1200" i="1">
                          <a:latin typeface="Cambria Math" panose="02040503050406030204" pitchFamily="18" charset="0"/>
                          <a:cs typeface="+mj-cs"/>
                        </a:rPr>
                        <m:t>𝑋</m:t>
                      </m:r>
                      <m:d>
                        <m:dPr>
                          <m:ctrlPr>
                            <a:rPr lang="ar-SA" sz="1200" i="1">
                              <a:latin typeface="Cambria Math" panose="02040503050406030204" pitchFamily="18" charset="0"/>
                              <a:cs typeface="+mj-cs"/>
                            </a:rPr>
                          </m:ctrlPr>
                        </m:dPr>
                        <m:e>
                          <m:r>
                            <a:rPr lang="ar-SA" sz="1200" i="1">
                              <a:latin typeface="Cambria Math" panose="02040503050406030204" pitchFamily="18" charset="0"/>
                              <a:cs typeface="+mj-cs"/>
                            </a:rPr>
                            <m:t>𝑡</m:t>
                          </m:r>
                        </m:e>
                      </m:d>
                      <m:r>
                        <a:rPr lang="ar-SA" sz="1200">
                          <a:latin typeface="Cambria Math" panose="02040503050406030204" pitchFamily="18" charset="0"/>
                          <a:cs typeface="+mj-cs"/>
                        </a:rPr>
                        <m:t>+</m:t>
                      </m:r>
                      <m:r>
                        <a:rPr lang="ar-SA" sz="1200" i="1">
                          <a:latin typeface="Cambria Math" panose="02040503050406030204" pitchFamily="18" charset="0"/>
                          <a:cs typeface="+mj-cs"/>
                        </a:rPr>
                        <m:t>𝐴</m:t>
                      </m:r>
                      <m:r>
                        <a:rPr lang="ar-SA" sz="1200">
                          <a:latin typeface="Cambria Math" panose="02040503050406030204" pitchFamily="18" charset="0"/>
                          <a:cs typeface="+mj-cs"/>
                        </a:rPr>
                        <m:t>⋅</m:t>
                      </m:r>
                      <m:d>
                        <m:dPr>
                          <m:ctrlPr>
                            <a:rPr lang="ar-SA" sz="1200" i="1">
                              <a:latin typeface="Cambria Math" panose="02040503050406030204" pitchFamily="18" charset="0"/>
                              <a:cs typeface="+mj-cs"/>
                            </a:rPr>
                          </m:ctrlPr>
                        </m:dPr>
                        <m:e>
                          <m:r>
                            <a:rPr lang="ar-SA" sz="1200" i="1">
                              <a:latin typeface="Cambria Math" panose="02040503050406030204" pitchFamily="18" charset="0"/>
                              <a:cs typeface="+mj-cs"/>
                            </a:rPr>
                            <m:t>𝑃𝑟𝑒𝑦</m:t>
                          </m:r>
                          <m:r>
                            <a:rPr lang="ar-SA" sz="1200">
                              <a:latin typeface="Cambria Math" panose="02040503050406030204" pitchFamily="18" charset="0"/>
                              <a:cs typeface="+mj-cs"/>
                            </a:rPr>
                            <m:t>−</m:t>
                          </m:r>
                          <m:r>
                            <a:rPr lang="ar-SA" sz="1200" i="1">
                              <a:latin typeface="Cambria Math" panose="02040503050406030204" pitchFamily="18" charset="0"/>
                              <a:cs typeface="+mj-cs"/>
                            </a:rPr>
                            <m:t>𝑋</m:t>
                          </m:r>
                          <m:d>
                            <m:dPr>
                              <m:ctrlPr>
                                <a:rPr lang="ar-SA" sz="1200" i="1">
                                  <a:latin typeface="Cambria Math" panose="02040503050406030204" pitchFamily="18" charset="0"/>
                                  <a:cs typeface="+mj-cs"/>
                                </a:rPr>
                              </m:ctrlPr>
                            </m:dPr>
                            <m:e>
                              <m:r>
                                <a:rPr lang="ar-SA" sz="1200" i="1">
                                  <a:latin typeface="Cambria Math" panose="02040503050406030204" pitchFamily="18" charset="0"/>
                                  <a:cs typeface="+mj-cs"/>
                                </a:rPr>
                                <m:t>𝑡</m:t>
                              </m:r>
                            </m:e>
                          </m:d>
                        </m:e>
                      </m:d>
                    </m:oMath>
                  </m:oMathPara>
                </a14:m>
                <a:endParaRPr lang="ar-SA" sz="1200" dirty="0">
                  <a:cs typeface="+mj-cs"/>
                </a:endParaRPr>
              </a:p>
              <a:p>
                <a:pPr marL="88900" indent="0">
                  <a:buNone/>
                </a:pPr>
                <a:r>
                  <a:rPr lang="en-IN" sz="1200" dirty="0">
                    <a:cs typeface="+mj-cs"/>
                  </a:rPr>
                  <a:t>If </a:t>
                </a:r>
                <a14:m>
                  <m:oMath xmlns:m="http://schemas.openxmlformats.org/officeDocument/2006/math">
                    <m:r>
                      <a:rPr lang="en-IN" sz="1200" i="1">
                        <a:latin typeface="Cambria Math" panose="02040503050406030204" pitchFamily="18" charset="0"/>
                        <a:cs typeface="+mj-cs"/>
                      </a:rPr>
                      <m:t>𝐴</m:t>
                    </m:r>
                    <m:r>
                      <a:rPr lang="en-IN" sz="1200">
                        <a:latin typeface="Cambria Math" panose="02040503050406030204" pitchFamily="18" charset="0"/>
                        <a:cs typeface="+mj-cs"/>
                      </a:rPr>
                      <m:t>&gt;</m:t>
                    </m:r>
                    <m:r>
                      <a:rPr lang="en-IN" sz="1200">
                        <a:latin typeface="Cambria Math" panose="02040503050406030204" pitchFamily="18" charset="0"/>
                        <a:cs typeface="+mj-cs"/>
                      </a:rPr>
                      <m:t>1</m:t>
                    </m:r>
                  </m:oMath>
                </a14:m>
                <a:r>
                  <a:rPr lang="en-IN" sz="1200" dirty="0">
                    <a:cs typeface="+mj-cs"/>
                  </a:rPr>
                  <a:t>: cheetah explores far (random chase).</a:t>
                </a:r>
              </a:p>
              <a:p>
                <a:pPr marL="88900" indent="0">
                  <a:buNone/>
                </a:pPr>
                <a:r>
                  <a:rPr lang="en-IN" sz="1200" dirty="0">
                    <a:cs typeface="+mj-cs"/>
                  </a:rPr>
                  <a:t>If </a:t>
                </a:r>
                <a14:m>
                  <m:oMath xmlns:m="http://schemas.openxmlformats.org/officeDocument/2006/math">
                    <m:r>
                      <a:rPr lang="en-IN" sz="1200" i="1">
                        <a:latin typeface="Cambria Math" panose="02040503050406030204" pitchFamily="18" charset="0"/>
                        <a:cs typeface="+mj-cs"/>
                      </a:rPr>
                      <m:t>𝐴</m:t>
                    </m:r>
                    <m:r>
                      <a:rPr lang="en-IN" sz="1200">
                        <a:latin typeface="Cambria Math" panose="02040503050406030204" pitchFamily="18" charset="0"/>
                        <a:cs typeface="+mj-cs"/>
                      </a:rPr>
                      <m:t>&lt;</m:t>
                    </m:r>
                    <m:r>
                      <a:rPr lang="en-IN" sz="1200">
                        <a:latin typeface="Cambria Math" panose="02040503050406030204" pitchFamily="18" charset="0"/>
                        <a:cs typeface="+mj-cs"/>
                      </a:rPr>
                      <m:t>1</m:t>
                    </m:r>
                  </m:oMath>
                </a14:m>
                <a:r>
                  <a:rPr lang="en-IN" sz="1200" dirty="0">
                    <a:cs typeface="+mj-cs"/>
                  </a:rPr>
                  <a:t>: cheetah exploits near prey (focused chase).</a:t>
                </a:r>
              </a:p>
              <a:p>
                <a:pPr marL="88900" indent="0">
                  <a:buNone/>
                </a:pPr>
                <a:br>
                  <a:rPr lang="en-IN" sz="1200" dirty="0">
                    <a:cs typeface="+mj-cs"/>
                  </a:rPr>
                </a:br>
                <a:endParaRPr lang="en-IN" sz="1200" dirty="0">
                  <a:cs typeface="+mj-cs"/>
                </a:endParaRPr>
              </a:p>
              <a:p>
                <a:pPr marL="88900" indent="0">
                  <a:buNone/>
                </a:pPr>
                <a:r>
                  <a:rPr lang="en-IN" sz="1200" b="1" dirty="0">
                    <a:cs typeface="+mj-cs"/>
                  </a:rPr>
                  <a:t>Step 5: Attacking (Convergence)</a:t>
                </a:r>
              </a:p>
              <a:p>
                <a:pPr marL="88900" indent="0">
                  <a:buNone/>
                </a:pPr>
                <a:r>
                  <a:rPr lang="en-IN" sz="1200" dirty="0">
                    <a:cs typeface="+mj-cs"/>
                  </a:rPr>
                  <a:t>As </a:t>
                </a:r>
                <a14:m>
                  <m:oMath xmlns:m="http://schemas.openxmlformats.org/officeDocument/2006/math">
                    <m:r>
                      <a:rPr lang="en-IN" sz="1200" i="1">
                        <a:latin typeface="Cambria Math" panose="02040503050406030204" pitchFamily="18" charset="0"/>
                        <a:cs typeface="+mj-cs"/>
                      </a:rPr>
                      <m:t>𝐴</m:t>
                    </m:r>
                    <m:r>
                      <a:rPr lang="en-IN" sz="1200">
                        <a:latin typeface="Cambria Math" panose="02040503050406030204" pitchFamily="18" charset="0"/>
                        <a:cs typeface="+mj-cs"/>
                      </a:rPr>
                      <m:t>→</m:t>
                    </m:r>
                    <m:r>
                      <a:rPr lang="en-IN" sz="1200">
                        <a:latin typeface="Cambria Math" panose="02040503050406030204" pitchFamily="18" charset="0"/>
                        <a:cs typeface="+mj-cs"/>
                      </a:rPr>
                      <m:t>0</m:t>
                    </m:r>
                  </m:oMath>
                </a14:m>
                <a:r>
                  <a:rPr lang="en-IN" sz="1200" dirty="0">
                    <a:cs typeface="+mj-cs"/>
                  </a:rPr>
                  <a:t>, cheetahs get very close to the prey.</a:t>
                </a:r>
              </a:p>
              <a:p>
                <a:pPr marL="88900" indent="0">
                  <a:buNone/>
                </a:pPr>
                <a:r>
                  <a:rPr lang="en-IN" sz="1200" dirty="0">
                    <a:cs typeface="+mj-cs"/>
                  </a:rPr>
                  <a:t>Final positions converge near the global optimum.</a:t>
                </a:r>
              </a:p>
              <a:p>
                <a:pPr marL="88900" indent="0">
                  <a:buNone/>
                </a:pPr>
                <a:br>
                  <a:rPr lang="en-IN" sz="1200" dirty="0">
                    <a:cs typeface="+mj-cs"/>
                  </a:rPr>
                </a:br>
                <a:endParaRPr lang="en-IN" sz="1200" dirty="0">
                  <a:cs typeface="+mj-cs"/>
                </a:endParaRPr>
              </a:p>
              <a:p>
                <a:pPr marL="88900" indent="0">
                  <a:buNone/>
                </a:pPr>
                <a:endParaRPr lang="en-IN" sz="1200" dirty="0">
                  <a:cs typeface="+mj-cs"/>
                </a:endParaRPr>
              </a:p>
            </p:txBody>
          </p:sp>
        </mc:Choice>
        <mc:Fallback xmlns="">
          <p:sp>
            <p:nvSpPr>
              <p:cNvPr id="3" name="Text Placeholder 2">
                <a:extLst>
                  <a:ext uri="{FF2B5EF4-FFF2-40B4-BE49-F238E27FC236}">
                    <a16:creationId xmlns:a16="http://schemas.microsoft.com/office/drawing/2014/main" id="{F4EC76EC-92A6-7268-EEA1-CA5E18E4326B}"/>
                  </a:ext>
                </a:extLst>
              </p:cNvPr>
              <p:cNvSpPr>
                <a:spLocks noGrp="1" noRot="1" noChangeAspect="1" noMove="1" noResize="1" noEditPoints="1" noAdjustHandles="1" noChangeArrowheads="1" noChangeShapeType="1" noTextEdit="1"/>
              </p:cNvSpPr>
              <p:nvPr>
                <p:ph type="body" idx="1"/>
              </p:nvPr>
            </p:nvSpPr>
            <p:spPr>
              <a:xfrm>
                <a:off x="415600" y="395925"/>
                <a:ext cx="11360800" cy="5901179"/>
              </a:xfrm>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069532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DF89F83-D950-EAC2-EEBF-EE23EF05C7DA}"/>
              </a:ext>
            </a:extLst>
          </p:cNvPr>
          <p:cNvSpPr txBox="1"/>
          <p:nvPr/>
        </p:nvSpPr>
        <p:spPr>
          <a:xfrm>
            <a:off x="766659" y="670560"/>
            <a:ext cx="3226221" cy="400110"/>
          </a:xfrm>
          <a:prstGeom prst="rect">
            <a:avLst/>
          </a:prstGeom>
          <a:noFill/>
        </p:spPr>
        <p:txBody>
          <a:bodyPr wrap="square" rtlCol="0">
            <a:spAutoFit/>
          </a:bodyPr>
          <a:lstStyle/>
          <a:p>
            <a:r>
              <a:rPr lang="en-IN" sz="2000" b="1" dirty="0" err="1">
                <a:latin typeface="Times New Roman" panose="02020603050405020304" pitchFamily="18" charset="0"/>
                <a:cs typeface="Times New Roman" panose="02020603050405020304" pitchFamily="18" charset="0"/>
              </a:rPr>
              <a:t>CHoA</a:t>
            </a:r>
            <a:r>
              <a:rPr lang="en-IN" sz="2000" b="1" dirty="0">
                <a:latin typeface="Times New Roman" panose="02020603050405020304" pitchFamily="18" charset="0"/>
                <a:cs typeface="Times New Roman" panose="02020603050405020304" pitchFamily="18" charset="0"/>
              </a:rPr>
              <a:t> LOGIC CODE </a:t>
            </a:r>
          </a:p>
        </p:txBody>
      </p:sp>
      <p:pic>
        <p:nvPicPr>
          <p:cNvPr id="6" name="Picture 5" descr="A computer screen with white and green text&#10;&#10;AI-generated content may be incorrect.">
            <a:extLst>
              <a:ext uri="{FF2B5EF4-FFF2-40B4-BE49-F238E27FC236}">
                <a16:creationId xmlns:a16="http://schemas.microsoft.com/office/drawing/2014/main" id="{6EC43E05-8C6E-971A-1370-C42AC9F797CC}"/>
              </a:ext>
            </a:extLst>
          </p:cNvPr>
          <p:cNvPicPr>
            <a:picLocks noChangeAspect="1"/>
          </p:cNvPicPr>
          <p:nvPr/>
        </p:nvPicPr>
        <p:blipFill>
          <a:blip r:embed="rId2">
            <a:extLst>
              <a:ext uri="{28A0092B-C50C-407E-A947-70E740481C1C}">
                <a14:useLocalDpi xmlns:a14="http://schemas.microsoft.com/office/drawing/2010/main" val="0"/>
              </a:ext>
            </a:extLst>
          </a:blip>
          <a:srcRect t="16487"/>
          <a:stretch>
            <a:fillRect/>
          </a:stretch>
        </p:blipFill>
        <p:spPr>
          <a:xfrm>
            <a:off x="1400175" y="1611370"/>
            <a:ext cx="9391650" cy="363526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9982327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55195-A254-DF2E-9710-91BA53EBEA99}"/>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Ensemble Model</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F7475AE1-A95D-7914-304C-632105BF356C}"/>
                  </a:ext>
                </a:extLst>
              </p:cNvPr>
              <p:cNvSpPr>
                <a:spLocks noGrp="1"/>
              </p:cNvSpPr>
              <p:nvPr>
                <p:ph type="body" idx="1"/>
              </p:nvPr>
            </p:nvSpPr>
            <p:spPr/>
            <p:txBody>
              <a:bodyPr/>
              <a:lstStyle/>
              <a:p>
                <a:pPr marL="546100" indent="-457200">
                  <a:buFont typeface="+mj-lt"/>
                  <a:buAutoNum type="arabicPeriod"/>
                </a:pPr>
                <a:r>
                  <a:rPr lang="en-GB" dirty="0">
                    <a:latin typeface="Times New Roman" panose="02020603050405020304" pitchFamily="18" charset="0"/>
                    <a:cs typeface="Times New Roman" panose="02020603050405020304" pitchFamily="18" charset="0"/>
                  </a:rPr>
                  <a:t>Combines predictions from </a:t>
                </a:r>
                <a:r>
                  <a:rPr lang="en-GB" b="1" dirty="0" err="1">
                    <a:latin typeface="Times New Roman" panose="02020603050405020304" pitchFamily="18" charset="0"/>
                    <a:cs typeface="Times New Roman" panose="02020603050405020304" pitchFamily="18" charset="0"/>
                  </a:rPr>
                  <a:t>ChOA</a:t>
                </a:r>
                <a:r>
                  <a:rPr lang="en-GB" dirty="0">
                    <a:latin typeface="Times New Roman" panose="02020603050405020304" pitchFamily="18" charset="0"/>
                    <a:cs typeface="Times New Roman" panose="02020603050405020304" pitchFamily="18" charset="0"/>
                  </a:rPr>
                  <a:t> and </a:t>
                </a:r>
                <a:r>
                  <a:rPr lang="en-GB" b="1" dirty="0">
                    <a:latin typeface="Times New Roman" panose="02020603050405020304" pitchFamily="18" charset="0"/>
                    <a:cs typeface="Times New Roman" panose="02020603050405020304" pitchFamily="18" charset="0"/>
                  </a:rPr>
                  <a:t>PSO</a:t>
                </a:r>
                <a:r>
                  <a:rPr lang="en-GB" dirty="0">
                    <a:latin typeface="Times New Roman" panose="02020603050405020304" pitchFamily="18" charset="0"/>
                    <a:cs typeface="Times New Roman" panose="02020603050405020304" pitchFamily="18" charset="0"/>
                  </a:rPr>
                  <a:t> optimized CNN models.</a:t>
                </a:r>
              </a:p>
              <a:p>
                <a:pPr marL="546100" indent="-457200">
                  <a:buFont typeface="+mj-lt"/>
                  <a:buAutoNum type="arabicPeriod"/>
                </a:pPr>
                <a:r>
                  <a:rPr lang="en-GB" dirty="0" err="1">
                    <a:latin typeface="Times New Roman" panose="02020603050405020304" pitchFamily="18" charset="0"/>
                    <a:cs typeface="Times New Roman" panose="02020603050405020304" pitchFamily="18" charset="0"/>
                  </a:rPr>
                  <a:t>ChOA</a:t>
                </a:r>
                <a:r>
                  <a:rPr lang="en-GB" dirty="0">
                    <a:latin typeface="Times New Roman" panose="02020603050405020304" pitchFamily="18" charset="0"/>
                    <a:cs typeface="Times New Roman" panose="02020603050405020304" pitchFamily="18" charset="0"/>
                  </a:rPr>
                  <a:t> is given more weight since it performs slightly better.</a:t>
                </a:r>
              </a:p>
              <a:p>
                <a:pPr marL="546100" indent="-457200">
                  <a:buFont typeface="+mj-lt"/>
                  <a:buAutoNum type="arabicPeriod"/>
                </a:pPr>
                <a:r>
                  <a:rPr lang="en-IN" dirty="0">
                    <a:latin typeface="Times New Roman" panose="02020603050405020304" pitchFamily="18" charset="0"/>
                    <a:cs typeface="Times New Roman" panose="02020603050405020304" pitchFamily="18" charset="0"/>
                  </a:rPr>
                  <a:t>Final prediction:</a:t>
                </a:r>
              </a:p>
              <a:p>
                <a:pPr marL="88900" indent="0">
                  <a:buNone/>
                </a:pPr>
                <a:r>
                  <a:rPr lang="en-GB" dirty="0">
                    <a:cs typeface="+mj-cs"/>
                  </a:rPr>
                  <a:t>                                  </a:t>
                </a:r>
                <a14:m>
                  <m:oMath xmlns:m="http://schemas.openxmlformats.org/officeDocument/2006/math">
                    <m:sSub>
                      <m:sSubPr>
                        <m:ctrlPr>
                          <a:rPr lang="ar-SA" i="1">
                            <a:latin typeface="Cambria Math" panose="02040503050406030204" pitchFamily="18" charset="0"/>
                            <a:cs typeface="+mj-cs"/>
                          </a:rPr>
                        </m:ctrlPr>
                      </m:sSubPr>
                      <m:e>
                        <m:r>
                          <a:rPr lang="ar-SA" i="1">
                            <a:latin typeface="Cambria Math" panose="02040503050406030204" pitchFamily="18" charset="0"/>
                            <a:cs typeface="+mj-cs"/>
                          </a:rPr>
                          <m:t>𝑦</m:t>
                        </m:r>
                      </m:e>
                      <m:sub>
                        <m:r>
                          <a:rPr lang="ar-SA" i="1">
                            <a:latin typeface="Cambria Math" panose="02040503050406030204" pitchFamily="18" charset="0"/>
                            <a:cs typeface="+mj-cs"/>
                          </a:rPr>
                          <m:t>𝑓𝑖𝑛𝑎𝑙</m:t>
                        </m:r>
                      </m:sub>
                    </m:sSub>
                    <m:r>
                      <a:rPr lang="ar-SA">
                        <a:latin typeface="Cambria Math" panose="02040503050406030204" pitchFamily="18" charset="0"/>
                        <a:cs typeface="+mj-cs"/>
                      </a:rPr>
                      <m:t>=</m:t>
                    </m:r>
                    <m:r>
                      <a:rPr lang="ar-SA">
                        <a:latin typeface="Cambria Math" panose="02040503050406030204" pitchFamily="18" charset="0"/>
                        <a:cs typeface="+mj-cs"/>
                      </a:rPr>
                      <m:t>0</m:t>
                    </m:r>
                    <m:r>
                      <a:rPr lang="ar-SA">
                        <a:latin typeface="Cambria Math" panose="02040503050406030204" pitchFamily="18" charset="0"/>
                        <a:cs typeface="+mj-cs"/>
                      </a:rPr>
                      <m:t>.</m:t>
                    </m:r>
                    <m:r>
                      <a:rPr lang="ar-SA">
                        <a:latin typeface="Cambria Math" panose="02040503050406030204" pitchFamily="18" charset="0"/>
                        <a:cs typeface="+mj-cs"/>
                      </a:rPr>
                      <m:t>55</m:t>
                    </m:r>
                    <m:r>
                      <a:rPr lang="ar-SA">
                        <a:latin typeface="Cambria Math" panose="02040503050406030204" pitchFamily="18" charset="0"/>
                        <a:cs typeface="+mj-cs"/>
                      </a:rPr>
                      <m:t>⋅</m:t>
                    </m:r>
                    <m:sSub>
                      <m:sSubPr>
                        <m:ctrlPr>
                          <a:rPr lang="ar-SA" i="1">
                            <a:latin typeface="Cambria Math" panose="02040503050406030204" pitchFamily="18" charset="0"/>
                            <a:cs typeface="+mj-cs"/>
                          </a:rPr>
                        </m:ctrlPr>
                      </m:sSubPr>
                      <m:e>
                        <m:r>
                          <a:rPr lang="ar-SA" i="1">
                            <a:latin typeface="Cambria Math" panose="02040503050406030204" pitchFamily="18" charset="0"/>
                            <a:cs typeface="+mj-cs"/>
                          </a:rPr>
                          <m:t>𝑦</m:t>
                        </m:r>
                      </m:e>
                      <m:sub>
                        <m:r>
                          <a:rPr lang="ar-SA" i="1">
                            <a:latin typeface="Cambria Math" panose="02040503050406030204" pitchFamily="18" charset="0"/>
                            <a:cs typeface="+mj-cs"/>
                          </a:rPr>
                          <m:t>𝐶</m:t>
                        </m:r>
                        <m:r>
                          <a:rPr lang="ar-SA" i="1">
                            <a:latin typeface="Cambria Math" panose="02040503050406030204" pitchFamily="18" charset="0"/>
                            <a:cs typeface="+mj-cs"/>
                          </a:rPr>
                          <m:t>h</m:t>
                        </m:r>
                        <m:r>
                          <a:rPr lang="ar-SA" i="1">
                            <a:latin typeface="Cambria Math" panose="02040503050406030204" pitchFamily="18" charset="0"/>
                            <a:cs typeface="+mj-cs"/>
                          </a:rPr>
                          <m:t>𝑂𝐴</m:t>
                        </m:r>
                      </m:sub>
                    </m:sSub>
                    <m:r>
                      <a:rPr lang="ar-SA">
                        <a:latin typeface="Cambria Math" panose="02040503050406030204" pitchFamily="18" charset="0"/>
                        <a:cs typeface="+mj-cs"/>
                      </a:rPr>
                      <m:t>+</m:t>
                    </m:r>
                    <m:r>
                      <a:rPr lang="ar-SA">
                        <a:latin typeface="Cambria Math" panose="02040503050406030204" pitchFamily="18" charset="0"/>
                        <a:cs typeface="+mj-cs"/>
                      </a:rPr>
                      <m:t>0</m:t>
                    </m:r>
                    <m:r>
                      <a:rPr lang="ar-SA">
                        <a:latin typeface="Cambria Math" panose="02040503050406030204" pitchFamily="18" charset="0"/>
                        <a:cs typeface="+mj-cs"/>
                      </a:rPr>
                      <m:t>.</m:t>
                    </m:r>
                    <m:r>
                      <a:rPr lang="ar-SA">
                        <a:latin typeface="Cambria Math" panose="02040503050406030204" pitchFamily="18" charset="0"/>
                        <a:cs typeface="+mj-cs"/>
                      </a:rPr>
                      <m:t>45</m:t>
                    </m:r>
                    <m:r>
                      <a:rPr lang="ar-SA">
                        <a:latin typeface="Cambria Math" panose="02040503050406030204" pitchFamily="18" charset="0"/>
                        <a:cs typeface="+mj-cs"/>
                      </a:rPr>
                      <m:t>⋅</m:t>
                    </m:r>
                    <m:sSub>
                      <m:sSubPr>
                        <m:ctrlPr>
                          <a:rPr lang="ar-SA" i="1">
                            <a:latin typeface="Cambria Math" panose="02040503050406030204" pitchFamily="18" charset="0"/>
                            <a:cs typeface="+mj-cs"/>
                          </a:rPr>
                        </m:ctrlPr>
                      </m:sSubPr>
                      <m:e>
                        <m:r>
                          <a:rPr lang="ar-SA" i="1">
                            <a:latin typeface="Cambria Math" panose="02040503050406030204" pitchFamily="18" charset="0"/>
                            <a:cs typeface="+mj-cs"/>
                          </a:rPr>
                          <m:t>𝑦</m:t>
                        </m:r>
                      </m:e>
                      <m:sub>
                        <m:r>
                          <a:rPr lang="ar-SA" i="1">
                            <a:latin typeface="Cambria Math" panose="02040503050406030204" pitchFamily="18" charset="0"/>
                            <a:cs typeface="+mj-cs"/>
                          </a:rPr>
                          <m:t>𝑃𝑆𝑂</m:t>
                        </m:r>
                      </m:sub>
                    </m:sSub>
                  </m:oMath>
                </a14:m>
                <a:endParaRPr lang="ar-SA" dirty="0">
                  <a:cs typeface="+mj-cs"/>
                </a:endParaRPr>
              </a:p>
              <a:p>
                <a:endParaRPr lang="en-IN" dirty="0"/>
              </a:p>
            </p:txBody>
          </p:sp>
        </mc:Choice>
        <mc:Fallback xmlns="">
          <p:sp>
            <p:nvSpPr>
              <p:cNvPr id="3" name="Text Placeholder 2">
                <a:extLst>
                  <a:ext uri="{FF2B5EF4-FFF2-40B4-BE49-F238E27FC236}">
                    <a16:creationId xmlns:a16="http://schemas.microsoft.com/office/drawing/2014/main" id="{F7475AE1-A95D-7914-304C-632105BF356C}"/>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171665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2658F-599B-CEA1-0EAF-56E10F48131E}"/>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Results</a:t>
            </a:r>
            <a:r>
              <a:rPr lang="en-IN" dirty="0"/>
              <a:t> </a:t>
            </a:r>
          </a:p>
        </p:txBody>
      </p:sp>
      <p:sp>
        <p:nvSpPr>
          <p:cNvPr id="3" name="TextBox 2">
            <a:extLst>
              <a:ext uri="{FF2B5EF4-FFF2-40B4-BE49-F238E27FC236}">
                <a16:creationId xmlns:a16="http://schemas.microsoft.com/office/drawing/2014/main" id="{D48A711E-53C3-1023-D384-C96689A6EDB0}"/>
              </a:ext>
            </a:extLst>
          </p:cNvPr>
          <p:cNvSpPr txBox="1"/>
          <p:nvPr/>
        </p:nvSpPr>
        <p:spPr>
          <a:xfrm>
            <a:off x="728661" y="1641169"/>
            <a:ext cx="3291840" cy="646331"/>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COMPARISON OF PERFORMANCE METRICS</a:t>
            </a:r>
          </a:p>
        </p:txBody>
      </p:sp>
      <p:pic>
        <p:nvPicPr>
          <p:cNvPr id="5" name="Picture 4">
            <a:extLst>
              <a:ext uri="{FF2B5EF4-FFF2-40B4-BE49-F238E27FC236}">
                <a16:creationId xmlns:a16="http://schemas.microsoft.com/office/drawing/2014/main" id="{3800C36B-FE0A-B6CB-5E5C-2365D1C6EA4F}"/>
              </a:ext>
            </a:extLst>
          </p:cNvPr>
          <p:cNvPicPr>
            <a:picLocks noChangeAspect="1"/>
          </p:cNvPicPr>
          <p:nvPr/>
        </p:nvPicPr>
        <p:blipFill>
          <a:blip r:embed="rId2">
            <a:extLst>
              <a:ext uri="{28A0092B-C50C-407E-A947-70E740481C1C}">
                <a14:useLocalDpi xmlns:a14="http://schemas.microsoft.com/office/drawing/2010/main" val="0"/>
              </a:ext>
            </a:extLst>
          </a:blip>
          <a:srcRect t="4336"/>
          <a:stretch>
            <a:fillRect/>
          </a:stretch>
        </p:blipFill>
        <p:spPr>
          <a:xfrm>
            <a:off x="728661" y="2489200"/>
            <a:ext cx="3953427" cy="1020679"/>
          </a:xfrm>
          <a:prstGeom prst="rect">
            <a:avLst/>
          </a:prstGeom>
        </p:spPr>
      </p:pic>
      <p:pic>
        <p:nvPicPr>
          <p:cNvPr id="9" name="Picture 8">
            <a:extLst>
              <a:ext uri="{FF2B5EF4-FFF2-40B4-BE49-F238E27FC236}">
                <a16:creationId xmlns:a16="http://schemas.microsoft.com/office/drawing/2014/main" id="{CD00A2A5-3F94-A77D-47E7-33F4141805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42547" y="975117"/>
            <a:ext cx="6400813" cy="5276098"/>
          </a:xfrm>
          <a:prstGeom prst="rect">
            <a:avLst/>
          </a:prstGeom>
        </p:spPr>
      </p:pic>
    </p:spTree>
    <p:extLst>
      <p:ext uri="{BB962C8B-B14F-4D97-AF65-F5344CB8AC3E}">
        <p14:creationId xmlns:p14="http://schemas.microsoft.com/office/powerpoint/2010/main" val="6216272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C8AC0D-BD40-5F23-1E57-6D61BC102918}"/>
              </a:ext>
            </a:extLst>
          </p:cNvPr>
          <p:cNvSpPr txBox="1"/>
          <p:nvPr/>
        </p:nvSpPr>
        <p:spPr>
          <a:xfrm>
            <a:off x="254000" y="995680"/>
            <a:ext cx="2926080" cy="830997"/>
          </a:xfrm>
          <a:prstGeom prst="rect">
            <a:avLst/>
          </a:prstGeom>
          <a:noFill/>
        </p:spPr>
        <p:txBody>
          <a:bodyPr wrap="square" rtlCol="0">
            <a:spAutoFit/>
          </a:bodyPr>
          <a:lstStyle/>
          <a:p>
            <a:pPr algn="ctr"/>
            <a:r>
              <a:rPr lang="en-IN" sz="1600" b="1" dirty="0">
                <a:latin typeface="Times New Roman" panose="02020603050405020304" pitchFamily="18" charset="0"/>
                <a:cs typeface="Times New Roman" panose="02020603050405020304" pitchFamily="18" charset="0"/>
              </a:rPr>
              <a:t>CLASSIFICATION REPORT FOR CNN WITH PSO OPTIMIZATION</a:t>
            </a:r>
          </a:p>
        </p:txBody>
      </p:sp>
      <p:pic>
        <p:nvPicPr>
          <p:cNvPr id="4" name="Picture 3">
            <a:extLst>
              <a:ext uri="{FF2B5EF4-FFF2-40B4-BE49-F238E27FC236}">
                <a16:creationId xmlns:a16="http://schemas.microsoft.com/office/drawing/2014/main" id="{30FE5AAD-99CE-9431-813B-0DFFC01CE1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7181" y="737812"/>
            <a:ext cx="5477639" cy="5382376"/>
          </a:xfrm>
          <a:prstGeom prst="rect">
            <a:avLst/>
          </a:prstGeom>
        </p:spPr>
      </p:pic>
    </p:spTree>
    <p:extLst>
      <p:ext uri="{BB962C8B-B14F-4D97-AF65-F5344CB8AC3E}">
        <p14:creationId xmlns:p14="http://schemas.microsoft.com/office/powerpoint/2010/main" val="27298219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2B5341-2298-1D0E-1478-0C586DC03EA4}"/>
              </a:ext>
            </a:extLst>
          </p:cNvPr>
          <p:cNvSpPr txBox="1"/>
          <p:nvPr/>
        </p:nvSpPr>
        <p:spPr>
          <a:xfrm>
            <a:off x="254000" y="995680"/>
            <a:ext cx="2926080" cy="830997"/>
          </a:xfrm>
          <a:prstGeom prst="rect">
            <a:avLst/>
          </a:prstGeom>
          <a:noFill/>
        </p:spPr>
        <p:txBody>
          <a:bodyPr wrap="square" rtlCol="0">
            <a:spAutoFit/>
          </a:bodyPr>
          <a:lstStyle/>
          <a:p>
            <a:pPr algn="ctr"/>
            <a:r>
              <a:rPr lang="en-IN" sz="1600" b="1" dirty="0">
                <a:latin typeface="Times New Roman" panose="02020603050405020304" pitchFamily="18" charset="0"/>
                <a:cs typeface="Times New Roman" panose="02020603050405020304" pitchFamily="18" charset="0"/>
              </a:rPr>
              <a:t>CLASSIFICATION REPORT FOR CNN WITH </a:t>
            </a:r>
            <a:r>
              <a:rPr lang="en-IN" sz="1600" b="1" dirty="0" err="1">
                <a:latin typeface="Times New Roman" panose="02020603050405020304" pitchFamily="18" charset="0"/>
                <a:cs typeface="Times New Roman" panose="02020603050405020304" pitchFamily="18" charset="0"/>
              </a:rPr>
              <a:t>CHoA</a:t>
            </a:r>
            <a:r>
              <a:rPr lang="en-IN" sz="1600" b="1" dirty="0">
                <a:latin typeface="Times New Roman" panose="02020603050405020304" pitchFamily="18" charset="0"/>
                <a:cs typeface="Times New Roman" panose="02020603050405020304" pitchFamily="18" charset="0"/>
              </a:rPr>
              <a:t> OPTIMIZATION</a:t>
            </a:r>
          </a:p>
        </p:txBody>
      </p:sp>
      <p:pic>
        <p:nvPicPr>
          <p:cNvPr id="4" name="Picture 3">
            <a:extLst>
              <a:ext uri="{FF2B5EF4-FFF2-40B4-BE49-F238E27FC236}">
                <a16:creationId xmlns:a16="http://schemas.microsoft.com/office/drawing/2014/main" id="{79E4D696-9BC6-4487-AD53-AF6662C336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8602" y="780681"/>
            <a:ext cx="5534797" cy="5296639"/>
          </a:xfrm>
          <a:prstGeom prst="rect">
            <a:avLst/>
          </a:prstGeom>
        </p:spPr>
      </p:pic>
    </p:spTree>
    <p:extLst>
      <p:ext uri="{BB962C8B-B14F-4D97-AF65-F5344CB8AC3E}">
        <p14:creationId xmlns:p14="http://schemas.microsoft.com/office/powerpoint/2010/main" val="17920028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CDD298B-7209-3B6D-CF09-6427188EC9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8601" y="766391"/>
            <a:ext cx="5534797" cy="5325218"/>
          </a:xfrm>
          <a:prstGeom prst="rect">
            <a:avLst/>
          </a:prstGeom>
        </p:spPr>
      </p:pic>
      <p:sp>
        <p:nvSpPr>
          <p:cNvPr id="6" name="TextBox 5">
            <a:extLst>
              <a:ext uri="{FF2B5EF4-FFF2-40B4-BE49-F238E27FC236}">
                <a16:creationId xmlns:a16="http://schemas.microsoft.com/office/drawing/2014/main" id="{9503329B-405E-6BC7-6492-B87DE7432552}"/>
              </a:ext>
            </a:extLst>
          </p:cNvPr>
          <p:cNvSpPr txBox="1"/>
          <p:nvPr/>
        </p:nvSpPr>
        <p:spPr>
          <a:xfrm>
            <a:off x="375920" y="1209040"/>
            <a:ext cx="2499360" cy="1323439"/>
          </a:xfrm>
          <a:prstGeom prst="rect">
            <a:avLst/>
          </a:prstGeom>
          <a:noFill/>
        </p:spPr>
        <p:txBody>
          <a:bodyPr wrap="square" rtlCol="0">
            <a:spAutoFit/>
          </a:bodyPr>
          <a:lstStyle/>
          <a:p>
            <a:r>
              <a:rPr lang="en-IN" sz="1600" b="1" dirty="0">
                <a:latin typeface="Times New Roman" panose="02020603050405020304" pitchFamily="18" charset="0"/>
                <a:cs typeface="Times New Roman" panose="02020603050405020304" pitchFamily="18" charset="0"/>
              </a:rPr>
              <a:t>CLASSIFICATION REPORT FOR CNN WITH ENSEMBLE OPTIMIZATION</a:t>
            </a:r>
          </a:p>
          <a:p>
            <a:endParaRPr lang="en-IN" sz="1600" dirty="0"/>
          </a:p>
        </p:txBody>
      </p:sp>
    </p:spTree>
    <p:extLst>
      <p:ext uri="{BB962C8B-B14F-4D97-AF65-F5344CB8AC3E}">
        <p14:creationId xmlns:p14="http://schemas.microsoft.com/office/powerpoint/2010/main" val="5080457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BAAF619-B77C-08F0-64C5-352FC2A244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13946" y="624840"/>
            <a:ext cx="6164108" cy="5445760"/>
          </a:xfrm>
          <a:prstGeom prst="rect">
            <a:avLst/>
          </a:prstGeom>
        </p:spPr>
      </p:pic>
    </p:spTree>
    <p:extLst>
      <p:ext uri="{BB962C8B-B14F-4D97-AF65-F5344CB8AC3E}">
        <p14:creationId xmlns:p14="http://schemas.microsoft.com/office/powerpoint/2010/main" val="2936281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66A8F-F6C4-603F-B981-FA39CCDACEC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4DEF595-6ADC-541D-B527-18DE4EEF3D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02446" y="558800"/>
            <a:ext cx="6187108" cy="5466080"/>
          </a:xfrm>
          <a:prstGeom prst="rect">
            <a:avLst/>
          </a:prstGeom>
        </p:spPr>
      </p:pic>
    </p:spTree>
    <p:extLst>
      <p:ext uri="{BB962C8B-B14F-4D97-AF65-F5344CB8AC3E}">
        <p14:creationId xmlns:p14="http://schemas.microsoft.com/office/powerpoint/2010/main" val="18565302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02030-3E7D-2628-B494-A74D65941DC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56C6D4F-107E-6009-646A-6E0F80EB1F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88697" y="558800"/>
            <a:ext cx="6014605" cy="5313680"/>
          </a:xfrm>
          <a:prstGeom prst="rect">
            <a:avLst/>
          </a:prstGeom>
        </p:spPr>
      </p:pic>
    </p:spTree>
    <p:extLst>
      <p:ext uri="{BB962C8B-B14F-4D97-AF65-F5344CB8AC3E}">
        <p14:creationId xmlns:p14="http://schemas.microsoft.com/office/powerpoint/2010/main" val="34421116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F962C-E9F0-9D7E-D443-9C4E440599C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C28AB8B-6B3F-F273-C1F6-EFD5D2CD9D45}"/>
              </a:ext>
            </a:extLst>
          </p:cNvPr>
          <p:cNvSpPr txBox="1"/>
          <p:nvPr/>
        </p:nvSpPr>
        <p:spPr>
          <a:xfrm>
            <a:off x="790575" y="436880"/>
            <a:ext cx="7703185"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False Positives by Class for </a:t>
            </a:r>
            <a:r>
              <a:rPr lang="en-IN" sz="2000" b="1" dirty="0" err="1">
                <a:latin typeface="Times New Roman" panose="02020603050405020304" pitchFamily="18" charset="0"/>
                <a:cs typeface="Times New Roman" panose="02020603050405020304" pitchFamily="18" charset="0"/>
              </a:rPr>
              <a:t>ChoA</a:t>
            </a:r>
            <a:r>
              <a:rPr lang="en-IN" sz="2000" b="1" dirty="0">
                <a:latin typeface="Times New Roman" panose="02020603050405020304" pitchFamily="18" charset="0"/>
                <a:cs typeface="Times New Roman" panose="02020603050405020304" pitchFamily="18" charset="0"/>
              </a:rPr>
              <a:t> vs PSO Optimization</a:t>
            </a:r>
          </a:p>
        </p:txBody>
      </p:sp>
      <p:pic>
        <p:nvPicPr>
          <p:cNvPr id="5" name="Picture 4">
            <a:extLst>
              <a:ext uri="{FF2B5EF4-FFF2-40B4-BE49-F238E27FC236}">
                <a16:creationId xmlns:a16="http://schemas.microsoft.com/office/drawing/2014/main" id="{B008E70C-B851-64E6-F736-C492E0982D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000" y="1443612"/>
            <a:ext cx="11938000" cy="635247"/>
          </a:xfrm>
          <a:prstGeom prst="rect">
            <a:avLst/>
          </a:prstGeom>
        </p:spPr>
      </p:pic>
      <p:pic>
        <p:nvPicPr>
          <p:cNvPr id="7" name="Picture 6">
            <a:extLst>
              <a:ext uri="{FF2B5EF4-FFF2-40B4-BE49-F238E27FC236}">
                <a16:creationId xmlns:a16="http://schemas.microsoft.com/office/drawing/2014/main" id="{9FBFACC6-3AC3-FBE5-B758-28917F82A7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85482"/>
            <a:ext cx="12192000" cy="743518"/>
          </a:xfrm>
          <a:prstGeom prst="rect">
            <a:avLst/>
          </a:prstGeom>
        </p:spPr>
      </p:pic>
    </p:spTree>
    <p:extLst>
      <p:ext uri="{BB962C8B-B14F-4D97-AF65-F5344CB8AC3E}">
        <p14:creationId xmlns:p14="http://schemas.microsoft.com/office/powerpoint/2010/main" val="30146285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66236-06E4-2EDE-390D-9C3FC4A3C74A}"/>
              </a:ext>
            </a:extLst>
          </p:cNvPr>
          <p:cNvSpPr>
            <a:spLocks noGrp="1"/>
          </p:cNvSpPr>
          <p:nvPr>
            <p:ph type="title"/>
          </p:nvPr>
        </p:nvSpPr>
        <p:spPr/>
        <p:txBody>
          <a:bodyPr/>
          <a:lstStyle/>
          <a:p>
            <a:r>
              <a:rPr lang="en-IN" sz="2400" dirty="0">
                <a:latin typeface="Times New Roman" panose="02020603050405020304" pitchFamily="18" charset="0"/>
                <a:cs typeface="Times New Roman" panose="02020603050405020304" pitchFamily="18" charset="0"/>
              </a:rPr>
              <a:t>Permutation Feature Importance – Concept &amp; Process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23F20161-5990-42EC-AFDF-8560E0C1E883}"/>
                  </a:ext>
                </a:extLst>
              </p:cNvPr>
              <p:cNvSpPr>
                <a:spLocks noGrp="1"/>
              </p:cNvSpPr>
              <p:nvPr>
                <p:ph type="body" idx="1"/>
              </p:nvPr>
            </p:nvSpPr>
            <p:spPr>
              <a:xfrm>
                <a:off x="415600" y="1461155"/>
                <a:ext cx="11360800" cy="4564885"/>
              </a:xfrm>
            </p:spPr>
            <p:txBody>
              <a:bodyPr/>
              <a:lstStyle/>
              <a:p>
                <a:pPr marL="88900" indent="0">
                  <a:buNone/>
                </a:pPr>
                <a:r>
                  <a:rPr lang="en-GB" b="1" dirty="0">
                    <a:cs typeface="+mj-cs"/>
                  </a:rPr>
                  <a:t>Why Feature Importance?</a:t>
                </a:r>
              </a:p>
              <a:p>
                <a:pPr marL="546100" indent="-457200">
                  <a:buFont typeface="+mj-lt"/>
                  <a:buAutoNum type="arabicPeriod"/>
                </a:pPr>
                <a:r>
                  <a:rPr lang="en-GB" dirty="0">
                    <a:cs typeface="+mj-cs"/>
                  </a:rPr>
                  <a:t>CNN models are powerful but act as black boxes</a:t>
                </a:r>
              </a:p>
              <a:p>
                <a:pPr marL="546100" indent="-457200">
                  <a:buFont typeface="+mj-lt"/>
                  <a:buAutoNum type="arabicPeriod"/>
                </a:pPr>
                <a:r>
                  <a:rPr lang="en-GB" dirty="0">
                    <a:cs typeface="+mj-cs"/>
                  </a:rPr>
                  <a:t>Helps verify that model learns real attack </a:t>
                </a:r>
                <a:r>
                  <a:rPr lang="en-GB" dirty="0" err="1">
                    <a:cs typeface="+mj-cs"/>
                  </a:rPr>
                  <a:t>behavior</a:t>
                </a:r>
                <a:endParaRPr lang="en-GB" dirty="0">
                  <a:cs typeface="+mj-cs"/>
                </a:endParaRPr>
              </a:p>
              <a:p>
                <a:pPr marL="88900" indent="0">
                  <a:buNone/>
                </a:pPr>
                <a:endParaRPr lang="en-GB" dirty="0">
                  <a:cs typeface="+mj-cs"/>
                </a:endParaRPr>
              </a:p>
              <a:p>
                <a:pPr marL="88900" indent="0">
                  <a:buNone/>
                </a:pPr>
                <a:endParaRPr lang="en-IN" dirty="0">
                  <a:cs typeface="+mj-cs"/>
                </a:endParaRPr>
              </a:p>
              <a:p>
                <a:pPr marL="88900" indent="0">
                  <a:buNone/>
                </a:pPr>
                <a14:m>
                  <m:oMathPara xmlns:m="http://schemas.openxmlformats.org/officeDocument/2006/math">
                    <m:oMathParaPr>
                      <m:jc m:val="centerGroup"/>
                    </m:oMathParaPr>
                    <m:oMath xmlns:m="http://schemas.openxmlformats.org/officeDocument/2006/math">
                      <m:r>
                        <a:rPr lang="en-IN" b="1" i="1">
                          <a:latin typeface="Cambria Math" panose="02040503050406030204" pitchFamily="18" charset="0"/>
                          <a:cs typeface="+mj-cs"/>
                        </a:rPr>
                        <m:t>𝑭𝑰</m:t>
                      </m:r>
                      <m:d>
                        <m:dPr>
                          <m:ctrlPr>
                            <a:rPr lang="ar-SA" b="1" i="1">
                              <a:latin typeface="Cambria Math" panose="02040503050406030204" pitchFamily="18" charset="0"/>
                              <a:cs typeface="+mj-cs"/>
                            </a:rPr>
                          </m:ctrlPr>
                        </m:dPr>
                        <m:e>
                          <m:sSub>
                            <m:sSubPr>
                              <m:ctrlPr>
                                <a:rPr lang="ar-SA" b="1" i="1">
                                  <a:latin typeface="Cambria Math" panose="02040503050406030204" pitchFamily="18" charset="0"/>
                                  <a:cs typeface="+mj-cs"/>
                                </a:rPr>
                              </m:ctrlPr>
                            </m:sSubPr>
                            <m:e>
                              <m:r>
                                <a:rPr lang="ar-SA" b="1" i="1">
                                  <a:latin typeface="Cambria Math" panose="02040503050406030204" pitchFamily="18" charset="0"/>
                                  <a:cs typeface="+mj-cs"/>
                                </a:rPr>
                                <m:t>𝒇</m:t>
                              </m:r>
                            </m:e>
                            <m:sub>
                              <m:r>
                                <a:rPr lang="ar-SA" b="1" i="1">
                                  <a:latin typeface="Cambria Math" panose="02040503050406030204" pitchFamily="18" charset="0"/>
                                  <a:cs typeface="+mj-cs"/>
                                </a:rPr>
                                <m:t>𝒊</m:t>
                              </m:r>
                            </m:sub>
                          </m:sSub>
                        </m:e>
                      </m:d>
                      <m:r>
                        <a:rPr lang="ar-SA" b="1">
                          <a:latin typeface="Cambria Math" panose="02040503050406030204" pitchFamily="18" charset="0"/>
                          <a:cs typeface="+mj-cs"/>
                        </a:rPr>
                        <m:t>=</m:t>
                      </m:r>
                      <m:r>
                        <a:rPr lang="ar-SA" b="1" i="1">
                          <a:latin typeface="Cambria Math" panose="02040503050406030204" pitchFamily="18" charset="0"/>
                          <a:cs typeface="+mj-cs"/>
                        </a:rPr>
                        <m:t>𝑨𝒄</m:t>
                      </m:r>
                      <m:sSub>
                        <m:sSubPr>
                          <m:ctrlPr>
                            <a:rPr lang="ar-SA" b="1" i="1">
                              <a:latin typeface="Cambria Math" panose="02040503050406030204" pitchFamily="18" charset="0"/>
                              <a:cs typeface="+mj-cs"/>
                            </a:rPr>
                          </m:ctrlPr>
                        </m:sSubPr>
                        <m:e>
                          <m:r>
                            <a:rPr lang="ar-SA" b="1" i="1">
                              <a:latin typeface="Cambria Math" panose="02040503050406030204" pitchFamily="18" charset="0"/>
                              <a:cs typeface="+mj-cs"/>
                            </a:rPr>
                            <m:t>𝒄</m:t>
                          </m:r>
                        </m:e>
                        <m:sub>
                          <m:r>
                            <a:rPr lang="ar-SA" b="1" i="1">
                              <a:latin typeface="Cambria Math" panose="02040503050406030204" pitchFamily="18" charset="0"/>
                              <a:cs typeface="+mj-cs"/>
                            </a:rPr>
                            <m:t>𝒃𝒂𝒔𝒆𝒍𝒊𝒏𝒆</m:t>
                          </m:r>
                        </m:sub>
                      </m:sSub>
                      <m:r>
                        <a:rPr lang="ar-SA" b="1">
                          <a:latin typeface="Cambria Math" panose="02040503050406030204" pitchFamily="18" charset="0"/>
                          <a:cs typeface="+mj-cs"/>
                        </a:rPr>
                        <m:t>−</m:t>
                      </m:r>
                      <m:r>
                        <a:rPr lang="ar-SA" b="1" i="1">
                          <a:latin typeface="Cambria Math" panose="02040503050406030204" pitchFamily="18" charset="0"/>
                          <a:cs typeface="+mj-cs"/>
                        </a:rPr>
                        <m:t>𝑨𝒄</m:t>
                      </m:r>
                      <m:sSub>
                        <m:sSubPr>
                          <m:ctrlPr>
                            <a:rPr lang="ar-SA" b="1" i="1">
                              <a:latin typeface="Cambria Math" panose="02040503050406030204" pitchFamily="18" charset="0"/>
                              <a:cs typeface="+mj-cs"/>
                            </a:rPr>
                          </m:ctrlPr>
                        </m:sSubPr>
                        <m:e>
                          <m:r>
                            <a:rPr lang="ar-SA" b="1" i="1">
                              <a:latin typeface="Cambria Math" panose="02040503050406030204" pitchFamily="18" charset="0"/>
                              <a:cs typeface="+mj-cs"/>
                            </a:rPr>
                            <m:t>𝒄</m:t>
                          </m:r>
                        </m:e>
                        <m:sub>
                          <m:r>
                            <a:rPr lang="ar-SA" b="1" i="1">
                              <a:latin typeface="Cambria Math" panose="02040503050406030204" pitchFamily="18" charset="0"/>
                              <a:cs typeface="+mj-cs"/>
                            </a:rPr>
                            <m:t>𝒑𝒆𝒓𝒎𝒖𝒕𝒆𝒅</m:t>
                          </m:r>
                        </m:sub>
                      </m:sSub>
                      <m:d>
                        <m:dPr>
                          <m:ctrlPr>
                            <a:rPr lang="ar-SA" b="1" i="1">
                              <a:latin typeface="Cambria Math" panose="02040503050406030204" pitchFamily="18" charset="0"/>
                              <a:cs typeface="+mj-cs"/>
                            </a:rPr>
                          </m:ctrlPr>
                        </m:dPr>
                        <m:e>
                          <m:sSub>
                            <m:sSubPr>
                              <m:ctrlPr>
                                <a:rPr lang="ar-SA" b="1" i="1">
                                  <a:latin typeface="Cambria Math" panose="02040503050406030204" pitchFamily="18" charset="0"/>
                                  <a:cs typeface="+mj-cs"/>
                                </a:rPr>
                              </m:ctrlPr>
                            </m:sSubPr>
                            <m:e>
                              <m:r>
                                <a:rPr lang="ar-SA" b="1" i="1">
                                  <a:latin typeface="Cambria Math" panose="02040503050406030204" pitchFamily="18" charset="0"/>
                                  <a:cs typeface="+mj-cs"/>
                                </a:rPr>
                                <m:t>𝒇</m:t>
                              </m:r>
                            </m:e>
                            <m:sub>
                              <m:r>
                                <a:rPr lang="ar-SA" b="1" i="1">
                                  <a:latin typeface="Cambria Math" panose="02040503050406030204" pitchFamily="18" charset="0"/>
                                  <a:cs typeface="+mj-cs"/>
                                </a:rPr>
                                <m:t>𝒊</m:t>
                              </m:r>
                            </m:sub>
                          </m:sSub>
                        </m:e>
                      </m:d>
                    </m:oMath>
                  </m:oMathPara>
                </a14:m>
                <a:endParaRPr lang="ar-SA" b="1" dirty="0">
                  <a:cs typeface="+mj-cs"/>
                </a:endParaRPr>
              </a:p>
              <a:p>
                <a:pPr marL="88900" indent="0">
                  <a:buNone/>
                </a:pPr>
                <a:r>
                  <a:rPr lang="en-IN" dirty="0">
                    <a:cs typeface="+mj-cs"/>
                  </a:rPr>
                  <a:t>Where:</a:t>
                </a:r>
              </a:p>
              <a:p>
                <a:pPr marL="88900" indent="0">
                  <a:buNone/>
                </a:pPr>
                <a:r>
                  <a:rPr lang="en-IN" dirty="0">
                    <a:cs typeface="+mj-cs"/>
                  </a:rPr>
                  <a:t>Baseline Accuracy = Original test accuracy</a:t>
                </a:r>
              </a:p>
              <a:p>
                <a:pPr marL="88900" indent="0">
                  <a:buNone/>
                </a:pPr>
                <a:r>
                  <a:rPr lang="en-IN" dirty="0">
                    <a:cs typeface="+mj-cs"/>
                  </a:rPr>
                  <a:t>Permuted Accuracy = Accuracy after shuffling one feature</a:t>
                </a:r>
              </a:p>
              <a:p>
                <a:pPr marL="88900" indent="0">
                  <a:buNone/>
                </a:pPr>
                <a:r>
                  <a:rPr lang="en-IN" dirty="0">
                    <a:cs typeface="+mj-cs"/>
                  </a:rPr>
                  <a:t>Larger accuracy drop → More important feature</a:t>
                </a:r>
              </a:p>
              <a:p>
                <a:pPr marL="88900" indent="0">
                  <a:buNone/>
                </a:pPr>
                <a:endParaRPr lang="en-GB" dirty="0"/>
              </a:p>
              <a:p>
                <a:pPr marL="88900" indent="0">
                  <a:buNone/>
                </a:pPr>
                <a:endParaRPr lang="en-IN" dirty="0"/>
              </a:p>
            </p:txBody>
          </p:sp>
        </mc:Choice>
        <mc:Fallback xmlns="">
          <p:sp>
            <p:nvSpPr>
              <p:cNvPr id="3" name="Text Placeholder 2">
                <a:extLst>
                  <a:ext uri="{FF2B5EF4-FFF2-40B4-BE49-F238E27FC236}">
                    <a16:creationId xmlns:a16="http://schemas.microsoft.com/office/drawing/2014/main" id="{23F20161-5990-42EC-AFDF-8560E0C1E883}"/>
                  </a:ext>
                </a:extLst>
              </p:cNvPr>
              <p:cNvSpPr>
                <a:spLocks noGrp="1" noRot="1" noChangeAspect="1" noMove="1" noResize="1" noEditPoints="1" noAdjustHandles="1" noChangeArrowheads="1" noChangeShapeType="1" noTextEdit="1"/>
              </p:cNvSpPr>
              <p:nvPr>
                <p:ph type="body" idx="1"/>
              </p:nvPr>
            </p:nvSpPr>
            <p:spPr>
              <a:xfrm>
                <a:off x="415600" y="1461155"/>
                <a:ext cx="11360800" cy="4564885"/>
              </a:xfrm>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5529401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B7D55-A2CB-E0FE-A715-62C6D4EA871C}"/>
              </a:ext>
            </a:extLst>
          </p:cNvPr>
          <p:cNvSpPr>
            <a:spLocks noGrp="1"/>
          </p:cNvSpPr>
          <p:nvPr>
            <p:ph type="title"/>
          </p:nvPr>
        </p:nvSpPr>
        <p:spPr/>
        <p:txBody>
          <a:bodyPr/>
          <a:lstStyle/>
          <a:p>
            <a:r>
              <a:rPr lang="en-IN" sz="2400" dirty="0">
                <a:latin typeface="Times New Roman" panose="02020603050405020304" pitchFamily="18" charset="0"/>
                <a:cs typeface="Times New Roman" panose="02020603050405020304" pitchFamily="18" charset="0"/>
              </a:rPr>
              <a:t>Algorithm</a:t>
            </a:r>
            <a:br>
              <a:rPr lang="en-IN" dirty="0"/>
            </a:br>
            <a:endParaRPr lang="en-IN"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FFB263C-A6EA-C629-572A-CDCCC1BB3063}"/>
                  </a:ext>
                </a:extLst>
              </p:cNvPr>
              <p:cNvSpPr>
                <a:spLocks noGrp="1"/>
              </p:cNvSpPr>
              <p:nvPr>
                <p:ph type="body" idx="1"/>
              </p:nvPr>
            </p:nvSpPr>
            <p:spPr/>
            <p:txBody>
              <a:bodyPr/>
              <a:lstStyle/>
              <a:p>
                <a:pPr marL="431800" lvl="0" indent="-342900">
                  <a:buFont typeface="+mj-lt"/>
                  <a:buAutoNum type="arabicPeriod"/>
                </a:pPr>
                <a:r>
                  <a:rPr lang="en-IN" sz="1800" dirty="0">
                    <a:latin typeface="Times New Roman" panose="02020603050405020304" pitchFamily="18" charset="0"/>
                    <a:cs typeface="Times New Roman" panose="02020603050405020304" pitchFamily="18" charset="0"/>
                  </a:rPr>
                  <a:t>Train optimized CNN model.</a:t>
                </a:r>
              </a:p>
              <a:p>
                <a:pPr marL="431800" lvl="0" indent="-342900">
                  <a:buFont typeface="+mj-lt"/>
                  <a:buAutoNum type="arabicPeriod"/>
                </a:pPr>
                <a:r>
                  <a:rPr lang="en-IN" sz="1800" dirty="0">
                    <a:latin typeface="Times New Roman" panose="02020603050405020304" pitchFamily="18" charset="0"/>
                    <a:cs typeface="Times New Roman" panose="02020603050405020304" pitchFamily="18" charset="0"/>
                  </a:rPr>
                  <a:t>Compute baseline accuracy on test data.</a:t>
                </a:r>
              </a:p>
              <a:p>
                <a:pPr marL="431800" lvl="0" indent="-342900">
                  <a:buFont typeface="+mj-lt"/>
                  <a:buAutoNum type="arabicPeriod"/>
                </a:pPr>
                <a:r>
                  <a:rPr lang="en-IN" sz="1800" dirty="0">
                    <a:latin typeface="Times New Roman" panose="02020603050405020304" pitchFamily="18" charset="0"/>
                    <a:cs typeface="Times New Roman" panose="02020603050405020304" pitchFamily="18" charset="0"/>
                  </a:rPr>
                  <a:t>For each feature </a:t>
                </a:r>
                <a14:m>
                  <m:oMath xmlns:m="http://schemas.openxmlformats.org/officeDocument/2006/math">
                    <m:sSub>
                      <m:sSubPr>
                        <m:ctrlPr>
                          <a:rPr lang="en-IN" sz="1800" i="1">
                            <a:latin typeface="Cambria Math" panose="02040503050406030204" pitchFamily="18" charset="0"/>
                          </a:rPr>
                        </m:ctrlPr>
                      </m:sSubPr>
                      <m:e>
                        <m:r>
                          <a:rPr lang="en-IN" sz="1800" i="1">
                            <a:latin typeface="Cambria Math" panose="02040503050406030204" pitchFamily="18" charset="0"/>
                          </a:rPr>
                          <m:t>𝑓</m:t>
                        </m:r>
                      </m:e>
                      <m:sub>
                        <m:r>
                          <a:rPr lang="en-IN" sz="1800" i="1">
                            <a:latin typeface="Cambria Math" panose="02040503050406030204" pitchFamily="18" charset="0"/>
                          </a:rPr>
                          <m:t>𝑖</m:t>
                        </m:r>
                      </m:sub>
                    </m:sSub>
                  </m:oMath>
                </a14:m>
                <a:r>
                  <a:rPr lang="en-IN" sz="1800" dirty="0">
                    <a:latin typeface="Times New Roman" panose="02020603050405020304" pitchFamily="18" charset="0"/>
                    <a:cs typeface="Times New Roman" panose="02020603050405020304" pitchFamily="18" charset="0"/>
                  </a:rPr>
                  <a:t>:</a:t>
                </a:r>
              </a:p>
              <a:p>
                <a:pPr marL="971550" lvl="1" indent="-400050">
                  <a:buFont typeface="+mj-lt"/>
                  <a:buAutoNum type="romanLcPeriod"/>
                </a:pPr>
                <a:r>
                  <a:rPr lang="en-IN" dirty="0">
                    <a:latin typeface="Times New Roman" panose="02020603050405020304" pitchFamily="18" charset="0"/>
                    <a:cs typeface="Times New Roman" panose="02020603050405020304" pitchFamily="18" charset="0"/>
                  </a:rPr>
                  <a:t>Shuffle values of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𝑓</m:t>
                        </m:r>
                      </m:e>
                      <m:sub>
                        <m:r>
                          <a:rPr lang="en-IN" i="1">
                            <a:latin typeface="Cambria Math" panose="02040503050406030204" pitchFamily="18" charset="0"/>
                          </a:rPr>
                          <m:t>𝑖</m:t>
                        </m:r>
                      </m:sub>
                    </m:sSub>
                  </m:oMath>
                </a14:m>
                <a:r>
                  <a:rPr lang="en-IN" dirty="0">
                    <a:latin typeface="Times New Roman" panose="02020603050405020304" pitchFamily="18" charset="0"/>
                    <a:cs typeface="Times New Roman" panose="02020603050405020304" pitchFamily="18" charset="0"/>
                  </a:rPr>
                  <a:t>.</a:t>
                </a:r>
              </a:p>
              <a:p>
                <a:pPr marL="971550" lvl="1" indent="-400050">
                  <a:buFont typeface="+mj-lt"/>
                  <a:buAutoNum type="romanLcPeriod"/>
                </a:pPr>
                <a:r>
                  <a:rPr lang="en-IN" dirty="0">
                    <a:latin typeface="Times New Roman" panose="02020603050405020304" pitchFamily="18" charset="0"/>
                    <a:cs typeface="Times New Roman" panose="02020603050405020304" pitchFamily="18" charset="0"/>
                  </a:rPr>
                  <a:t>Predict using trained CNN.</a:t>
                </a:r>
              </a:p>
              <a:p>
                <a:pPr marL="971550" lvl="1" indent="-400050">
                  <a:buFont typeface="+mj-lt"/>
                  <a:buAutoNum type="romanLcPeriod"/>
                </a:pPr>
                <a:r>
                  <a:rPr lang="en-IN" dirty="0">
                    <a:latin typeface="Times New Roman" panose="02020603050405020304" pitchFamily="18" charset="0"/>
                    <a:cs typeface="Times New Roman" panose="02020603050405020304" pitchFamily="18" charset="0"/>
                  </a:rPr>
                  <a:t>Compute permuted accuracy.</a:t>
                </a:r>
              </a:p>
              <a:p>
                <a:pPr marL="971550" lvl="1" indent="-400050">
                  <a:buFont typeface="+mj-lt"/>
                  <a:buAutoNum type="romanLcPeriod"/>
                </a:pPr>
                <a:r>
                  <a:rPr lang="en-IN" dirty="0">
                    <a:latin typeface="Times New Roman" panose="02020603050405020304" pitchFamily="18" charset="0"/>
                    <a:cs typeface="Times New Roman" panose="02020603050405020304" pitchFamily="18" charset="0"/>
                  </a:rPr>
                  <a:t>Calculate importance score.</a:t>
                </a:r>
              </a:p>
              <a:p>
                <a:pPr marL="431800" lvl="0" indent="-342900">
                  <a:buFont typeface="+mj-lt"/>
                  <a:buAutoNum type="arabicPeriod"/>
                </a:pPr>
                <a:r>
                  <a:rPr lang="en-IN" sz="1800" dirty="0">
                    <a:latin typeface="Times New Roman" panose="02020603050405020304" pitchFamily="18" charset="0"/>
                    <a:cs typeface="Times New Roman" panose="02020603050405020304" pitchFamily="18" charset="0"/>
                  </a:rPr>
                  <a:t>Repeat for multiple iterations.</a:t>
                </a:r>
              </a:p>
              <a:p>
                <a:pPr marL="431800" lvl="0" indent="-342900">
                  <a:buFont typeface="+mj-lt"/>
                  <a:buAutoNum type="arabicPeriod"/>
                </a:pPr>
                <a:r>
                  <a:rPr lang="en-IN" sz="1800" dirty="0">
                    <a:latin typeface="Times New Roman" panose="02020603050405020304" pitchFamily="18" charset="0"/>
                    <a:cs typeface="Times New Roman" panose="02020603050405020304" pitchFamily="18" charset="0"/>
                  </a:rPr>
                  <a:t>Compute mean importance.</a:t>
                </a:r>
              </a:p>
              <a:p>
                <a:pPr marL="431800" lvl="0" indent="-342900">
                  <a:buFont typeface="+mj-lt"/>
                  <a:buAutoNum type="arabicPeriod"/>
                </a:pPr>
                <a:r>
                  <a:rPr lang="en-IN" sz="1800" dirty="0">
                    <a:latin typeface="Times New Roman" panose="02020603050405020304" pitchFamily="18" charset="0"/>
                    <a:cs typeface="Times New Roman" panose="02020603050405020304" pitchFamily="18" charset="0"/>
                  </a:rPr>
                  <a:t>Rank features based on importance values.</a:t>
                </a:r>
              </a:p>
              <a:p>
                <a:endParaRPr lang="en-IN" dirty="0"/>
              </a:p>
            </p:txBody>
          </p:sp>
        </mc:Choice>
        <mc:Fallback xmlns="">
          <p:sp>
            <p:nvSpPr>
              <p:cNvPr id="3" name="Text Placeholder 2">
                <a:extLst>
                  <a:ext uri="{FF2B5EF4-FFF2-40B4-BE49-F238E27FC236}">
                    <a16:creationId xmlns:a16="http://schemas.microsoft.com/office/drawing/2014/main" id="{1FFB263C-A6EA-C629-572A-CDCCC1BB3063}"/>
                  </a:ext>
                </a:extLst>
              </p:cNvPr>
              <p:cNvSpPr>
                <a:spLocks noGrp="1" noRot="1" noChangeAspect="1" noMove="1" noResize="1" noEditPoints="1" noAdjustHandles="1" noChangeArrowheads="1" noChangeShapeType="1" noTextEdit="1"/>
              </p:cNvSpPr>
              <p:nvPr>
                <p:ph type="body" idx="1"/>
              </p:nvPr>
            </p:nvSpPr>
            <p:spPr>
              <a:blipFill>
                <a:blip r:embed="rId2"/>
                <a:stretch>
                  <a:fillRect t="-401"/>
                </a:stretch>
              </a:blipFill>
            </p:spPr>
            <p:txBody>
              <a:bodyPr/>
              <a:lstStyle/>
              <a:p>
                <a:r>
                  <a:rPr lang="en-IN">
                    <a:noFill/>
                  </a:rPr>
                  <a:t> </a:t>
                </a:r>
              </a:p>
            </p:txBody>
          </p:sp>
        </mc:Fallback>
      </mc:AlternateContent>
    </p:spTree>
    <p:extLst>
      <p:ext uri="{BB962C8B-B14F-4D97-AF65-F5344CB8AC3E}">
        <p14:creationId xmlns:p14="http://schemas.microsoft.com/office/powerpoint/2010/main" val="37039242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6F4FDA04-627A-C920-78D9-298B5CA07E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9313" y="823913"/>
            <a:ext cx="7953375" cy="521017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B11C732-87F0-B222-7785-F8CF56E0AD21}"/>
              </a:ext>
            </a:extLst>
          </p:cNvPr>
          <p:cNvSpPr txBox="1"/>
          <p:nvPr/>
        </p:nvSpPr>
        <p:spPr>
          <a:xfrm>
            <a:off x="301658" y="823913"/>
            <a:ext cx="1923068" cy="646331"/>
          </a:xfrm>
          <a:prstGeom prst="rect">
            <a:avLst/>
          </a:prstGeom>
          <a:noFill/>
        </p:spPr>
        <p:txBody>
          <a:bodyPr wrap="square" rtlCol="0">
            <a:spAutoFit/>
          </a:bodyPr>
          <a:lstStyle/>
          <a:p>
            <a:r>
              <a:rPr lang="en-IN" dirty="0"/>
              <a:t>FEATURE IMPORTANCE </a:t>
            </a:r>
          </a:p>
        </p:txBody>
      </p:sp>
    </p:spTree>
    <p:extLst>
      <p:ext uri="{BB962C8B-B14F-4D97-AF65-F5344CB8AC3E}">
        <p14:creationId xmlns:p14="http://schemas.microsoft.com/office/powerpoint/2010/main" val="23619809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85357-0583-CA57-C0D9-2FAFEC97F46E}"/>
              </a:ext>
            </a:extLst>
          </p:cNvPr>
          <p:cNvSpPr>
            <a:spLocks noGrp="1"/>
          </p:cNvSpPr>
          <p:nvPr>
            <p:ph type="title"/>
          </p:nvPr>
        </p:nvSpPr>
        <p:spPr/>
        <p:txBody>
          <a:bodyPr/>
          <a:lstStyle/>
          <a:p>
            <a:r>
              <a:rPr lang="en-IN" dirty="0"/>
              <a:t>Conclusion	</a:t>
            </a:r>
          </a:p>
        </p:txBody>
      </p:sp>
      <p:sp>
        <p:nvSpPr>
          <p:cNvPr id="3" name="Text Placeholder 2">
            <a:extLst>
              <a:ext uri="{FF2B5EF4-FFF2-40B4-BE49-F238E27FC236}">
                <a16:creationId xmlns:a16="http://schemas.microsoft.com/office/drawing/2014/main" id="{74DE9817-D5C0-E973-5AC4-B9C1A99EB97B}"/>
              </a:ext>
            </a:extLst>
          </p:cNvPr>
          <p:cNvSpPr>
            <a:spLocks noGrp="1"/>
          </p:cNvSpPr>
          <p:nvPr>
            <p:ph type="body" idx="1"/>
          </p:nvPr>
        </p:nvSpPr>
        <p:spPr/>
        <p:txBody>
          <a:bodyPr/>
          <a:lstStyle/>
          <a:p>
            <a:pPr marL="88900" indent="0" algn="just">
              <a:buNone/>
            </a:pPr>
            <a:r>
              <a:rPr lang="en-IN" dirty="0">
                <a:latin typeface="Times New Roman" panose="02020603050405020304" pitchFamily="18" charset="0"/>
                <a:cs typeface="Times New Roman" panose="02020603050405020304" pitchFamily="18" charset="0"/>
              </a:rPr>
              <a:t>The ensemble of PSO and </a:t>
            </a:r>
            <a:r>
              <a:rPr lang="en-IN" dirty="0" err="1">
                <a:latin typeface="Times New Roman" panose="02020603050405020304" pitchFamily="18" charset="0"/>
                <a:cs typeface="Times New Roman" panose="02020603050405020304" pitchFamily="18" charset="0"/>
              </a:rPr>
              <a:t>ChOA</a:t>
            </a:r>
            <a:r>
              <a:rPr lang="en-IN" dirty="0">
                <a:latin typeface="Times New Roman" panose="02020603050405020304" pitchFamily="18" charset="0"/>
                <a:cs typeface="Times New Roman" panose="02020603050405020304" pitchFamily="18" charset="0"/>
              </a:rPr>
              <a:t> optimized the deep learning-based DDoS detection system, combining PSO’s accuracy with </a:t>
            </a:r>
            <a:r>
              <a:rPr lang="en-IN" dirty="0" err="1">
                <a:latin typeface="Times New Roman" panose="02020603050405020304" pitchFamily="18" charset="0"/>
                <a:cs typeface="Times New Roman" panose="02020603050405020304" pitchFamily="18" charset="0"/>
              </a:rPr>
              <a:t>ChOA’s</a:t>
            </a:r>
            <a:r>
              <a:rPr lang="en-IN" dirty="0">
                <a:latin typeface="Times New Roman" panose="02020603050405020304" pitchFamily="18" charset="0"/>
                <a:cs typeface="Times New Roman" panose="02020603050405020304" pitchFamily="18" charset="0"/>
              </a:rPr>
              <a:t> faster convergence. This hybrid approach delivered a more robust, efficient, and adaptive solution for securing IoT networks.</a:t>
            </a:r>
          </a:p>
          <a:p>
            <a:pPr marL="88900" indent="0" algn="just">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0421965"/>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3565</TotalTime>
  <Words>2531</Words>
  <Application>Microsoft Office PowerPoint</Application>
  <PresentationFormat>Widescreen</PresentationFormat>
  <Paragraphs>281</Paragraphs>
  <Slides>34</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Archivo Narrow</vt:lpstr>
      <vt:lpstr>Arial</vt:lpstr>
      <vt:lpstr>Calibri</vt:lpstr>
      <vt:lpstr>Cambria Math</vt:lpstr>
      <vt:lpstr>Georgia</vt:lpstr>
      <vt:lpstr>IBM Plex Sans Condensed</vt:lpstr>
      <vt:lpstr>Times New Roman</vt:lpstr>
      <vt:lpstr>Simple Light</vt:lpstr>
      <vt:lpstr> METAHEURISTIC OPTIMIZATION AND DEEP LEARNING APPROACHES FOR RESILIENT DDOS DETECTION IN IOT ENVIRONMENTS</vt:lpstr>
      <vt:lpstr>INTRODUCTION – DDOS ATTACK</vt:lpstr>
      <vt:lpstr>PowerPoint Presentation</vt:lpstr>
      <vt:lpstr>PowerPoint Presentation</vt:lpstr>
      <vt:lpstr>PowerPoint Presentation</vt:lpstr>
      <vt:lpstr>PowerPoint Presentation</vt:lpstr>
      <vt:lpstr>Objectives</vt:lpstr>
      <vt:lpstr>Problem Statement</vt:lpstr>
      <vt:lpstr>PowerPoint Presentation</vt:lpstr>
      <vt:lpstr>PowerPoint Presentation</vt:lpstr>
      <vt:lpstr>PowerPoint Presentation</vt:lpstr>
      <vt:lpstr>PowerPoint Presentation</vt:lpstr>
      <vt:lpstr>PowerPoint Presentation</vt:lpstr>
      <vt:lpstr>CICDDOS2019 DATASET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Ensemble Model</vt:lpstr>
      <vt:lpstr>Results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Permutation Feature Importance – Concept &amp; Process</vt:lpstr>
      <vt:lpstr>Algorithm </vt:lpstr>
      <vt:lpstr>PowerPoint Presentation</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Welcomes Expert Team  from  National Board of Accreditation for Accreditation of B.Tech. in Computer Science and Engineering</dc:title>
  <dc:creator>Balamurugan</dc:creator>
  <cp:lastModifiedBy>Zubair Ahamed</cp:lastModifiedBy>
  <cp:revision>900</cp:revision>
  <dcterms:created xsi:type="dcterms:W3CDTF">2021-10-22T10:43:21Z</dcterms:created>
  <dcterms:modified xsi:type="dcterms:W3CDTF">2026-03-01T16:44:43Z</dcterms:modified>
</cp:coreProperties>
</file>